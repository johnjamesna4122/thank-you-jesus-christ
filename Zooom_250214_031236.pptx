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Lst>
  <p:sldSz cx="23749000" cy="168021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5.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 Id="rId106" Type="http://schemas.openxmlformats.org/officeDocument/2006/relationships/slide" Target="slides/slide101.xml"/><Relationship Id="rId107" Type="http://schemas.openxmlformats.org/officeDocument/2006/relationships/slide" Target="slides/slide102.xml"/><Relationship Id="rId108" Type="http://schemas.openxmlformats.org/officeDocument/2006/relationships/slide" Target="slides/slide103.xml"/><Relationship Id="rId109" Type="http://schemas.openxmlformats.org/officeDocument/2006/relationships/slide" Target="slides/slide104.xml"/><Relationship Id="rId11" Type="http://schemas.openxmlformats.org/officeDocument/2006/relationships/slide" Target="slides/slide6.xml"/><Relationship Id="rId110" Type="http://schemas.openxmlformats.org/officeDocument/2006/relationships/slide" Target="slides/slide105.xml"/><Relationship Id="rId111" Type="http://schemas.openxmlformats.org/officeDocument/2006/relationships/slide" Target="slides/slide106.xml"/><Relationship Id="rId112" Type="http://schemas.openxmlformats.org/officeDocument/2006/relationships/slide" Target="slides/slide107.xml"/><Relationship Id="rId113" Type="http://schemas.openxmlformats.org/officeDocument/2006/relationships/slide" Target="slides/slide108.xml"/><Relationship Id="rId114" Type="http://schemas.openxmlformats.org/officeDocument/2006/relationships/slide" Target="slides/slide109.xml"/><Relationship Id="rId115" Type="http://schemas.openxmlformats.org/officeDocument/2006/relationships/slide" Target="slides/slide110.xml"/><Relationship Id="rId116" Type="http://schemas.openxmlformats.org/officeDocument/2006/relationships/slide" Target="slides/slide111.xml"/><Relationship Id="rId117" Type="http://schemas.openxmlformats.org/officeDocument/2006/relationships/slide" Target="slides/slide112.xml"/><Relationship Id="rId118" Type="http://schemas.openxmlformats.org/officeDocument/2006/relationships/slide" Target="slides/slide113.xml"/><Relationship Id="rId119" Type="http://schemas.openxmlformats.org/officeDocument/2006/relationships/slide" Target="slides/slide114.xml"/><Relationship Id="rId12" Type="http://schemas.openxmlformats.org/officeDocument/2006/relationships/slide" Target="slides/slide7.xml"/><Relationship Id="rId120" Type="http://schemas.openxmlformats.org/officeDocument/2006/relationships/slide" Target="slides/slide115.xml"/><Relationship Id="rId121" Type="http://schemas.openxmlformats.org/officeDocument/2006/relationships/slide" Target="slides/slide116.xml"/><Relationship Id="rId122" Type="http://schemas.openxmlformats.org/officeDocument/2006/relationships/slide" Target="slides/slide117.xml"/><Relationship Id="rId123" Type="http://schemas.openxmlformats.org/officeDocument/2006/relationships/slide" Target="slides/slide118.xml"/><Relationship Id="rId124" Type="http://schemas.openxmlformats.org/officeDocument/2006/relationships/slide" Target="slides/slide119.xml"/><Relationship Id="rId125" Type="http://schemas.openxmlformats.org/officeDocument/2006/relationships/slide" Target="slides/slide120.xml"/><Relationship Id="rId126" Type="http://schemas.openxmlformats.org/officeDocument/2006/relationships/slide" Target="slides/slide121.xml"/><Relationship Id="rId127" Type="http://schemas.openxmlformats.org/officeDocument/2006/relationships/slide" Target="slides/slide122.xml"/><Relationship Id="rId128" Type="http://schemas.openxmlformats.org/officeDocument/2006/relationships/slide" Target="slides/slide123.xml"/><Relationship Id="rId129" Type="http://schemas.openxmlformats.org/officeDocument/2006/relationships/slide" Target="slides/slide124.xml"/><Relationship Id="rId13" Type="http://schemas.openxmlformats.org/officeDocument/2006/relationships/slide" Target="slides/slide8.xml"/><Relationship Id="rId130" Type="http://schemas.openxmlformats.org/officeDocument/2006/relationships/slide" Target="slides/slide125.xml"/><Relationship Id="rId131" Type="http://schemas.openxmlformats.org/officeDocument/2006/relationships/slide" Target="slides/slide126.xml"/><Relationship Id="rId132" Type="http://schemas.openxmlformats.org/officeDocument/2006/relationships/slide" Target="slides/slide127.xml"/><Relationship Id="rId133" Type="http://schemas.openxmlformats.org/officeDocument/2006/relationships/slide" Target="slides/slide128.xml"/><Relationship Id="rId134" Type="http://schemas.openxmlformats.org/officeDocument/2006/relationships/slide" Target="slides/slide129.xml"/><Relationship Id="rId135" Type="http://schemas.openxmlformats.org/officeDocument/2006/relationships/slide" Target="slides/slide130.xml"/><Relationship Id="rId136" Type="http://schemas.openxmlformats.org/officeDocument/2006/relationships/slide" Target="slides/slide131.xml"/><Relationship Id="rId137" Type="http://schemas.openxmlformats.org/officeDocument/2006/relationships/slide" Target="slides/slide132.xml"/><Relationship Id="rId138" Type="http://schemas.openxmlformats.org/officeDocument/2006/relationships/slide" Target="slides/slide133.xml"/><Relationship Id="rId139" Type="http://schemas.openxmlformats.org/officeDocument/2006/relationships/slide" Target="slides/slide134.xml"/><Relationship Id="rId14" Type="http://schemas.openxmlformats.org/officeDocument/2006/relationships/slide" Target="slides/slide9.xml"/><Relationship Id="rId140" Type="http://schemas.openxmlformats.org/officeDocument/2006/relationships/slide" Target="slides/slide135.xml"/><Relationship Id="rId141" Type="http://schemas.openxmlformats.org/officeDocument/2006/relationships/slide" Target="slides/slide136.xml"/><Relationship Id="rId142" Type="http://schemas.openxmlformats.org/officeDocument/2006/relationships/slide" Target="slides/slide137.xml"/><Relationship Id="rId143" Type="http://schemas.openxmlformats.org/officeDocument/2006/relationships/slide" Target="slides/slide138.xml"/><Relationship Id="rId144" Type="http://schemas.openxmlformats.org/officeDocument/2006/relationships/slide" Target="slides/slide139.xml"/><Relationship Id="rId145" Type="http://schemas.openxmlformats.org/officeDocument/2006/relationships/slide" Target="slides/slide140.xml"/><Relationship Id="rId146" Type="http://schemas.openxmlformats.org/officeDocument/2006/relationships/slide" Target="slides/slide141.xml"/><Relationship Id="rId147" Type="http://schemas.openxmlformats.org/officeDocument/2006/relationships/slide" Target="slides/slide142.xml"/><Relationship Id="rId148" Type="http://schemas.openxmlformats.org/officeDocument/2006/relationships/slide" Target="slides/slide143.xml"/><Relationship Id="rId149" Type="http://schemas.openxmlformats.org/officeDocument/2006/relationships/slide" Target="slides/slide144.xml"/><Relationship Id="rId15" Type="http://schemas.openxmlformats.org/officeDocument/2006/relationships/slide" Target="slides/slide10.xml"/><Relationship Id="rId150" Type="http://schemas.openxmlformats.org/officeDocument/2006/relationships/slide" Target="slides/slide145.xml"/><Relationship Id="rId151" Type="http://schemas.openxmlformats.org/officeDocument/2006/relationships/slide" Target="slides/slide146.xml"/><Relationship Id="rId152" Type="http://schemas.openxmlformats.org/officeDocument/2006/relationships/slide" Target="slides/slide147.xml"/><Relationship Id="rId153" Type="http://schemas.openxmlformats.org/officeDocument/2006/relationships/slide" Target="slides/slide148.xml"/><Relationship Id="rId154" Type="http://schemas.openxmlformats.org/officeDocument/2006/relationships/slide" Target="slides/slide149.xml"/><Relationship Id="rId155" Type="http://schemas.openxmlformats.org/officeDocument/2006/relationships/slide" Target="slides/slide150.xml"/><Relationship Id="rId156" Type="http://schemas.openxmlformats.org/officeDocument/2006/relationships/slide" Target="slides/slide151.xml"/><Relationship Id="rId157" Type="http://schemas.openxmlformats.org/officeDocument/2006/relationships/slide" Target="slides/slide152.xml"/><Relationship Id="rId158" Type="http://schemas.openxmlformats.org/officeDocument/2006/relationships/slide" Target="slides/slide153.xml"/><Relationship Id="rId159" Type="http://schemas.openxmlformats.org/officeDocument/2006/relationships/slide" Target="slides/slide154.xml"/><Relationship Id="rId16" Type="http://schemas.openxmlformats.org/officeDocument/2006/relationships/slide" Target="slides/slide11.xml"/><Relationship Id="rId160" Type="http://schemas.openxmlformats.org/officeDocument/2006/relationships/slide" Target="slides/slide155.xml"/><Relationship Id="rId161" Type="http://schemas.openxmlformats.org/officeDocument/2006/relationships/slide" Target="slides/slide156.xml"/><Relationship Id="rId162" Type="http://schemas.openxmlformats.org/officeDocument/2006/relationships/slide" Target="slides/slide157.xml"/><Relationship Id="rId163" Type="http://schemas.openxmlformats.org/officeDocument/2006/relationships/slide" Target="slides/slide158.xml"/><Relationship Id="rId164" Type="http://schemas.openxmlformats.org/officeDocument/2006/relationships/slide" Target="slides/slide159.xml"/><Relationship Id="rId165" Type="http://schemas.openxmlformats.org/officeDocument/2006/relationships/slide" Target="slides/slide160.xml"/><Relationship Id="rId166" Type="http://schemas.openxmlformats.org/officeDocument/2006/relationships/slide" Target="slides/slide161.xml"/><Relationship Id="rId167" Type="http://schemas.openxmlformats.org/officeDocument/2006/relationships/slide" Target="slides/slide162.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 Type="http://schemas.openxmlformats.org/officeDocument/2006/relationships/presProps" Target="presProps.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 Type="http://schemas.openxmlformats.org/officeDocument/2006/relationships/viewProps" Target="viewProps.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 Type="http://schemas.openxmlformats.org/officeDocument/2006/relationships/theme" Target="theme/theme1.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 Type="http://schemas.openxmlformats.org/officeDocument/2006/relationships/tableStyles" Target="tableStyles.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 Type="http://schemas.openxmlformats.org/officeDocument/2006/relationships/slide" Target="slides/slide1.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 Type="http://schemas.openxmlformats.org/officeDocument/2006/relationships/slide" Target="slides/slide2.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 Type="http://schemas.openxmlformats.org/officeDocument/2006/relationships/slide" Target="slides/slide3.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 Type="http://schemas.openxmlformats.org/officeDocument/2006/relationships/slide" Target="slides/slide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6" Type="http://schemas.openxmlformats.org/officeDocument/2006/relationships/image" Target="../media/image6.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8" Type="http://schemas.openxmlformats.org/officeDocument/2006/relationships/image" Target="../media/image8.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10" Type="http://schemas.openxmlformats.org/officeDocument/2006/relationships/image" Target="../media/image10.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12" Type="http://schemas.openxmlformats.org/officeDocument/2006/relationships/image" Target="../media/image12.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14" Type="http://schemas.openxmlformats.org/officeDocument/2006/relationships/image" Target="../media/image14.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16" Type="http://schemas.openxmlformats.org/officeDocument/2006/relationships/image" Target="../media/image16.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18" Type="http://schemas.openxmlformats.org/officeDocument/2006/relationships/image" Target="../media/image18.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0" Type="http://schemas.openxmlformats.org/officeDocument/2006/relationships/image" Target="../media/image20.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2" Type="http://schemas.openxmlformats.org/officeDocument/2006/relationships/image" Target="../media/image22.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4" Type="http://schemas.openxmlformats.org/officeDocument/2006/relationships/image" Target="../media/image24.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6" Type="http://schemas.openxmlformats.org/officeDocument/2006/relationships/image" Target="../media/image26.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8" Type="http://schemas.openxmlformats.org/officeDocument/2006/relationships/image" Target="../media/image28.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30" Type="http://schemas.openxmlformats.org/officeDocument/2006/relationships/image" Target="../media/image30.png"/><Relationship Id="rId32" Type="http://schemas.openxmlformats.org/officeDocument/2006/relationships/image" Target="../media/image32.png"/><Relationship Id="rId33" Type="http://schemas.openxmlformats.org/officeDocument/2006/relationships/hyperlink" TargetMode="External" Target="http://source.android.com/"/></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34" Type="http://schemas.openxmlformats.org/officeDocument/2006/relationships/image" Target="../media/image34.png"/><Relationship Id="rId36" Type="http://schemas.openxmlformats.org/officeDocument/2006/relationships/image" Target="../media/image36.png"/><Relationship Id="rId37" Type="http://schemas.openxmlformats.org/officeDocument/2006/relationships/hyperlink" TargetMode="External" Target="http://source.android.com/compatibility"/></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38" Type="http://schemas.openxmlformats.org/officeDocument/2006/relationships/image" Target="../media/image38.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40" Type="http://schemas.openxmlformats.org/officeDocument/2006/relationships/image" Target="../media/image40.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42" Type="http://schemas.openxmlformats.org/officeDocument/2006/relationships/image" Target="../media/image42.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44" Type="http://schemas.openxmlformats.org/officeDocument/2006/relationships/image" Target="../media/image44.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 Id="rId46" Type="http://schemas.openxmlformats.org/officeDocument/2006/relationships/image" Target="../media/image46.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7.xml"/><Relationship Id="rId48" Type="http://schemas.openxmlformats.org/officeDocument/2006/relationships/image" Target="../media/image48.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7.xml"/><Relationship Id="rId50" Type="http://schemas.openxmlformats.org/officeDocument/2006/relationships/image" Target="../media/image50.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7.xml"/><Relationship Id="rId52" Type="http://schemas.openxmlformats.org/officeDocument/2006/relationships/image" Target="../media/image52.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7.xml"/><Relationship Id="rId54" Type="http://schemas.openxmlformats.org/officeDocument/2006/relationships/image" Target="../media/image54.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7.xml"/><Relationship Id="rId56" Type="http://schemas.openxmlformats.org/officeDocument/2006/relationships/image" Target="../media/image56.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7.xml"/><Relationship Id="rId58" Type="http://schemas.openxmlformats.org/officeDocument/2006/relationships/image" Target="../media/image58.pn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7.xml"/><Relationship Id="rId60" Type="http://schemas.openxmlformats.org/officeDocument/2006/relationships/image" Target="../media/image60.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7.xml"/><Relationship Id="rId62" Type="http://schemas.openxmlformats.org/officeDocument/2006/relationships/image" Target="../media/image62.pn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7.xml"/><Relationship Id="rId64" Type="http://schemas.openxmlformats.org/officeDocument/2006/relationships/image" Target="../media/image64.png"/><Relationship Id="rId66" Type="http://schemas.openxmlformats.org/officeDocument/2006/relationships/image" Target="../media/image66.png"/><Relationship Id="rId67" Type="http://schemas.openxmlformats.org/officeDocument/2006/relationships/hyperlink" TargetMode="External" Target="https://developer.android.com/reference/android/speech/RecognitionService"/></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7.xml"/><Relationship Id="rId68" Type="http://schemas.openxmlformats.org/officeDocument/2006/relationships/image" Target="../media/image68.png"/><Relationship Id="rId70" Type="http://schemas.openxmlformats.org/officeDocument/2006/relationships/image" Target="../media/image70.png"/><Relationship Id="rId71" Type="http://schemas.openxmlformats.org/officeDocument/2006/relationships/hyperlink" TargetMode="External" Target="https://privacy.google.com/businesses/gdprprocessorterms/"/></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7.xml"/><Relationship Id="rId72" Type="http://schemas.openxmlformats.org/officeDocument/2006/relationships/image" Target="../media/image72.pn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7.xml"/><Relationship Id="rId74" Type="http://schemas.openxmlformats.org/officeDocument/2006/relationships/image" Target="../media/image74.pn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7.xml"/><Relationship Id="rId76" Type="http://schemas.openxmlformats.org/officeDocument/2006/relationships/image" Target="../media/image76.pn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7.xml"/><Relationship Id="rId78" Type="http://schemas.openxmlformats.org/officeDocument/2006/relationships/image" Target="../media/image78.pn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7.xml"/><Relationship Id="rId80" Type="http://schemas.openxmlformats.org/officeDocument/2006/relationships/image" Target="../media/image80.pn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7.xml"/><Relationship Id="rId82" Type="http://schemas.openxmlformats.org/officeDocument/2006/relationships/image" Target="../media/image82.png"/></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7.xml"/><Relationship Id="rId84" Type="http://schemas.openxmlformats.org/officeDocument/2006/relationships/image" Target="../media/image84.png"/></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7.xml"/><Relationship Id="rId86" Type="http://schemas.openxmlformats.org/officeDocument/2006/relationships/image" Target="../media/image86.png"/></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7.xml"/><Relationship Id="rId88" Type="http://schemas.openxmlformats.org/officeDocument/2006/relationships/image" Target="../media/image88.pn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7.xml"/><Relationship Id="rId90" Type="http://schemas.openxmlformats.org/officeDocument/2006/relationships/image" Target="../media/image90.png"/></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7.xml"/><Relationship Id="rId92" Type="http://schemas.openxmlformats.org/officeDocument/2006/relationships/image" Target="../media/image92.png"/></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7.xml"/><Relationship Id="rId94" Type="http://schemas.openxmlformats.org/officeDocument/2006/relationships/image" Target="../media/image94.png"/></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7.xml"/><Relationship Id="rId96" Type="http://schemas.openxmlformats.org/officeDocument/2006/relationships/image" Target="../media/image96.png"/></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7.xml"/><Relationship Id="rId98" Type="http://schemas.openxmlformats.org/officeDocument/2006/relationships/image" Target="../media/image98.png"/></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7.xml"/><Relationship Id="rId100" Type="http://schemas.openxmlformats.org/officeDocument/2006/relationships/image" Target="../media/image100.png"/><Relationship Id="rId102" Type="http://schemas.openxmlformats.org/officeDocument/2006/relationships/image" Target="../media/image102.png"/><Relationship Id="rId103" Type="http://schemas.openxmlformats.org/officeDocument/2006/relationships/hyperlink" TargetMode="External" Target="http://www.apache.org/"/></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7.xml"/><Relationship Id="rId104" Type="http://schemas.openxmlformats.org/officeDocument/2006/relationships/image" Target="../media/image104.png"/></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7.xml"/><Relationship Id="rId106" Type="http://schemas.openxmlformats.org/officeDocument/2006/relationships/image" Target="../media/image106.png"/><Relationship Id="rId108" Type="http://schemas.openxmlformats.org/officeDocument/2006/relationships/image" Target="../media/image108.png"/><Relationship Id="rId109" Type="http://schemas.openxmlformats.org/officeDocument/2006/relationships/hyperlink" TargetMode="External" Target="http://www.apache.org/"/></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7.xml"/><Relationship Id="rId110" Type="http://schemas.openxmlformats.org/officeDocument/2006/relationships/image" Target="../media/image110.png"/></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7.xml"/><Relationship Id="rId112" Type="http://schemas.openxmlformats.org/officeDocument/2006/relationships/image" Target="../media/image112.png"/></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7.xml"/><Relationship Id="rId114" Type="http://schemas.openxmlformats.org/officeDocument/2006/relationships/image" Target="../media/image114.png"/></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7.xml"/><Relationship Id="rId116" Type="http://schemas.openxmlformats.org/officeDocument/2006/relationships/image" Target="../media/image116.png"/></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7.xml"/><Relationship Id="rId118" Type="http://schemas.openxmlformats.org/officeDocument/2006/relationships/image" Target="../media/image118.png"/></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7.xml"/><Relationship Id="rId120" Type="http://schemas.openxmlformats.org/officeDocument/2006/relationships/image" Target="../media/image120.png"/></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7.xml"/><Relationship Id="rId122" Type="http://schemas.openxmlformats.org/officeDocument/2006/relationships/image" Target="../media/image122.png"/></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7.xml"/><Relationship Id="rId124" Type="http://schemas.openxmlformats.org/officeDocument/2006/relationships/image" Target="../media/image124.png"/></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7.xml"/><Relationship Id="rId126" Type="http://schemas.openxmlformats.org/officeDocument/2006/relationships/image" Target="../media/image126.png"/></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7.xml"/><Relationship Id="rId128" Type="http://schemas.openxmlformats.org/officeDocument/2006/relationships/image" Target="../media/image128.png"/></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7.xml"/><Relationship Id="rId130" Type="http://schemas.openxmlformats.org/officeDocument/2006/relationships/image" Target="../media/image130.png"/></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7.xml"/><Relationship Id="rId132" Type="http://schemas.openxmlformats.org/officeDocument/2006/relationships/image" Target="../media/image132.png"/></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7.xml"/><Relationship Id="rId134" Type="http://schemas.openxmlformats.org/officeDocument/2006/relationships/image" Target="../media/image134.png"/><Relationship Id="rId136" Type="http://schemas.openxmlformats.org/officeDocument/2006/relationships/image" Target="../media/image136.png"/><Relationship Id="rId137" Type="http://schemas.openxmlformats.org/officeDocument/2006/relationships/hyperlink" TargetMode="External" Target="http://www.apache.org/licenses/"/></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7.xml"/><Relationship Id="rId138" Type="http://schemas.openxmlformats.org/officeDocument/2006/relationships/image" Target="../media/image138.png"/></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7.xml"/><Relationship Id="rId140" Type="http://schemas.openxmlformats.org/officeDocument/2006/relationships/image" Target="../media/image140.png"/></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7.xml"/><Relationship Id="rId142" Type="http://schemas.openxmlformats.org/officeDocument/2006/relationships/image" Target="../media/image142.png"/></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7.xml"/><Relationship Id="rId144" Type="http://schemas.openxmlformats.org/officeDocument/2006/relationships/image" Target="../media/image144.png"/></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7.xml"/><Relationship Id="rId146" Type="http://schemas.openxmlformats.org/officeDocument/2006/relationships/image" Target="../media/image146.png"/></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7.xml"/><Relationship Id="rId148" Type="http://schemas.openxmlformats.org/officeDocument/2006/relationships/image" Target="../media/image148.png"/></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7.xml"/><Relationship Id="rId150" Type="http://schemas.openxmlformats.org/officeDocument/2006/relationships/image" Target="../media/image150.png"/></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7.xml"/><Relationship Id="rId152" Type="http://schemas.openxmlformats.org/officeDocument/2006/relationships/image" Target="../media/image152.png"/></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7.xml"/><Relationship Id="rId154" Type="http://schemas.openxmlformats.org/officeDocument/2006/relationships/image" Target="../media/image154.png"/></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7.xml"/><Relationship Id="rId156" Type="http://schemas.openxmlformats.org/officeDocument/2006/relationships/image" Target="../media/image156.png"/></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7.xml"/><Relationship Id="rId158" Type="http://schemas.openxmlformats.org/officeDocument/2006/relationships/image" Target="../media/image158.png"/></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7.xml"/><Relationship Id="rId160" Type="http://schemas.openxmlformats.org/officeDocument/2006/relationships/image" Target="../media/image160.png"/></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7.xml"/><Relationship Id="rId162" Type="http://schemas.openxmlformats.org/officeDocument/2006/relationships/image" Target="../media/image162.png"/></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7.xml"/><Relationship Id="rId164" Type="http://schemas.openxmlformats.org/officeDocument/2006/relationships/image" Target="../media/image164.png"/><Relationship Id="rId166" Type="http://schemas.openxmlformats.org/officeDocument/2006/relationships/image" Target="../media/image166.png"/><Relationship Id="rId167" Type="http://schemas.openxmlformats.org/officeDocument/2006/relationships/hyperlink" TargetMode="External" Target="http://www.apache.org/licenses/LICENSE-2.0"/></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7.xml"/><Relationship Id="rId168" Type="http://schemas.openxmlformats.org/officeDocument/2006/relationships/image" Target="../media/image168.png"/></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7.xml"/><Relationship Id="rId170" Type="http://schemas.openxmlformats.org/officeDocument/2006/relationships/image" Target="../media/image170.png"/></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7.xml"/><Relationship Id="rId172" Type="http://schemas.openxmlformats.org/officeDocument/2006/relationships/image" Target="../media/image172.png"/></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7.xml"/><Relationship Id="rId174" Type="http://schemas.openxmlformats.org/officeDocument/2006/relationships/image" Target="../media/image174.png"/></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7.xml"/><Relationship Id="rId176" Type="http://schemas.openxmlformats.org/officeDocument/2006/relationships/image" Target="../media/image176.png"/></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7.xml"/><Relationship Id="rId178" Type="http://schemas.openxmlformats.org/officeDocument/2006/relationships/image" Target="../media/image178.png"/></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7.xml"/><Relationship Id="rId180" Type="http://schemas.openxmlformats.org/officeDocument/2006/relationships/image" Target="../media/image180.png"/></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7.xml"/><Relationship Id="rId182" Type="http://schemas.openxmlformats.org/officeDocument/2006/relationships/image" Target="../media/image182.png"/></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7.xml"/><Relationship Id="rId184" Type="http://schemas.openxmlformats.org/officeDocument/2006/relationships/image" Target="../media/image184.png"/></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7.xml"/><Relationship Id="rId186" Type="http://schemas.openxmlformats.org/officeDocument/2006/relationships/image" Target="../media/image186.png"/></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7.xml"/><Relationship Id="rId188" Type="http://schemas.openxmlformats.org/officeDocument/2006/relationships/image" Target="../media/image188.png"/></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7.xml"/><Relationship Id="rId190" Type="http://schemas.openxmlformats.org/officeDocument/2006/relationships/image" Target="../media/image190.png"/></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7.xml"/><Relationship Id="rId192" Type="http://schemas.openxmlformats.org/officeDocument/2006/relationships/image" Target="../media/image192.png"/></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7.xml"/><Relationship Id="rId194" Type="http://schemas.openxmlformats.org/officeDocument/2006/relationships/image" Target="../media/image194.png"/></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7.xml"/><Relationship Id="rId196" Type="http://schemas.openxmlformats.org/officeDocument/2006/relationships/image" Target="../media/image196.png"/></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7.xml"/><Relationship Id="rId198" Type="http://schemas.openxmlformats.org/officeDocument/2006/relationships/image" Target="../media/image198.png"/></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7.xml"/><Relationship Id="rId200" Type="http://schemas.openxmlformats.org/officeDocument/2006/relationships/image" Target="../media/image200.png"/></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7.xml"/><Relationship Id="rId202" Type="http://schemas.openxmlformats.org/officeDocument/2006/relationships/image" Target="../media/image202.png"/></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7.xml"/><Relationship Id="rId204" Type="http://schemas.openxmlformats.org/officeDocument/2006/relationships/image" Target="../media/image204.png"/></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7.xml"/><Relationship Id="rId206" Type="http://schemas.openxmlformats.org/officeDocument/2006/relationships/image" Target="../media/image206.png"/></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7.xml"/><Relationship Id="rId208" Type="http://schemas.openxmlformats.org/officeDocument/2006/relationships/image" Target="../media/image208.png"/></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7.xml"/><Relationship Id="rId210" Type="http://schemas.openxmlformats.org/officeDocument/2006/relationships/image" Target="../media/image210.png"/></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7.xml"/><Relationship Id="rId212" Type="http://schemas.openxmlformats.org/officeDocument/2006/relationships/image" Target="../media/image212.png"/></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7.xml"/><Relationship Id="rId214" Type="http://schemas.openxmlformats.org/officeDocument/2006/relationships/image" Target="../media/image214.png"/></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7.xml"/><Relationship Id="rId216" Type="http://schemas.openxmlformats.org/officeDocument/2006/relationships/image" Target="../media/image216.png"/><Relationship Id="rId218" Type="http://schemas.openxmlformats.org/officeDocument/2006/relationships/image" Target="../media/image218.png"/><Relationship Id="rId219" Type="http://schemas.openxmlformats.org/officeDocument/2006/relationships/hyperlink" TargetMode="External" Target="http://www.apple.com/legal/guidelinesfor3rdparties.ht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7.xml"/><Relationship Id="rId220" Type="http://schemas.openxmlformats.org/officeDocument/2006/relationships/image" Target="../media/image220.png"/></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7.xml"/><Relationship Id="rId222" Type="http://schemas.openxmlformats.org/officeDocument/2006/relationships/image" Target="../media/image222.png"/></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7.xml"/><Relationship Id="rId224" Type="http://schemas.openxmlformats.org/officeDocument/2006/relationships/image" Target="../media/image224.png"/></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7.xml"/><Relationship Id="rId226" Type="http://schemas.openxmlformats.org/officeDocument/2006/relationships/image" Target="../media/image226.png"/></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7.xml"/><Relationship Id="rId228" Type="http://schemas.openxmlformats.org/officeDocument/2006/relationships/image" Target="../media/image228.png"/></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7.xml"/><Relationship Id="rId230" Type="http://schemas.openxmlformats.org/officeDocument/2006/relationships/image" Target="../media/image230.png"/></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7.xml"/><Relationship Id="rId232" Type="http://schemas.openxmlformats.org/officeDocument/2006/relationships/image" Target="../media/image232.png"/></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7.xml"/><Relationship Id="rId234" Type="http://schemas.openxmlformats.org/officeDocument/2006/relationships/image" Target="../media/image234.png"/></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7.xml"/><Relationship Id="rId236" Type="http://schemas.openxmlformats.org/officeDocument/2006/relationships/image" Target="../media/image236.png"/><Relationship Id="rId238" Type="http://schemas.openxmlformats.org/officeDocument/2006/relationships/image" Target="../media/image238.png"/><Relationship Id="rId239" Type="http://schemas.openxmlformats.org/officeDocument/2006/relationships/hyperlink" TargetMode="External" Target="http://www.apple.com/publicsource"/></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7.xml"/><Relationship Id="rId240" Type="http://schemas.openxmlformats.org/officeDocument/2006/relationships/image" Target="../media/image240.png"/></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7.xml"/><Relationship Id="rId242" Type="http://schemas.openxmlformats.org/officeDocument/2006/relationships/image" Target="../media/image242.png"/></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7.xml"/><Relationship Id="rId244" Type="http://schemas.openxmlformats.org/officeDocument/2006/relationships/image" Target="../media/image244.png"/></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7.xml"/><Relationship Id="rId246" Type="http://schemas.openxmlformats.org/officeDocument/2006/relationships/image" Target="../media/image246.png"/></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7.xml"/><Relationship Id="rId248" Type="http://schemas.openxmlformats.org/officeDocument/2006/relationships/image" Target="../media/image248.png"/></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7.xml"/><Relationship Id="rId250" Type="http://schemas.openxmlformats.org/officeDocument/2006/relationships/image" Target="../media/image250.png"/></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7.xml"/><Relationship Id="rId252" Type="http://schemas.openxmlformats.org/officeDocument/2006/relationships/image" Target="../media/image252.png"/></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7.xml"/><Relationship Id="rId254" Type="http://schemas.openxmlformats.org/officeDocument/2006/relationships/image" Target="../media/image254.png"/></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7.xml"/><Relationship Id="rId256" Type="http://schemas.openxmlformats.org/officeDocument/2006/relationships/image" Target="../media/image256.png"/></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7.xml"/><Relationship Id="rId258" Type="http://schemas.openxmlformats.org/officeDocument/2006/relationships/image" Target="../media/image258.png"/></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7.xml"/><Relationship Id="rId260" Type="http://schemas.openxmlformats.org/officeDocument/2006/relationships/image" Target="../media/image260.png"/></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7.xml"/><Relationship Id="rId262" Type="http://schemas.openxmlformats.org/officeDocument/2006/relationships/image" Target="../media/image262.png"/></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7.xml"/><Relationship Id="rId264" Type="http://schemas.openxmlformats.org/officeDocument/2006/relationships/image" Target="../media/image264.png"/></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7.xml"/><Relationship Id="rId266" Type="http://schemas.openxmlformats.org/officeDocument/2006/relationships/image" Target="../media/image266.png"/></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7.xml"/><Relationship Id="rId268" Type="http://schemas.openxmlformats.org/officeDocument/2006/relationships/image" Target="../media/image268.png"/></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7.xml"/><Relationship Id="rId270" Type="http://schemas.openxmlformats.org/officeDocument/2006/relationships/image" Target="../media/image270.png"/></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7.xml"/><Relationship Id="rId272" Type="http://schemas.openxmlformats.org/officeDocument/2006/relationships/image" Target="../media/image272.png"/></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7.xml"/><Relationship Id="rId274" Type="http://schemas.openxmlformats.org/officeDocument/2006/relationships/image" Target="../media/image274.png"/></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7.xml"/><Relationship Id="rId276" Type="http://schemas.openxmlformats.org/officeDocument/2006/relationships/image" Target="../media/image276.png"/></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7.xml"/><Relationship Id="rId278" Type="http://schemas.openxmlformats.org/officeDocument/2006/relationships/image" Target="../media/image278.png"/></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7.xml"/><Relationship Id="rId280" Type="http://schemas.openxmlformats.org/officeDocument/2006/relationships/image" Target="../media/image280.png"/></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7.xml"/><Relationship Id="rId282" Type="http://schemas.openxmlformats.org/officeDocument/2006/relationships/image" Target="../media/image282.png"/></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7.xml"/><Relationship Id="rId284" Type="http://schemas.openxmlformats.org/officeDocument/2006/relationships/image" Target="../media/image284.png"/></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7.xml"/><Relationship Id="rId286" Type="http://schemas.openxmlformats.org/officeDocument/2006/relationships/image" Target="../media/image286.png"/></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7.xml"/><Relationship Id="rId288" Type="http://schemas.openxmlformats.org/officeDocument/2006/relationships/image" Target="../media/image288.png"/></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7.xml"/><Relationship Id="rId290" Type="http://schemas.openxmlformats.org/officeDocument/2006/relationships/image" Target="../media/image290.png"/></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7.xml"/><Relationship Id="rId292" Type="http://schemas.openxmlformats.org/officeDocument/2006/relationships/image" Target="../media/image292.png"/><Relationship Id="rId294" Type="http://schemas.openxmlformats.org/officeDocument/2006/relationships/image" Target="../media/image294.png"/><Relationship Id="rId295" Type="http://schemas.openxmlformats.org/officeDocument/2006/relationships/hyperlink" TargetMode="External" Target="https://github.com/Constellation"/><Relationship Id="rId296" Type="http://schemas.openxmlformats.org/officeDocument/2006/relationships/image" Target="../media/image296.png"/><Relationship Id="rId297" Type="http://schemas.openxmlformats.org/officeDocument/2006/relationships/hyperlink" TargetMode="External" Target="https://twitter.com/Constellation"/></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7.xml"/><Relationship Id="rId298" Type="http://schemas.openxmlformats.org/officeDocument/2006/relationships/image" Target="../media/image298.png"/></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7.xml"/><Relationship Id="rId300" Type="http://schemas.openxmlformats.org/officeDocument/2006/relationships/image" Target="../media/image300.png"/></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7.xml"/><Relationship Id="rId302" Type="http://schemas.openxmlformats.org/officeDocument/2006/relationships/image" Target="../media/image302.png"/></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7.xml"/><Relationship Id="rId304" Type="http://schemas.openxmlformats.org/officeDocument/2006/relationships/image" Target="../media/image304.png"/></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7.xml"/><Relationship Id="rId306" Type="http://schemas.openxmlformats.org/officeDocument/2006/relationships/image" Target="../media/image306.png"/></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7.xml"/><Relationship Id="rId308" Type="http://schemas.openxmlformats.org/officeDocument/2006/relationships/image" Target="../media/image308.png"/></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7.xml"/><Relationship Id="rId310" Type="http://schemas.openxmlformats.org/officeDocument/2006/relationships/image" Target="../media/image310.png"/></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7.xml"/><Relationship Id="rId312" Type="http://schemas.openxmlformats.org/officeDocument/2006/relationships/image" Target="../media/image312.png"/></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7.xml"/><Relationship Id="rId314" Type="http://schemas.openxmlformats.org/officeDocument/2006/relationships/image" Target="../media/image314.png"/></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7.xml"/><Relationship Id="rId316" Type="http://schemas.openxmlformats.org/officeDocument/2006/relationships/image" Target="../media/image316.png"/></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7.xml"/><Relationship Id="rId318" Type="http://schemas.openxmlformats.org/officeDocument/2006/relationships/image" Target="../media/image318.png"/></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7.xml"/><Relationship Id="rId320" Type="http://schemas.openxmlformats.org/officeDocument/2006/relationships/image" Target="../media/image320.png"/></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7.xml"/><Relationship Id="rId322" Type="http://schemas.openxmlformats.org/officeDocument/2006/relationships/image" Target="../media/image322.png"/></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7.xml"/><Relationship Id="rId324" Type="http://schemas.openxmlformats.org/officeDocument/2006/relationships/image" Target="../media/image324.png"/></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7.xml"/><Relationship Id="rId326" Type="http://schemas.openxmlformats.org/officeDocument/2006/relationships/image" Target="../media/image326.png"/></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7.xml"/><Relationship Id="rId328" Type="http://schemas.openxmlformats.org/officeDocument/2006/relationships/image" Target="../media/image328.png"/></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7.xml"/><Relationship Id="rId330" Type="http://schemas.openxmlformats.org/officeDocument/2006/relationships/image" Target="../media/image330.png"/></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7.xml"/><Relationship Id="rId332" Type="http://schemas.openxmlformats.org/officeDocument/2006/relationships/image" Target="../media/image332.png"/><Relationship Id="rId334" Type="http://schemas.openxmlformats.org/officeDocument/2006/relationships/image" Target="../media/image334.png"/><Relationship Id="rId335" Type="http://schemas.openxmlformats.org/officeDocument/2006/relationships/hyperlink" TargetMode="External" Target="https://js.foundation"/></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7.xml"/><Relationship Id="rId336" Type="http://schemas.openxmlformats.org/officeDocument/2006/relationships/image" Target="../media/image336.png"/></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7.xml"/><Relationship Id="rId338" Type="http://schemas.openxmlformats.org/officeDocument/2006/relationships/image" Target="../media/image338.png"/></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7.xml"/><Relationship Id="rId340" Type="http://schemas.openxmlformats.org/officeDocument/2006/relationships/image" Target="../media/image340.png"/><Relationship Id="rId342" Type="http://schemas.openxmlformats.org/officeDocument/2006/relationships/image" Target="../media/image342.png"/><Relationship Id="rId343" Type="http://schemas.openxmlformats.org/officeDocument/2006/relationships/hyperlink" TargetMode="External" Target="https://js.foundation"/></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7.xml"/><Relationship Id="rId344" Type="http://schemas.openxmlformats.org/officeDocument/2006/relationships/image" Target="../media/image344.png"/></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7.xml"/><Relationship Id="rId346" Type="http://schemas.openxmlformats.org/officeDocument/2006/relationships/image" Target="../media/image346.png"/></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7.xml"/><Relationship Id="rId348" Type="http://schemas.openxmlformats.org/officeDocument/2006/relationships/image" Target="../media/image348.png"/><Relationship Id="rId350" Type="http://schemas.openxmlformats.org/officeDocument/2006/relationships/image" Target="../media/image350.png"/><Relationship Id="rId351" Type="http://schemas.openxmlformats.org/officeDocument/2006/relationships/hyperlink" TargetMode="External" Target="https://js.foundation/"/></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7.xml"/><Relationship Id="rId352" Type="http://schemas.openxmlformats.org/officeDocument/2006/relationships/image" Target="../media/image352.png"/></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7.xml"/><Relationship Id="rId354" Type="http://schemas.openxmlformats.org/officeDocument/2006/relationships/image" Target="../media/image354.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127000"/>
            <a:ext cx="23749000" cy="16548100"/>
          </a:xfrm>
          <a:prstGeom prst="rect">
            <a:avLst/>
          </a:prstGeom>
        </p:spPr>
      </p:pic>
      <p:sp>
        <p:nvSpPr>
          <p:cNvPr name="TextBox 2" id="3"/>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Zoom OSS Attribution - January 2021</a:t>
            </a:r>
          </a:p>
          <a:p>
            <a:r>
              <a:rPr lang="en-US" sz="5000"/>
              <a:t>  </a:t>
            </a:r>
          </a:p>
          <a:p>
            <a:r>
              <a:rPr lang="en-US" sz="3700">
                <a:solidFill>
                  <a:srgbClr val="252525"/>
                </a:solidFill>
              </a:rPr>
              <a:t>Academic Free License v2.1</a:t>
            </a:r>
          </a:p>
          <a:p>
            <a:r>
              <a:rPr lang="en-US" sz="3700">
                <a:solidFill>
                  <a:srgbClr val="252525"/>
                </a:solidFill>
              </a:rPr>
              <a:t>(json-schema 0.2.3)</a:t>
            </a:r>
          </a:p>
          <a:p>
            <a:r>
              <a:rPr lang="en-US" sz="5000"/>
              <a:t>  </a:t>
            </a:r>
          </a:p>
          <a:p>
            <a:r>
              <a:rPr lang="en-US" sz="3700">
                <a:solidFill>
                  <a:srgbClr val="252525"/>
                </a:solidFill>
              </a:rPr>
              <a:t>Academic Free License</a:t>
            </a:r>
          </a:p>
          <a:p>
            <a:r>
              <a:rPr lang="en-US" sz="3700">
                <a:solidFill>
                  <a:srgbClr val="252525"/>
                </a:solidFill>
              </a:rPr>
              <a:t>=====================</a:t>
            </a:r>
          </a:p>
          <a:p>
            <a:r>
              <a:rPr lang="en-US" sz="5000"/>
              <a:t>  </a:t>
            </a:r>
          </a:p>
          <a:p>
            <a:r>
              <a:rPr lang="en-US" sz="5000"/>
              <a:t>  </a:t>
            </a:r>
          </a:p>
          <a:p>
            <a:r>
              <a:rPr lang="en-US" sz="3700">
                <a:solidFill>
                  <a:srgbClr val="252525"/>
                </a:solidFill>
              </a:rPr>
              <a:t>v. 2.1</a:t>
            </a:r>
          </a:p>
          <a:p>
            <a:r>
              <a:rPr lang="en-US" sz="3700">
                <a:solidFill>
                  <a:srgbClr val="252525"/>
                </a:solidFill>
              </a:rPr>
              <a:t>------</a:t>
            </a:r>
          </a:p>
          <a:p>
            <a:r>
              <a:rPr lang="en-US" sz="5000"/>
              <a:t>  </a:t>
            </a:r>
          </a:p>
          <a:p>
            <a:r>
              <a:rPr lang="en-US" sz="3700">
                <a:solidFill>
                  <a:srgbClr val="252525"/>
                </a:solidFill>
              </a:rPr>
              <a:t>This Academic Free License (the "License") applies to any original work of</a:t>
            </a:r>
          </a:p>
          <a:p>
            <a:r>
              <a:rPr lang="en-US" sz="3700">
                <a:solidFill>
                  <a:srgbClr val="252525"/>
                </a:solidFill>
              </a:rPr>
              <a:t>authorship (the "Original Work") whose owner (the "Licensor") has placed the</a:t>
            </a:r>
          </a:p>
          <a:p>
            <a:r>
              <a:rPr lang="en-US" sz="3700">
                <a:solidFill>
                  <a:srgbClr val="252525"/>
                </a:solidFill>
              </a:rPr>
              <a:t>following notice immediately following the copyright notice for the Original</a:t>
            </a:r>
          </a:p>
          <a:p>
            <a:r>
              <a:rPr lang="en-US" sz="3700">
                <a:solidFill>
                  <a:srgbClr val="252525"/>
                </a:solidFill>
              </a:rPr>
              <a:t>Work:</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 id="4"/>
          <p:cNvPicPr>
            <a:picLocks noChangeAspect="true"/>
          </p:cNvPicPr>
          <p:nvPr/>
        </p:nvPicPr>
        <p:blipFill>
          <a:blip r:embed="rId4"/>
          <a:stretch>
            <a:fillRect/>
          </a:stretch>
        </p:blipFill>
        <p:spPr>
          <a:xfrm>
            <a:off x="0" y="127000"/>
            <a:ext cx="23749000" cy="16548100"/>
          </a:xfrm>
          <a:prstGeom prst="rect">
            <a:avLst/>
          </a:prstGeom>
        </p:spPr>
      </p:pic>
      <p:sp>
        <p:nvSpPr>
          <p:cNvPr name="TextBox 4" id="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Licensed under the Academic Free License version 2.1</a:t>
            </a:r>
          </a:p>
          <a:p>
            <a:r>
              <a:rPr lang="en-US" sz="5000"/>
              <a:t>  </a:t>
            </a:r>
          </a:p>
          <a:p>
            <a:r>
              <a:rPr lang="en-US" sz="3700">
                <a:solidFill>
                  <a:srgbClr val="252525"/>
                </a:solidFill>
              </a:rPr>
              <a:t>1) Grant of Copyright License. Licensor hereby grants You a world-wide,</a:t>
            </a:r>
          </a:p>
          <a:p>
            <a:r>
              <a:rPr lang="en-US" sz="3700">
                <a:solidFill>
                  <a:srgbClr val="252525"/>
                </a:solidFill>
              </a:rPr>
              <a:t>royalty-free, non-exclusive, perpetual, sublicenseable license to do the</a:t>
            </a:r>
          </a:p>
          <a:p>
            <a:r>
              <a:rPr lang="en-US" sz="3700">
                <a:solidFill>
                  <a:srgbClr val="252525"/>
                </a:solidFill>
              </a:rPr>
              <a:t>following:</a:t>
            </a:r>
          </a:p>
          <a:p>
            <a:r>
              <a:rPr lang="en-US" sz="5000"/>
              <a:t>  </a:t>
            </a:r>
          </a:p>
          <a:p>
            <a:r>
              <a:rPr lang="en-US" sz="3700">
                <a:solidFill>
                  <a:srgbClr val="252525"/>
                </a:solidFill>
              </a:rPr>
              <a:t>  * to reproduce the Original Work in copies;</a:t>
            </a:r>
          </a:p>
          <a:p>
            <a:r>
              <a:rPr lang="en-US" sz="3700">
                <a:solidFill>
                  <a:srgbClr val="252525"/>
                </a:solidFill>
              </a:rPr>
              <a:t>  * to prepare derivative works ("Derivative Works") based upon the Original</a:t>
            </a:r>
          </a:p>
          <a:p>
            <a:r>
              <a:rPr lang="en-US" sz="3700">
                <a:solidFill>
                  <a:srgbClr val="252525"/>
                </a:solidFill>
              </a:rPr>
              <a:t>  Work;</a:t>
            </a:r>
          </a:p>
          <a:p>
            <a:r>
              <a:rPr lang="en-US" sz="3700">
                <a:solidFill>
                  <a:srgbClr val="252525"/>
                </a:solidFill>
              </a:rPr>
              <a:t>  * to distribute copies of the Original Work and Derivative Works to the</a:t>
            </a:r>
          </a:p>
          <a:p>
            <a:r>
              <a:rPr lang="en-US" sz="3700">
                <a:solidFill>
                  <a:srgbClr val="252525"/>
                </a:solidFill>
              </a:rPr>
              <a:t>  public;</a:t>
            </a:r>
          </a:p>
          <a:p>
            <a:r>
              <a:rPr lang="en-US" sz="3700">
                <a:solidFill>
                  <a:srgbClr val="252525"/>
                </a:solidFill>
              </a:rPr>
              <a:t>  * to perform the Original Work publicly; and</a:t>
            </a:r>
          </a:p>
          <a:p>
            <a:r>
              <a:rPr lang="en-US" sz="3700">
                <a:solidFill>
                  <a:srgbClr val="252525"/>
                </a:solidFill>
              </a:rPr>
              <a:t>  * to display the Original Work publicly.</a:t>
            </a:r>
          </a:p>
          <a:p>
            <a:r>
              <a:rPr lang="en-US" sz="5000"/>
              <a:t>  </a:t>
            </a:r>
          </a:p>
          <a:p>
            <a:r>
              <a:rPr lang="en-US" sz="3700">
                <a:solidFill>
                  <a:srgbClr val="252525"/>
                </a:solidFill>
              </a:rPr>
              <a:t>2) Grant of Patent License. Licensor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 id="6"/>
          <p:cNvPicPr>
            <a:picLocks noChangeAspect="true"/>
          </p:cNvPicPr>
          <p:nvPr/>
        </p:nvPicPr>
        <p:blipFill>
          <a:blip r:embed="rId6"/>
          <a:stretch>
            <a:fillRect/>
          </a:stretch>
        </p:blipFill>
        <p:spPr>
          <a:xfrm>
            <a:off x="0" y="127000"/>
            <a:ext cx="23749000" cy="16548100"/>
          </a:xfrm>
          <a:prstGeom prst="rect">
            <a:avLst/>
          </a:prstGeom>
        </p:spPr>
      </p:pic>
      <p:sp>
        <p:nvSpPr>
          <p:cNvPr name="TextBox 6" id="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hereby grants You a world-wide,</a:t>
            </a:r>
          </a:p>
          <a:p>
            <a:r>
              <a:rPr lang="en-US" sz="3700">
                <a:solidFill>
                  <a:srgbClr val="252525"/>
                </a:solidFill>
              </a:rPr>
              <a:t>royalty-free, non-exclusive, perpetual, sublicenseable license, under patent</a:t>
            </a:r>
          </a:p>
          <a:p>
            <a:r>
              <a:rPr lang="en-US" sz="3700">
                <a:solidFill>
                  <a:srgbClr val="252525"/>
                </a:solidFill>
              </a:rPr>
              <a:t>claims owned or controlled by the Licensor that are embodied in the Original Work</a:t>
            </a:r>
          </a:p>
          <a:p>
            <a:r>
              <a:rPr lang="en-US" sz="3700">
                <a:solidFill>
                  <a:srgbClr val="252525"/>
                </a:solidFill>
              </a:rPr>
              <a:t>as furnished by the Licensor, to make, use, sell and offer for sale the Original</a:t>
            </a:r>
          </a:p>
          <a:p>
            <a:r>
              <a:rPr lang="en-US" sz="3700">
                <a:solidFill>
                  <a:srgbClr val="252525"/>
                </a:solidFill>
              </a:rPr>
              <a:t>Work and Derivative Works.</a:t>
            </a:r>
          </a:p>
          <a:p>
            <a:r>
              <a:rPr lang="en-US" sz="5000"/>
              <a:t>  </a:t>
            </a:r>
          </a:p>
          <a:p>
            <a:r>
              <a:rPr lang="en-US" sz="3700">
                <a:solidFill>
                  <a:srgbClr val="252525"/>
                </a:solidFill>
              </a:rPr>
              <a:t>3) Grant of Source Code License. The term "Source Code" means the preferred form</a:t>
            </a:r>
          </a:p>
          <a:p>
            <a:r>
              <a:rPr lang="en-US" sz="3700">
                <a:solidFill>
                  <a:srgbClr val="252525"/>
                </a:solidFill>
              </a:rPr>
              <a:t>of the Original Work for making modifications to it and all available</a:t>
            </a:r>
          </a:p>
          <a:p>
            <a:r>
              <a:rPr lang="en-US" sz="3700">
                <a:solidFill>
                  <a:srgbClr val="252525"/>
                </a:solidFill>
              </a:rPr>
              <a:t>documentation describing how to modify the Original Work. Licensor hereby agrees</a:t>
            </a:r>
          </a:p>
          <a:p>
            <a:r>
              <a:rPr lang="en-US" sz="3700">
                <a:solidFill>
                  <a:srgbClr val="252525"/>
                </a:solidFill>
              </a:rPr>
              <a:t>to provide a machine-readable copy of the Source Code of the Original Work along</a:t>
            </a:r>
          </a:p>
          <a:p>
            <a:r>
              <a:rPr lang="en-US" sz="3700">
                <a:solidFill>
                  <a:srgbClr val="252525"/>
                </a:solidFill>
              </a:rPr>
              <a:t>with each copy of the Original Work that Licensor distributes. Licensor reserves</a:t>
            </a:r>
          </a:p>
          <a:p>
            <a:r>
              <a:rPr lang="en-US" sz="3700">
                <a:solidFill>
                  <a:srgbClr val="252525"/>
                </a:solidFill>
              </a:rPr>
              <a:t>the right to satisfy this obligation by placing a machine-readable copy of the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 id="8"/>
          <p:cNvPicPr>
            <a:picLocks noChangeAspect="true"/>
          </p:cNvPicPr>
          <p:nvPr/>
        </p:nvPicPr>
        <p:blipFill>
          <a:blip r:embed="rId8"/>
          <a:stretch>
            <a:fillRect/>
          </a:stretch>
        </p:blipFill>
        <p:spPr>
          <a:xfrm>
            <a:off x="0" y="127000"/>
            <a:ext cx="23749000" cy="16548100"/>
          </a:xfrm>
          <a:prstGeom prst="rect">
            <a:avLst/>
          </a:prstGeom>
        </p:spPr>
      </p:pic>
      <p:sp>
        <p:nvSpPr>
          <p:cNvPr name="TextBox 8" id="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Source Code in an information repository reasonably calculated to permit</a:t>
            </a:r>
          </a:p>
          <a:p>
            <a:r>
              <a:rPr lang="en-US" sz="3700">
                <a:solidFill>
                  <a:srgbClr val="252525"/>
                </a:solidFill>
              </a:rPr>
              <a:t>inexpensive and convenient access by You for as long as Licensor continues to</a:t>
            </a:r>
          </a:p>
          <a:p>
            <a:r>
              <a:rPr lang="en-US" sz="3700">
                <a:solidFill>
                  <a:srgbClr val="252525"/>
                </a:solidFill>
              </a:rPr>
              <a:t>distribute the Original Work, and by publishing the address of that information</a:t>
            </a:r>
          </a:p>
          <a:p>
            <a:r>
              <a:rPr lang="en-US" sz="3700">
                <a:solidFill>
                  <a:srgbClr val="252525"/>
                </a:solidFill>
              </a:rPr>
              <a:t>repository in a notice immediately following the copyright notice that applies to</a:t>
            </a:r>
          </a:p>
          <a:p>
            <a:r>
              <a:rPr lang="en-US" sz="3700">
                <a:solidFill>
                  <a:srgbClr val="252525"/>
                </a:solidFill>
              </a:rPr>
              <a:t>the Original Work.</a:t>
            </a:r>
          </a:p>
          <a:p>
            <a:r>
              <a:rPr lang="en-US" sz="5000"/>
              <a:t>  </a:t>
            </a:r>
          </a:p>
          <a:p>
            <a:r>
              <a:rPr lang="en-US" sz="3700">
                <a:solidFill>
                  <a:srgbClr val="252525"/>
                </a:solidFill>
              </a:rPr>
              <a:t>4) Exclusions From License Grant. Neither the names of Licensor, nor the names of</a:t>
            </a:r>
          </a:p>
          <a:p>
            <a:r>
              <a:rPr lang="en-US" sz="3700">
                <a:solidFill>
                  <a:srgbClr val="252525"/>
                </a:solidFill>
              </a:rPr>
              <a:t>any contributors to the Original Work, nor any of their trademarks or service</a:t>
            </a:r>
          </a:p>
          <a:p>
            <a:r>
              <a:rPr lang="en-US" sz="3700">
                <a:solidFill>
                  <a:srgbClr val="252525"/>
                </a:solidFill>
              </a:rPr>
              <a:t>marks, may be used to endorse or promote products derived from this Original Work</a:t>
            </a:r>
          </a:p>
          <a:p>
            <a:r>
              <a:rPr lang="en-US" sz="3700">
                <a:solidFill>
                  <a:srgbClr val="252525"/>
                </a:solidFill>
              </a:rPr>
              <a:t>without express prior written permission of the Licensor. Nothing in this License</a:t>
            </a:r>
          </a:p>
          <a:p>
            <a:r>
              <a:rPr lang="en-US" sz="3700">
                <a:solidFill>
                  <a:srgbClr val="252525"/>
                </a:solidFill>
              </a:rPr>
              <a:t>shall be deemed to grant any rights to trademarks, copyrights, patents, trade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 id="10"/>
          <p:cNvPicPr>
            <a:picLocks noChangeAspect="true"/>
          </p:cNvPicPr>
          <p:nvPr/>
        </p:nvPicPr>
        <p:blipFill>
          <a:blip r:embed="rId10"/>
          <a:stretch>
            <a:fillRect/>
          </a:stretch>
        </p:blipFill>
        <p:spPr>
          <a:xfrm>
            <a:off x="0" y="127000"/>
            <a:ext cx="23749000" cy="16548100"/>
          </a:xfrm>
          <a:prstGeom prst="rect">
            <a:avLst/>
          </a:prstGeom>
        </p:spPr>
      </p:pic>
      <p:sp>
        <p:nvSpPr>
          <p:cNvPr name="TextBox 10" id="1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secrets or any other intellectual property of Licensor except as expressly stated</a:t>
            </a:r>
          </a:p>
          <a:p>
            <a:r>
              <a:rPr lang="en-US" sz="3700">
                <a:solidFill>
                  <a:srgbClr val="252525"/>
                </a:solidFill>
              </a:rPr>
              <a:t>herein. No patent license is granted to make, use, sell or offer to sell</a:t>
            </a:r>
          </a:p>
          <a:p>
            <a:r>
              <a:rPr lang="en-US" sz="3700">
                <a:solidFill>
                  <a:srgbClr val="252525"/>
                </a:solidFill>
              </a:rPr>
              <a:t>embodiments of any patent claims other than the licensed claims defined in</a:t>
            </a:r>
          </a:p>
          <a:p>
            <a:r>
              <a:rPr lang="en-US" sz="3700">
                <a:solidFill>
                  <a:srgbClr val="252525"/>
                </a:solidFill>
              </a:rPr>
              <a:t>Section 2. No right is granted to the trademarks of Licensor even if such marks</a:t>
            </a:r>
          </a:p>
          <a:p>
            <a:r>
              <a:rPr lang="en-US" sz="3700">
                <a:solidFill>
                  <a:srgbClr val="252525"/>
                </a:solidFill>
              </a:rPr>
              <a:t>are included in the Original Work. Nothing in this License shall be interpreted</a:t>
            </a:r>
          </a:p>
          <a:p>
            <a:r>
              <a:rPr lang="en-US" sz="3700">
                <a:solidFill>
                  <a:srgbClr val="252525"/>
                </a:solidFill>
              </a:rPr>
              <a:t>to prohibit Licensor from licensing under different terms from this License any</a:t>
            </a:r>
          </a:p>
          <a:p>
            <a:r>
              <a:rPr lang="en-US" sz="3700">
                <a:solidFill>
                  <a:srgbClr val="252525"/>
                </a:solidFill>
              </a:rPr>
              <a:t>Original Work that Licensor otherwise would have a right to license.</a:t>
            </a:r>
          </a:p>
          <a:p>
            <a:r>
              <a:rPr lang="en-US" sz="5000"/>
              <a:t>  </a:t>
            </a:r>
          </a:p>
          <a:p>
            <a:r>
              <a:rPr lang="en-US" sz="3700">
                <a:solidFill>
                  <a:srgbClr val="252525"/>
                </a:solidFill>
              </a:rPr>
              <a:t>5) This section intentionally omitted.</a:t>
            </a:r>
          </a:p>
          <a:p>
            <a:r>
              <a:rPr lang="en-US" sz="5000"/>
              <a:t>  </a:t>
            </a:r>
          </a:p>
          <a:p>
            <a:r>
              <a:rPr lang="en-US" sz="3700">
                <a:solidFill>
                  <a:srgbClr val="252525"/>
                </a:solidFill>
              </a:rPr>
              <a:t>6) Attribution Rights. You must retain, in the Source Code of any Derivative</a:t>
            </a:r>
          </a:p>
          <a:p>
            <a:r>
              <a:rPr lang="en-US" sz="3700">
                <a:solidFill>
                  <a:srgbClr val="252525"/>
                </a:solidFill>
              </a:rPr>
              <a:t>Works that You create, all copyright, patent or trademark notices from the Source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 id="12"/>
          <p:cNvPicPr>
            <a:picLocks noChangeAspect="true"/>
          </p:cNvPicPr>
          <p:nvPr/>
        </p:nvPicPr>
        <p:blipFill>
          <a:blip r:embed="rId12"/>
          <a:stretch>
            <a:fillRect/>
          </a:stretch>
        </p:blipFill>
        <p:spPr>
          <a:xfrm>
            <a:off x="0" y="127000"/>
            <a:ext cx="23749000" cy="16548100"/>
          </a:xfrm>
          <a:prstGeom prst="rect">
            <a:avLst/>
          </a:prstGeom>
        </p:spPr>
      </p:pic>
      <p:sp>
        <p:nvSpPr>
          <p:cNvPr name="TextBox 12" id="1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Code of the Original Work, as well as any notices of licensing and any</a:t>
            </a:r>
          </a:p>
          <a:p>
            <a:r>
              <a:rPr lang="en-US" sz="3700">
                <a:solidFill>
                  <a:srgbClr val="252525"/>
                </a:solidFill>
              </a:rPr>
              <a:t>descriptive text identified therein as an "Attribution Notice." You must cause</a:t>
            </a:r>
          </a:p>
          <a:p>
            <a:r>
              <a:rPr lang="en-US" sz="3700">
                <a:solidFill>
                  <a:srgbClr val="252525"/>
                </a:solidFill>
              </a:rPr>
              <a:t>the Source Code for any Derivative Works that You create to carry a prominent</a:t>
            </a:r>
          </a:p>
          <a:p>
            <a:r>
              <a:rPr lang="en-US" sz="3700">
                <a:solidFill>
                  <a:srgbClr val="252525"/>
                </a:solidFill>
              </a:rPr>
              <a:t>Attribution Notice reasonably calculated to inform recipients that You have</a:t>
            </a:r>
          </a:p>
          <a:p>
            <a:r>
              <a:rPr lang="en-US" sz="3700">
                <a:solidFill>
                  <a:srgbClr val="252525"/>
                </a:solidFill>
              </a:rPr>
              <a:t>modified the Original Work.</a:t>
            </a:r>
          </a:p>
          <a:p>
            <a:r>
              <a:rPr lang="en-US" sz="5000"/>
              <a:t>  </a:t>
            </a:r>
          </a:p>
          <a:p>
            <a:r>
              <a:rPr lang="en-US" sz="3700">
                <a:solidFill>
                  <a:srgbClr val="252525"/>
                </a:solidFill>
              </a:rPr>
              <a:t>7) Warranty of Provenance and Disclaimer of Warranty. Licensor warrants that the</a:t>
            </a:r>
          </a:p>
          <a:p>
            <a:r>
              <a:rPr lang="en-US" sz="3700">
                <a:solidFill>
                  <a:srgbClr val="252525"/>
                </a:solidFill>
              </a:rPr>
              <a:t>copyright in and to the Original Work and the patent rights granted herein by</a:t>
            </a:r>
          </a:p>
          <a:p>
            <a:r>
              <a:rPr lang="en-US" sz="3700">
                <a:solidFill>
                  <a:srgbClr val="252525"/>
                </a:solidFill>
              </a:rPr>
              <a:t>Licensor are owned by the Licensor or are sublicensed to You under the terms of</a:t>
            </a:r>
          </a:p>
          <a:p>
            <a:r>
              <a:rPr lang="en-US" sz="3700">
                <a:solidFill>
                  <a:srgbClr val="252525"/>
                </a:solidFill>
              </a:rPr>
              <a:t>this License with the permission of the contributor(s) of those copyrights and</a:t>
            </a:r>
          </a:p>
          <a:p>
            <a:r>
              <a:rPr lang="en-US" sz="3700">
                <a:solidFill>
                  <a:srgbClr val="252525"/>
                </a:solidFill>
              </a:rPr>
              <a:t>patent rights. Except as expressly stated in the immediately proceeding sentence,</a:t>
            </a:r>
          </a:p>
          <a:p>
            <a:r>
              <a:rPr lang="en-US" sz="3700">
                <a:solidFill>
                  <a:srgbClr val="252525"/>
                </a:solidFill>
              </a:rPr>
              <a:t>the Original Work is provided under this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 id="14"/>
          <p:cNvPicPr>
            <a:picLocks noChangeAspect="true"/>
          </p:cNvPicPr>
          <p:nvPr/>
        </p:nvPicPr>
        <p:blipFill>
          <a:blip r:embed="rId14"/>
          <a:stretch>
            <a:fillRect/>
          </a:stretch>
        </p:blipFill>
        <p:spPr>
          <a:xfrm>
            <a:off x="0" y="127000"/>
            <a:ext cx="23749000" cy="16548100"/>
          </a:xfrm>
          <a:prstGeom prst="rect">
            <a:avLst/>
          </a:prstGeom>
        </p:spPr>
      </p:pic>
      <p:sp>
        <p:nvSpPr>
          <p:cNvPr name="TextBox 14" id="1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License on an "AS IS" BASIS and WITHOUT</a:t>
            </a:r>
          </a:p>
          <a:p>
            <a:r>
              <a:rPr lang="en-US" sz="3700">
                <a:solidFill>
                  <a:srgbClr val="252525"/>
                </a:solidFill>
              </a:rPr>
              <a:t>WARRANTY, either express or implied, including, without limitation, the</a:t>
            </a:r>
          </a:p>
          <a:p>
            <a:r>
              <a:rPr lang="en-US" sz="3700">
                <a:solidFill>
                  <a:srgbClr val="252525"/>
                </a:solidFill>
              </a:rPr>
              <a:t>warranties of NON-INFRINGEMENT, MERCHANTABILITY or FITNESS FOR A PARTICULAR</a:t>
            </a:r>
          </a:p>
          <a:p>
            <a:r>
              <a:rPr lang="en-US" sz="3700">
                <a:solidFill>
                  <a:srgbClr val="252525"/>
                </a:solidFill>
              </a:rPr>
              <a:t>PURPOSE. THE ENTIRE RISK AS TO THE QUALITY OF THE ORIGINAL WORK IS WITH YOU. This</a:t>
            </a:r>
          </a:p>
          <a:p>
            <a:r>
              <a:rPr lang="en-US" sz="3700">
                <a:solidFill>
                  <a:srgbClr val="252525"/>
                </a:solidFill>
              </a:rPr>
              <a:t>DISCLAIMER OF WARRANTY constitutes an essential part of this License. No license</a:t>
            </a:r>
          </a:p>
          <a:p>
            <a:r>
              <a:rPr lang="en-US" sz="3700">
                <a:solidFill>
                  <a:srgbClr val="252525"/>
                </a:solidFill>
              </a:rPr>
              <a:t>to Original Work is granted hereunder except under this disclaimer.</a:t>
            </a:r>
          </a:p>
          <a:p>
            <a:r>
              <a:rPr lang="en-US" sz="5000"/>
              <a:t>  </a:t>
            </a:r>
          </a:p>
          <a:p>
            <a:r>
              <a:rPr lang="en-US" sz="3700">
                <a:solidFill>
                  <a:srgbClr val="252525"/>
                </a:solidFill>
              </a:rPr>
              <a:t>8) Limitation of Liability. Under no circumstances and under no legal theory,</a:t>
            </a:r>
          </a:p>
          <a:p>
            <a:r>
              <a:rPr lang="en-US" sz="3700">
                <a:solidFill>
                  <a:srgbClr val="252525"/>
                </a:solidFill>
              </a:rPr>
              <a:t>whether in tort (including negligence), contract, or otherwise, shall the</a:t>
            </a:r>
          </a:p>
          <a:p>
            <a:r>
              <a:rPr lang="en-US" sz="3700">
                <a:solidFill>
                  <a:srgbClr val="252525"/>
                </a:solidFill>
              </a:rPr>
              <a:t>Licensor be liable to any person for any direct, indirect, special, incidental,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 id="16"/>
          <p:cNvPicPr>
            <a:picLocks noChangeAspect="true"/>
          </p:cNvPicPr>
          <p:nvPr/>
        </p:nvPicPr>
        <p:blipFill>
          <a:blip r:embed="rId16"/>
          <a:stretch>
            <a:fillRect/>
          </a:stretch>
        </p:blipFill>
        <p:spPr>
          <a:xfrm>
            <a:off x="0" y="127000"/>
            <a:ext cx="23749000" cy="16548100"/>
          </a:xfrm>
          <a:prstGeom prst="rect">
            <a:avLst/>
          </a:prstGeom>
        </p:spPr>
      </p:pic>
      <p:sp>
        <p:nvSpPr>
          <p:cNvPr name="TextBox 16" id="1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or consequential damages of any character arising as a result of this License or</a:t>
            </a:r>
          </a:p>
          <a:p>
            <a:r>
              <a:rPr lang="en-US" sz="3700">
                <a:solidFill>
                  <a:srgbClr val="252525"/>
                </a:solidFill>
              </a:rPr>
              <a:t>the use of the Original Work including, without limitation, damages for loss of</a:t>
            </a:r>
          </a:p>
          <a:p>
            <a:r>
              <a:rPr lang="en-US" sz="3700">
                <a:solidFill>
                  <a:srgbClr val="252525"/>
                </a:solidFill>
              </a:rPr>
              <a:t>goodwill, work stoppage, computer failure or malfunction, or any and all other</a:t>
            </a:r>
          </a:p>
          <a:p>
            <a:r>
              <a:rPr lang="en-US" sz="3700">
                <a:solidFill>
                  <a:srgbClr val="252525"/>
                </a:solidFill>
              </a:rPr>
              <a:t>commercial damages or losses. This limitation of liability shall not apply to</a:t>
            </a:r>
          </a:p>
          <a:p>
            <a:r>
              <a:rPr lang="en-US" sz="3700">
                <a:solidFill>
                  <a:srgbClr val="252525"/>
                </a:solidFill>
              </a:rPr>
              <a:t>liability for death or personal injury resulting from Licensor's negligence to</a:t>
            </a:r>
          </a:p>
          <a:p>
            <a:r>
              <a:rPr lang="en-US" sz="3700">
                <a:solidFill>
                  <a:srgbClr val="252525"/>
                </a:solidFill>
              </a:rPr>
              <a:t>the extent applicable law prohibits such limitation. Some jurisdictions do not</a:t>
            </a:r>
          </a:p>
          <a:p>
            <a:r>
              <a:rPr lang="en-US" sz="3700">
                <a:solidFill>
                  <a:srgbClr val="252525"/>
                </a:solidFill>
              </a:rPr>
              <a:t>allow the exclusion or limitation of incidental or consequential damages, so this</a:t>
            </a:r>
          </a:p>
          <a:p>
            <a:r>
              <a:rPr lang="en-US" sz="3700">
                <a:solidFill>
                  <a:srgbClr val="252525"/>
                </a:solidFill>
              </a:rPr>
              <a:t>exclusion and limitation may not apply to You.</a:t>
            </a:r>
          </a:p>
          <a:p>
            <a:r>
              <a:rPr lang="en-US" sz="5000"/>
              <a:t>  </a:t>
            </a:r>
          </a:p>
          <a:p>
            <a:r>
              <a:rPr lang="en-US" sz="3700">
                <a:solidFill>
                  <a:srgbClr val="252525"/>
                </a:solidFill>
              </a:rPr>
              <a:t>9) Acceptance and Termination. If You distribute copies of the Original Work or 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 id="18"/>
          <p:cNvPicPr>
            <a:picLocks noChangeAspect="true"/>
          </p:cNvPicPr>
          <p:nvPr/>
        </p:nvPicPr>
        <p:blipFill>
          <a:blip r:embed="rId18"/>
          <a:stretch>
            <a:fillRect/>
          </a:stretch>
        </p:blipFill>
        <p:spPr>
          <a:xfrm>
            <a:off x="0" y="127000"/>
            <a:ext cx="23749000" cy="16548100"/>
          </a:xfrm>
          <a:prstGeom prst="rect">
            <a:avLst/>
          </a:prstGeom>
        </p:spPr>
      </p:pic>
      <p:sp>
        <p:nvSpPr>
          <p:cNvPr name="TextBox 18" id="1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Derivative Work, You must make a reasonable effort under the circumstances to</a:t>
            </a:r>
          </a:p>
          <a:p>
            <a:r>
              <a:rPr lang="en-US" sz="3700">
                <a:solidFill>
                  <a:srgbClr val="252525"/>
                </a:solidFill>
              </a:rPr>
              <a:t>obtain the express assent of recipients to the terms of this License. Nothing</a:t>
            </a:r>
          </a:p>
          <a:p>
            <a:r>
              <a:rPr lang="en-US" sz="3700">
                <a:solidFill>
                  <a:srgbClr val="252525"/>
                </a:solidFill>
              </a:rPr>
              <a:t>else but this License (or another written agreement between Licensor and You)</a:t>
            </a:r>
          </a:p>
          <a:p>
            <a:r>
              <a:rPr lang="en-US" sz="3700">
                <a:solidFill>
                  <a:srgbClr val="252525"/>
                </a:solidFill>
              </a:rPr>
              <a:t>grants You permission to create Derivative Works based upon the Original Work or</a:t>
            </a:r>
          </a:p>
          <a:p>
            <a:r>
              <a:rPr lang="en-US" sz="3700">
                <a:solidFill>
                  <a:srgbClr val="252525"/>
                </a:solidFill>
              </a:rPr>
              <a:t>to exercise any of the rights granted in Section 1 herein, and any attempt to do</a:t>
            </a:r>
          </a:p>
          <a:p>
            <a:r>
              <a:rPr lang="en-US" sz="3700">
                <a:solidFill>
                  <a:srgbClr val="252525"/>
                </a:solidFill>
              </a:rPr>
              <a:t>so except under the terms of this License (or another written agreement between</a:t>
            </a:r>
          </a:p>
          <a:p>
            <a:r>
              <a:rPr lang="en-US" sz="3700">
                <a:solidFill>
                  <a:srgbClr val="252525"/>
                </a:solidFill>
              </a:rPr>
              <a:t>Licensor and You) is expressly prohibited by U.S. copyright law, the equivalent</a:t>
            </a:r>
          </a:p>
          <a:p>
            <a:r>
              <a:rPr lang="en-US" sz="3700">
                <a:solidFill>
                  <a:srgbClr val="252525"/>
                </a:solidFill>
              </a:rPr>
              <a:t>laws of other countries, and by international treaty. Therefore, by exercising</a:t>
            </a:r>
          </a:p>
          <a:p>
            <a:r>
              <a:rPr lang="en-US" sz="3700">
                <a:solidFill>
                  <a:srgbClr val="252525"/>
                </a:solidFill>
              </a:rPr>
              <a:t>any of the rights granted to You in Section 1 herein, You indicate Your</a:t>
            </a:r>
          </a:p>
          <a:p>
            <a:r>
              <a:rPr lang="en-US" sz="3700">
                <a:solidFill>
                  <a:srgbClr val="252525"/>
                </a:solidFill>
              </a:rPr>
              <a:t>acceptance of this License and all of its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 id="20"/>
          <p:cNvPicPr>
            <a:picLocks noChangeAspect="true"/>
          </p:cNvPicPr>
          <p:nvPr/>
        </p:nvPicPr>
        <p:blipFill>
          <a:blip r:embed="rId20"/>
          <a:stretch>
            <a:fillRect/>
          </a:stretch>
        </p:blipFill>
        <p:spPr>
          <a:xfrm>
            <a:off x="0" y="127000"/>
            <a:ext cx="23749000" cy="16548100"/>
          </a:xfrm>
          <a:prstGeom prst="rect">
            <a:avLst/>
          </a:prstGeom>
        </p:spPr>
      </p:pic>
      <p:sp>
        <p:nvSpPr>
          <p:cNvPr name="TextBox 20" id="2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terms and conditions.</a:t>
            </a:r>
          </a:p>
          <a:p>
            <a:r>
              <a:rPr lang="en-US" sz="5000"/>
              <a:t>  </a:t>
            </a:r>
          </a:p>
          <a:p>
            <a:r>
              <a:rPr lang="en-US" sz="3700">
                <a:solidFill>
                  <a:srgbClr val="252525"/>
                </a:solidFill>
              </a:rPr>
              <a:t>10) Termination for Patent Action. This License shall terminate automatically and</a:t>
            </a:r>
          </a:p>
          <a:p>
            <a:r>
              <a:rPr lang="en-US" sz="3700">
                <a:solidFill>
                  <a:srgbClr val="252525"/>
                </a:solidFill>
              </a:rPr>
              <a:t>You may no longer exercise any of the rights granted to You by this License as of</a:t>
            </a:r>
          </a:p>
          <a:p>
            <a:r>
              <a:rPr lang="en-US" sz="3700">
                <a:solidFill>
                  <a:srgbClr val="252525"/>
                </a:solidFill>
              </a:rPr>
              <a:t>the date You commence an action, including a cross-claim or counterclaim, against</a:t>
            </a:r>
          </a:p>
          <a:p>
            <a:r>
              <a:rPr lang="en-US" sz="3700">
                <a:solidFill>
                  <a:srgbClr val="252525"/>
                </a:solidFill>
              </a:rPr>
              <a:t>Licensor or any licensee alleging that the Original Work infringes a patent. This</a:t>
            </a:r>
          </a:p>
          <a:p>
            <a:r>
              <a:rPr lang="en-US" sz="3700">
                <a:solidFill>
                  <a:srgbClr val="252525"/>
                </a:solidFill>
              </a:rPr>
              <a:t>termination provision shall not apply for an action alleging patent infringement</a:t>
            </a:r>
          </a:p>
          <a:p>
            <a:r>
              <a:rPr lang="en-US" sz="3700">
                <a:solidFill>
                  <a:srgbClr val="252525"/>
                </a:solidFill>
              </a:rPr>
              <a:t>by combinations of the Original Work with other software or hardware.</a:t>
            </a:r>
          </a:p>
          <a:p>
            <a:r>
              <a:rPr lang="en-US" sz="5000"/>
              <a:t>  </a:t>
            </a:r>
          </a:p>
          <a:p>
            <a:r>
              <a:rPr lang="en-US" sz="3700">
                <a:solidFill>
                  <a:srgbClr val="252525"/>
                </a:solidFill>
              </a:rPr>
              <a:t>11) Jurisdiction, Venue and Governing Law. Any action or suit relating to this</a:t>
            </a:r>
          </a:p>
          <a:p>
            <a:r>
              <a:rPr lang="en-US" sz="3700">
                <a:solidFill>
                  <a:srgbClr val="252525"/>
                </a:solidFill>
              </a:rPr>
              <a:t>License may be brought only in the courts of a jurisdiction wherein the Licensor</a:t>
            </a:r>
          </a:p>
          <a:p>
            <a:r>
              <a:rPr lang="en-US" sz="3700">
                <a:solidFill>
                  <a:srgbClr val="252525"/>
                </a:solidFill>
              </a:rPr>
              <a:t>resides or in which Licensor conducts its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 id="22"/>
          <p:cNvPicPr>
            <a:picLocks noChangeAspect="true"/>
          </p:cNvPicPr>
          <p:nvPr/>
        </p:nvPicPr>
        <p:blipFill>
          <a:blip r:embed="rId22"/>
          <a:stretch>
            <a:fillRect/>
          </a:stretch>
        </p:blipFill>
        <p:spPr>
          <a:xfrm>
            <a:off x="0" y="127000"/>
            <a:ext cx="23749000" cy="16548100"/>
          </a:xfrm>
          <a:prstGeom prst="rect">
            <a:avLst/>
          </a:prstGeom>
        </p:spPr>
      </p:pic>
      <p:sp>
        <p:nvSpPr>
          <p:cNvPr name="TextBox 22" id="2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primary business, and under the laws of</a:t>
            </a:r>
          </a:p>
          <a:p>
            <a:r>
              <a:rPr lang="en-US" sz="3700">
                <a:solidFill>
                  <a:srgbClr val="252525"/>
                </a:solidFill>
              </a:rPr>
              <a:t>that jurisdiction excluding its conflict-of-law provisions. The application of</a:t>
            </a:r>
          </a:p>
          <a:p>
            <a:r>
              <a:rPr lang="en-US" sz="3700">
                <a:solidFill>
                  <a:srgbClr val="252525"/>
                </a:solidFill>
              </a:rPr>
              <a:t>the United Nations Convention on Contracts for the International Sale of Goods is</a:t>
            </a:r>
          </a:p>
          <a:p>
            <a:r>
              <a:rPr lang="en-US" sz="3700">
                <a:solidFill>
                  <a:srgbClr val="252525"/>
                </a:solidFill>
              </a:rPr>
              <a:t>expressly excluded. Any use of the Original Work outside the scope of this</a:t>
            </a:r>
          </a:p>
          <a:p>
            <a:r>
              <a:rPr lang="en-US" sz="3700">
                <a:solidFill>
                  <a:srgbClr val="252525"/>
                </a:solidFill>
              </a:rPr>
              <a:t>License or after its termination shall be subject to the requirements and</a:t>
            </a:r>
          </a:p>
          <a:p>
            <a:r>
              <a:rPr lang="en-US" sz="3700">
                <a:solidFill>
                  <a:srgbClr val="252525"/>
                </a:solidFill>
              </a:rPr>
              <a:t>penalties of the U.S. Copyright Act, 17 U.S.C. § 101 et seq., the equivalent laws</a:t>
            </a:r>
          </a:p>
          <a:p>
            <a:r>
              <a:rPr lang="en-US" sz="3700">
                <a:solidFill>
                  <a:srgbClr val="252525"/>
                </a:solidFill>
              </a:rPr>
              <a:t>of other countries, and international treaty. This section shall survive the</a:t>
            </a:r>
          </a:p>
          <a:p>
            <a:r>
              <a:rPr lang="en-US" sz="3700">
                <a:solidFill>
                  <a:srgbClr val="252525"/>
                </a:solidFill>
              </a:rPr>
              <a:t>termination of this License.</a:t>
            </a:r>
          </a:p>
          <a:p>
            <a:r>
              <a:rPr lang="en-US" sz="5000"/>
              <a:t>  </a:t>
            </a:r>
          </a:p>
          <a:p>
            <a:r>
              <a:rPr lang="en-US" sz="3700">
                <a:solidFill>
                  <a:srgbClr val="252525"/>
                </a:solidFill>
              </a:rPr>
              <a:t>12) Attorneys Fees. In any action to enforce the terms of this License or seeking</a:t>
            </a:r>
          </a:p>
          <a:p>
            <a:r>
              <a:rPr lang="en-US" sz="3700">
                <a:solidFill>
                  <a:srgbClr val="252525"/>
                </a:solidFill>
              </a:rPr>
              <a:t>damages relating thereto, the prevailing party shall be entitled to recover its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 id="24"/>
          <p:cNvPicPr>
            <a:picLocks noChangeAspect="true"/>
          </p:cNvPicPr>
          <p:nvPr/>
        </p:nvPicPr>
        <p:blipFill>
          <a:blip r:embed="rId24"/>
          <a:stretch>
            <a:fillRect/>
          </a:stretch>
        </p:blipFill>
        <p:spPr>
          <a:xfrm>
            <a:off x="0" y="127000"/>
            <a:ext cx="23749000" cy="16548100"/>
          </a:xfrm>
          <a:prstGeom prst="rect">
            <a:avLst/>
          </a:prstGeom>
        </p:spPr>
      </p:pic>
      <p:sp>
        <p:nvSpPr>
          <p:cNvPr name="TextBox 24" id="2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costs and expenses, including, without limitation, reasonable attorneys' fees and</a:t>
            </a:r>
          </a:p>
          <a:p>
            <a:r>
              <a:rPr lang="en-US" sz="3700">
                <a:solidFill>
                  <a:srgbClr val="252525"/>
                </a:solidFill>
              </a:rPr>
              <a:t>costs incurred in connection with such action, including any appeal of such</a:t>
            </a:r>
          </a:p>
          <a:p>
            <a:r>
              <a:rPr lang="en-US" sz="3700">
                <a:solidFill>
                  <a:srgbClr val="252525"/>
                </a:solidFill>
              </a:rPr>
              <a:t>action. This section shall survive the termination of this License.</a:t>
            </a:r>
          </a:p>
          <a:p>
            <a:r>
              <a:rPr lang="en-US" sz="5000"/>
              <a:t>  </a:t>
            </a:r>
          </a:p>
          <a:p>
            <a:r>
              <a:rPr lang="en-US" sz="3700">
                <a:solidFill>
                  <a:srgbClr val="252525"/>
                </a:solidFill>
              </a:rPr>
              <a:t>13) Miscellaneous. This License represents the complete agreement concerning the</a:t>
            </a:r>
          </a:p>
          <a:p>
            <a:r>
              <a:rPr lang="en-US" sz="3700">
                <a:solidFill>
                  <a:srgbClr val="252525"/>
                </a:solidFill>
              </a:rPr>
              <a:t>subject matter hereof. If any provision of this License is held to be</a:t>
            </a:r>
          </a:p>
          <a:p>
            <a:r>
              <a:rPr lang="en-US" sz="3700">
                <a:solidFill>
                  <a:srgbClr val="252525"/>
                </a:solidFill>
              </a:rPr>
              <a:t>unenforceable, such provision shall be reformed only to the extent necessary to</a:t>
            </a:r>
          </a:p>
          <a:p>
            <a:r>
              <a:rPr lang="en-US" sz="3700">
                <a:solidFill>
                  <a:srgbClr val="252525"/>
                </a:solidFill>
              </a:rPr>
              <a:t>make it enforceable.</a:t>
            </a:r>
          </a:p>
          <a:p>
            <a:r>
              <a:rPr lang="en-US" sz="5000"/>
              <a:t>  </a:t>
            </a:r>
          </a:p>
          <a:p>
            <a:r>
              <a:rPr lang="en-US" sz="3700">
                <a:solidFill>
                  <a:srgbClr val="252525"/>
                </a:solidFill>
              </a:rPr>
              <a:t>14) Definition of "You" in This License. "You" throughout this License, whether</a:t>
            </a:r>
          </a:p>
          <a:p>
            <a:r>
              <a:rPr lang="en-US" sz="3700">
                <a:solidFill>
                  <a:srgbClr val="252525"/>
                </a:solidFill>
              </a:rPr>
              <a:t>in upper or lower case, means an individual or a legal entity exercising rights</a:t>
            </a:r>
          </a:p>
          <a:p>
            <a:r>
              <a:rPr lang="en-US" sz="3700">
                <a:solidFill>
                  <a:srgbClr val="252525"/>
                </a:solidFill>
              </a:rPr>
              <a:t>under, and complying with all of the terms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 id="26"/>
          <p:cNvPicPr>
            <a:picLocks noChangeAspect="true"/>
          </p:cNvPicPr>
          <p:nvPr/>
        </p:nvPicPr>
        <p:blipFill>
          <a:blip r:embed="rId26"/>
          <a:stretch>
            <a:fillRect/>
          </a:stretch>
        </p:blipFill>
        <p:spPr>
          <a:xfrm>
            <a:off x="0" y="127000"/>
            <a:ext cx="23749000" cy="16548100"/>
          </a:xfrm>
          <a:prstGeom prst="rect">
            <a:avLst/>
          </a:prstGeom>
        </p:spPr>
      </p:pic>
      <p:sp>
        <p:nvSpPr>
          <p:cNvPr name="TextBox 26" id="2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of, this License. For legal entities,</a:t>
            </a:r>
          </a:p>
          <a:p>
            <a:r>
              <a:rPr lang="en-US" sz="3700">
                <a:solidFill>
                  <a:srgbClr val="252525"/>
                </a:solidFill>
              </a:rPr>
              <a:t>"You" includes any entity that controls, is controlled by, or is under common</a:t>
            </a:r>
          </a:p>
          <a:p>
            <a:r>
              <a:rPr lang="en-US" sz="3700">
                <a:solidFill>
                  <a:srgbClr val="252525"/>
                </a:solidFill>
              </a:rPr>
              <a:t>control with you. For purposes of this definition, "control" means (i) the power,</a:t>
            </a:r>
          </a:p>
          <a:p>
            <a:r>
              <a:rPr lang="en-US" sz="3700">
                <a:solidFill>
                  <a:srgbClr val="252525"/>
                </a:solidFill>
              </a:rPr>
              <a:t>direct or indirect, to cause the direction or management of such entity, whether</a:t>
            </a:r>
          </a:p>
          <a:p>
            <a:r>
              <a:rPr lang="en-US" sz="3700">
                <a:solidFill>
                  <a:srgbClr val="252525"/>
                </a:solidFill>
              </a:rPr>
              <a:t>by contract or otherwise, or (ii) ownership of fifty percent (50%) or more of the</a:t>
            </a:r>
          </a:p>
          <a:p>
            <a:r>
              <a:rPr lang="en-US" sz="3700">
                <a:solidFill>
                  <a:srgbClr val="252525"/>
                </a:solidFill>
              </a:rPr>
              <a:t>outstanding shares, or (iii) beneficial ownership of such entity.</a:t>
            </a:r>
          </a:p>
          <a:p>
            <a:r>
              <a:rPr lang="en-US" sz="5000"/>
              <a:t>  </a:t>
            </a:r>
          </a:p>
          <a:p>
            <a:r>
              <a:rPr lang="en-US" sz="3700">
                <a:solidFill>
                  <a:srgbClr val="252525"/>
                </a:solidFill>
              </a:rPr>
              <a:t>15) Right to Use. You may use the Original Work in all ways not otherwise</a:t>
            </a:r>
          </a:p>
          <a:p>
            <a:r>
              <a:rPr lang="en-US" sz="3700">
                <a:solidFill>
                  <a:srgbClr val="252525"/>
                </a:solidFill>
              </a:rPr>
              <a:t>restricted or conditioned by this License or by law, and Licensor promises not to</a:t>
            </a:r>
          </a:p>
          <a:p>
            <a:r>
              <a:rPr lang="en-US" sz="3700">
                <a:solidFill>
                  <a:srgbClr val="252525"/>
                </a:solidFill>
              </a:rPr>
              <a:t>interfere with or be responsible for such uses by You.</a:t>
            </a:r>
          </a:p>
          <a:p>
            <a:r>
              <a:rPr lang="en-US" sz="5000"/>
              <a:t>  </a:t>
            </a:r>
          </a:p>
          <a:p>
            <a:r>
              <a:rPr lang="en-US" sz="3700">
                <a:solidFill>
                  <a:srgbClr val="252525"/>
                </a:solidFill>
              </a:rPr>
              <a: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 id="28"/>
          <p:cNvPicPr>
            <a:picLocks noChangeAspect="true"/>
          </p:cNvPicPr>
          <p:nvPr/>
        </p:nvPicPr>
        <p:blipFill>
          <a:blip r:embed="rId28"/>
          <a:stretch>
            <a:fillRect/>
          </a:stretch>
        </p:blipFill>
        <p:spPr>
          <a:xfrm>
            <a:off x="0" y="127000"/>
            <a:ext cx="23749000" cy="16548100"/>
          </a:xfrm>
          <a:prstGeom prst="rect">
            <a:avLst/>
          </a:prstGeom>
        </p:spPr>
      </p:pic>
      <p:sp>
        <p:nvSpPr>
          <p:cNvPr name="TextBox 28" id="2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Android Software Development Kit License</a:t>
            </a:r>
          </a:p>
          <a:p>
            <a:r>
              <a:rPr lang="en-US" sz="3700">
                <a:solidFill>
                  <a:srgbClr val="252525"/>
                </a:solidFill>
              </a:rPr>
              <a:t>(firebase-iid 20.0.0, firebase-iid-interop 17.0.0, firebase-measurement-connector 18.0.0, firebase-messaging 20.0.0, play-services-base 17.0.0, play-services-basement 17.0.0, play-services-stats 17.0.0, play-services-tasks 17.0.0)</a:t>
            </a:r>
          </a:p>
          <a:p>
            <a:r>
              <a:rPr lang="en-US" sz="5000"/>
              <a:t>  </a:t>
            </a:r>
          </a:p>
          <a:p>
            <a:r>
              <a:rPr lang="en-US" sz="3700">
                <a:solidFill>
                  <a:srgbClr val="252525"/>
                </a:solidFill>
              </a:rPr>
              <a:t>This is the Android Software Development Kit License Agreement</a:t>
            </a:r>
          </a:p>
          <a:p>
            <a:r>
              <a:rPr lang="en-US" sz="3700">
                <a:solidFill>
                  <a:srgbClr val="252525"/>
                </a:solidFill>
              </a:rPr>
              <a:t>==============================================================</a:t>
            </a:r>
          </a:p>
          <a:p>
            <a:r>
              <a:rPr lang="en-US" sz="5000"/>
              <a:t>  </a:t>
            </a:r>
          </a:p>
          <a:p>
            <a:r>
              <a:rPr lang="en-US" sz="3700">
                <a:solidFill>
                  <a:srgbClr val="252525"/>
                </a:solidFill>
              </a:rPr>
              <a:t>1. Introduction</a:t>
            </a:r>
          </a:p>
          <a:p>
            <a:r>
              <a:rPr lang="en-US" sz="5000"/>
              <a:t>  </a:t>
            </a:r>
          </a:p>
          <a:p>
            <a:r>
              <a:rPr lang="en-US" sz="3700">
                <a:solidFill>
                  <a:srgbClr val="252525"/>
                </a:solidFill>
              </a:rPr>
              <a:t>1.1 The Android Software Development Kit (referred to in the License Agreement as</a:t>
            </a:r>
          </a:p>
          <a:p>
            <a:r>
              <a:rPr lang="en-US" sz="3700">
                <a:solidFill>
                  <a:srgbClr val="252525"/>
                </a:solidFill>
              </a:rPr>
              <a:t>the "SDK" and specifically including the Android system files, packaged APIs, and</a:t>
            </a:r>
          </a:p>
          <a:p>
            <a:r>
              <a:rPr lang="en-US" sz="3700">
                <a:solidFill>
                  <a:srgbClr val="252525"/>
                </a:solidFill>
              </a:rPr>
              <a:t>Google APIs add-ons) is licensed to you subject to the terms of the License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 id="30"/>
          <p:cNvPicPr>
            <a:picLocks noChangeAspect="true"/>
          </p:cNvPicPr>
          <p:nvPr/>
        </p:nvPicPr>
        <p:blipFill>
          <a:blip r:embed="rId30"/>
          <a:stretch>
            <a:fillRect/>
          </a:stretch>
        </p:blipFill>
        <p:spPr>
          <a:xfrm>
            <a:off x="0" y="127000"/>
            <a:ext cx="23749000" cy="16548100"/>
          </a:xfrm>
          <a:prstGeom prst="rect">
            <a:avLst/>
          </a:prstGeom>
        </p:spPr>
      </p:pic>
      <p:sp>
        <p:nvSpPr>
          <p:cNvPr name="TextBox 30" id="3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Agreement. The License Agreement forms a legally binding contract between you and</a:t>
            </a:r>
          </a:p>
          <a:p>
            <a:r>
              <a:rPr lang="en-US" sz="3700">
                <a:solidFill>
                  <a:srgbClr val="252525"/>
                </a:solidFill>
              </a:rPr>
              <a:t>Google in relation to your use of the SDK.</a:t>
            </a:r>
          </a:p>
          <a:p>
            <a:r>
              <a:rPr lang="en-US" sz="5000"/>
              <a:t>  </a:t>
            </a:r>
          </a:p>
          <a:p>
            <a:r>
              <a:rPr lang="en-US" sz="3700">
                <a:solidFill>
                  <a:srgbClr val="252525"/>
                </a:solidFill>
              </a:rPr>
              <a:t>1.2 "Android" means the Android software stack for devices, as made available</a:t>
            </a:r>
          </a:p>
          <a:p>
            <a:r>
              <a:rPr lang="en-US" sz="3700">
                <a:solidFill>
                  <a:srgbClr val="252525"/>
                </a:solidFill>
              </a:rPr>
              <a:t>under the Android Open Source Project, which is located at the following URL:</a:t>
            </a:r>
          </a:p>
          <a:p>
            <a:r>
              <a:rPr lang="en-US" sz="3700">
                <a:solidFill>
                  <a:srgbClr val="252525"/>
                </a:solidFill>
              </a:rPr>
              <a:t/>
            </a:r>
            <a:r>
              <a:rPr lang="en-US" sz="3700">
                <a:solidFill>
                  <a:srgbClr val="252525"/>
                </a:solidFill>
              </a:rPr>
              <a:t>, as updated from time to time.</a:t>
            </a:r>
          </a:p>
          <a:p>
            <a:r>
              <a:rPr lang="en-US" sz="5000"/>
              <a:t>  </a:t>
            </a:r>
          </a:p>
          <a:p>
            <a:r>
              <a:rPr lang="en-US" sz="3700">
                <a:solidFill>
                  <a:srgbClr val="252525"/>
                </a:solidFill>
              </a:rPr>
              <a:t>1.3 A "compatible implementation" means any Android device that (i) complies with</a:t>
            </a:r>
          </a:p>
          <a:p>
            <a:r>
              <a:rPr lang="en-US" sz="3700">
                <a:solidFill>
                  <a:srgbClr val="252525"/>
                </a:solidFill>
              </a:rPr>
              <a:t>the Android Compatibility Definition document, which can be found at the Android</a:t>
            </a:r>
          </a:p>
          <a:p>
            <a:r>
              <a:rPr lang="en-US" sz="3700">
                <a:solidFill>
                  <a:srgbClr val="252525"/>
                </a:solidFill>
              </a:rPr>
              <a:t>compatibility website (</a:t>
            </a:r>
          </a:p>
        </p:txBody>
      </p:sp>
      <p:pic>
        <p:nvPicPr>
          <p:cNvPr name="Picture 32" id="32">
            <a:hlinkClick r:id="rId33"/>
          </p:cNvPr>
          <p:cNvPicPr>
            <a:picLocks noChangeAspect="true"/>
          </p:cNvPicPr>
          <p:nvPr/>
        </p:nvPicPr>
        <p:blipFill>
          <a:blip r:embed="rId32"/>
          <a:stretch>
            <a:fillRect/>
          </a:stretch>
        </p:blipFill>
        <p:spPr>
          <a:xfrm>
            <a:off x="6451600" y="12471400"/>
            <a:ext cx="10820400" cy="1714500"/>
          </a:xfrm>
          <a:prstGeom prst="rect">
            <a:avLst/>
          </a:prstGeom>
        </p:spPr>
      </p:pic>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4" id="34"/>
          <p:cNvPicPr>
            <a:picLocks noChangeAspect="true"/>
          </p:cNvPicPr>
          <p:nvPr/>
        </p:nvPicPr>
        <p:blipFill>
          <a:blip r:embed="rId34"/>
          <a:stretch>
            <a:fillRect/>
          </a:stretch>
        </p:blipFill>
        <p:spPr>
          <a:xfrm>
            <a:off x="0" y="127000"/>
            <a:ext cx="23749000" cy="16548100"/>
          </a:xfrm>
          <a:prstGeom prst="rect">
            <a:avLst/>
          </a:prstGeom>
        </p:spPr>
      </p:pic>
      <p:sp>
        <p:nvSpPr>
          <p:cNvPr name="TextBox 34" id="3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r>
              <a:rPr lang="en-US" sz="3700">
                <a:solidFill>
                  <a:srgbClr val="252525"/>
                </a:solidFill>
              </a:rPr>
              <a:t>) and which may be</a:t>
            </a:r>
          </a:p>
          <a:p>
            <a:r>
              <a:rPr lang="en-US" sz="3700">
                <a:solidFill>
                  <a:srgbClr val="252525"/>
                </a:solidFill>
              </a:rPr>
              <a:t>updated from time to time; and (ii) successfully passes the Android Compatibility</a:t>
            </a:r>
          </a:p>
          <a:p>
            <a:r>
              <a:rPr lang="en-US" sz="3700">
                <a:solidFill>
                  <a:srgbClr val="252525"/>
                </a:solidFill>
              </a:rPr>
              <a:t>Test Suite (CTS).</a:t>
            </a:r>
          </a:p>
          <a:p>
            <a:r>
              <a:rPr lang="en-US" sz="5000"/>
              <a:t>  </a:t>
            </a:r>
          </a:p>
          <a:p>
            <a:r>
              <a:rPr lang="en-US" sz="3700">
                <a:solidFill>
                  <a:srgbClr val="252525"/>
                </a:solidFill>
              </a:rPr>
              <a:t>1.4 "Google" means Google LLC, a Delaware corporation with principal place of</a:t>
            </a:r>
          </a:p>
          <a:p>
            <a:r>
              <a:rPr lang="en-US" sz="3700">
                <a:solidFill>
                  <a:srgbClr val="252525"/>
                </a:solidFill>
              </a:rPr>
              <a:t>business at 1600 Amphitheatre Parkway, Mountain View, CA 94043, United States.</a:t>
            </a:r>
          </a:p>
          <a:p>
            <a:r>
              <a:rPr lang="en-US" sz="5000"/>
              <a:t>  </a:t>
            </a:r>
          </a:p>
          <a:p>
            <a:r>
              <a:rPr lang="en-US" sz="5000"/>
              <a:t>  </a:t>
            </a:r>
          </a:p>
          <a:p>
            <a:r>
              <a:rPr lang="en-US" sz="3700">
                <a:solidFill>
                  <a:srgbClr val="252525"/>
                </a:solidFill>
              </a:rPr>
              <a:t>2. Accepting this License Agreement</a:t>
            </a:r>
          </a:p>
          <a:p>
            <a:r>
              <a:rPr lang="en-US" sz="5000"/>
              <a:t>  </a:t>
            </a:r>
          </a:p>
          <a:p>
            <a:r>
              <a:rPr lang="en-US" sz="3700">
                <a:solidFill>
                  <a:srgbClr val="252525"/>
                </a:solidFill>
              </a:rPr>
              <a:t>2.1 In order to use the SDK, you must first agree to the License Agreement. You</a:t>
            </a:r>
          </a:p>
          <a:p>
            <a:r>
              <a:rPr lang="en-US" sz="3700">
                <a:solidFill>
                  <a:srgbClr val="252525"/>
                </a:solidFill>
              </a:rPr>
              <a:t>may not use the SDK if you do not accept </a:t>
            </a:r>
          </a:p>
        </p:txBody>
      </p:sp>
      <p:pic>
        <p:nvPicPr>
          <p:cNvPr name="Picture 36" id="36">
            <a:hlinkClick r:id="rId37"/>
          </p:cNvPr>
          <p:cNvPicPr>
            <a:picLocks noChangeAspect="true"/>
          </p:cNvPicPr>
          <p:nvPr/>
        </p:nvPicPr>
        <p:blipFill>
          <a:blip r:embed="rId36"/>
          <a:stretch>
            <a:fillRect/>
          </a:stretch>
        </p:blipFill>
        <p:spPr>
          <a:xfrm>
            <a:off x="6451600" y="5626100"/>
            <a:ext cx="10820400" cy="1714500"/>
          </a:xfrm>
          <a:prstGeom prst="rect">
            <a:avLst/>
          </a:prstGeom>
        </p:spPr>
      </p:pic>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8" id="38"/>
          <p:cNvPicPr>
            <a:picLocks noChangeAspect="true"/>
          </p:cNvPicPr>
          <p:nvPr/>
        </p:nvPicPr>
        <p:blipFill>
          <a:blip r:embed="rId38"/>
          <a:stretch>
            <a:fillRect/>
          </a:stretch>
        </p:blipFill>
        <p:spPr>
          <a:xfrm>
            <a:off x="0" y="127000"/>
            <a:ext cx="23749000" cy="16548100"/>
          </a:xfrm>
          <a:prstGeom prst="rect">
            <a:avLst/>
          </a:prstGeom>
        </p:spPr>
      </p:pic>
      <p:sp>
        <p:nvSpPr>
          <p:cNvPr name="TextBox 38" id="3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the License Agreement.</a:t>
            </a:r>
          </a:p>
          <a:p>
            <a:r>
              <a:rPr lang="en-US" sz="5000"/>
              <a:t>  </a:t>
            </a:r>
          </a:p>
          <a:p>
            <a:r>
              <a:rPr lang="en-US" sz="3700">
                <a:solidFill>
                  <a:srgbClr val="252525"/>
                </a:solidFill>
              </a:rPr>
              <a:t>2.2 By clicking to accept, you hereby agree to the terms of the License</a:t>
            </a:r>
          </a:p>
          <a:p>
            <a:r>
              <a:rPr lang="en-US" sz="3700">
                <a:solidFill>
                  <a:srgbClr val="252525"/>
                </a:solidFill>
              </a:rPr>
              <a:t>Agreement.</a:t>
            </a:r>
          </a:p>
          <a:p>
            <a:r>
              <a:rPr lang="en-US" sz="5000"/>
              <a:t>  </a:t>
            </a:r>
          </a:p>
          <a:p>
            <a:r>
              <a:rPr lang="en-US" sz="3700">
                <a:solidFill>
                  <a:srgbClr val="252525"/>
                </a:solidFill>
              </a:rPr>
              <a:t>2.3 You may not use the SDK and may not accept the License Agreement if you are a</a:t>
            </a:r>
          </a:p>
          <a:p>
            <a:r>
              <a:rPr lang="en-US" sz="3700">
                <a:solidFill>
                  <a:srgbClr val="252525"/>
                </a:solidFill>
              </a:rPr>
              <a:t>person barred from receiving the SDK under the laws of the United States or other</a:t>
            </a:r>
          </a:p>
          <a:p>
            <a:r>
              <a:rPr lang="en-US" sz="3700">
                <a:solidFill>
                  <a:srgbClr val="252525"/>
                </a:solidFill>
              </a:rPr>
              <a:t>countries, including the country in which you are resident or from which you use</a:t>
            </a:r>
          </a:p>
          <a:p>
            <a:r>
              <a:rPr lang="en-US" sz="3700">
                <a:solidFill>
                  <a:srgbClr val="252525"/>
                </a:solidFill>
              </a:rPr>
              <a:t>the SDK.</a:t>
            </a:r>
          </a:p>
          <a:p>
            <a:r>
              <a:rPr lang="en-US" sz="5000"/>
              <a:t>  </a:t>
            </a:r>
          </a:p>
          <a:p>
            <a:r>
              <a:rPr lang="en-US" sz="3700">
                <a:solidFill>
                  <a:srgbClr val="252525"/>
                </a:solidFill>
              </a:rPr>
              <a:t>2.4 If you are agreeing to be bound by the License Agreement on behalf of your</a:t>
            </a:r>
          </a:p>
          <a:p>
            <a:r>
              <a:rPr lang="en-US" sz="3700">
                <a:solidFill>
                  <a:srgbClr val="252525"/>
                </a:solidFill>
              </a:rPr>
              <a:t>employer or other entity, you represent and warrant that you have full legal</a:t>
            </a:r>
          </a:p>
          <a:p>
            <a:r>
              <a:rPr lang="en-US" sz="3700">
                <a:solidFill>
                  <a:srgbClr val="252525"/>
                </a:solidFill>
              </a:rPr>
              <a:t>authority to bind your employer or such entity to the License Agreement. If you</a:t>
            </a:r>
          </a:p>
          <a:p>
            <a:r>
              <a:rPr lang="en-US" sz="3700">
                <a:solidFill>
                  <a:srgbClr val="252525"/>
                </a:solidFill>
              </a:rPr>
              <a:t>do not have the requisite authority, you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0" id="40"/>
          <p:cNvPicPr>
            <a:picLocks noChangeAspect="true"/>
          </p:cNvPicPr>
          <p:nvPr/>
        </p:nvPicPr>
        <p:blipFill>
          <a:blip r:embed="rId40"/>
          <a:stretch>
            <a:fillRect/>
          </a:stretch>
        </p:blipFill>
        <p:spPr>
          <a:xfrm>
            <a:off x="0" y="127000"/>
            <a:ext cx="23749000" cy="16548100"/>
          </a:xfrm>
          <a:prstGeom prst="rect">
            <a:avLst/>
          </a:prstGeom>
        </p:spPr>
      </p:pic>
      <p:sp>
        <p:nvSpPr>
          <p:cNvPr name="TextBox 40" id="4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may not accept the License Agreement or</a:t>
            </a:r>
          </a:p>
          <a:p>
            <a:r>
              <a:rPr lang="en-US" sz="3700">
                <a:solidFill>
                  <a:srgbClr val="252525"/>
                </a:solidFill>
              </a:rPr>
              <a:t>use the SDK on behalf of your employer or other entity.</a:t>
            </a:r>
          </a:p>
          <a:p>
            <a:r>
              <a:rPr lang="en-US" sz="5000"/>
              <a:t>  </a:t>
            </a:r>
          </a:p>
          <a:p>
            <a:r>
              <a:rPr lang="en-US" sz="5000"/>
              <a:t>  </a:t>
            </a:r>
          </a:p>
          <a:p>
            <a:r>
              <a:rPr lang="en-US" sz="3700">
                <a:solidFill>
                  <a:srgbClr val="252525"/>
                </a:solidFill>
              </a:rPr>
              <a:t>3. SDK License from Google</a:t>
            </a:r>
          </a:p>
          <a:p>
            <a:r>
              <a:rPr lang="en-US" sz="5000"/>
              <a:t>  </a:t>
            </a:r>
          </a:p>
          <a:p>
            <a:r>
              <a:rPr lang="en-US" sz="3700">
                <a:solidFill>
                  <a:srgbClr val="252525"/>
                </a:solidFill>
              </a:rPr>
              <a:t>3.1 Subject to the terms of the License Agreement, Google grants you a limited,</a:t>
            </a:r>
          </a:p>
          <a:p>
            <a:r>
              <a:rPr lang="en-US" sz="3700">
                <a:solidFill>
                  <a:srgbClr val="252525"/>
                </a:solidFill>
              </a:rPr>
              <a:t>worldwide, royalty-free, non-assignable, non-exclusive, and non-sublicensable</a:t>
            </a:r>
          </a:p>
          <a:p>
            <a:r>
              <a:rPr lang="en-US" sz="3700">
                <a:solidFill>
                  <a:srgbClr val="252525"/>
                </a:solidFill>
              </a:rPr>
              <a:t>license to use the SDK solely to develop applications for compatible</a:t>
            </a:r>
          </a:p>
          <a:p>
            <a:r>
              <a:rPr lang="en-US" sz="3700">
                <a:solidFill>
                  <a:srgbClr val="252525"/>
                </a:solidFill>
              </a:rPr>
              <a:t>implementations of Android.</a:t>
            </a:r>
          </a:p>
          <a:p>
            <a:r>
              <a:rPr lang="en-US" sz="5000"/>
              <a:t>  </a:t>
            </a:r>
          </a:p>
          <a:p>
            <a:r>
              <a:rPr lang="en-US" sz="3700">
                <a:solidFill>
                  <a:srgbClr val="252525"/>
                </a:solidFill>
              </a:rPr>
              <a:t>3.2 You may not use this SDK to develop applications for other platforms</a:t>
            </a:r>
          </a:p>
          <a:p>
            <a:r>
              <a:rPr lang="en-US" sz="3700">
                <a:solidFill>
                  <a:srgbClr val="252525"/>
                </a:solidFill>
              </a:rPr>
              <a:t>(including non-compatible implementations of Android) or to develop another SDK.</a:t>
            </a:r>
          </a:p>
          <a:p>
            <a:r>
              <a:rPr lang="en-US" sz="3700">
                <a:solidFill>
                  <a:srgbClr val="252525"/>
                </a:solidFill>
              </a:rPr>
              <a:t>You are of course free to develop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2" id="42"/>
          <p:cNvPicPr>
            <a:picLocks noChangeAspect="true"/>
          </p:cNvPicPr>
          <p:nvPr/>
        </p:nvPicPr>
        <p:blipFill>
          <a:blip r:embed="rId42"/>
          <a:stretch>
            <a:fillRect/>
          </a:stretch>
        </p:blipFill>
        <p:spPr>
          <a:xfrm>
            <a:off x="0" y="127000"/>
            <a:ext cx="23749000" cy="16548100"/>
          </a:xfrm>
          <a:prstGeom prst="rect">
            <a:avLst/>
          </a:prstGeom>
        </p:spPr>
      </p:pic>
      <p:sp>
        <p:nvSpPr>
          <p:cNvPr name="TextBox 42" id="4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applications for other platforms, including</a:t>
            </a:r>
          </a:p>
          <a:p>
            <a:r>
              <a:rPr lang="en-US" sz="3700">
                <a:solidFill>
                  <a:srgbClr val="252525"/>
                </a:solidFill>
              </a:rPr>
              <a:t>non-compatible implementations of Android, provided that this SDK is not used for</a:t>
            </a:r>
          </a:p>
          <a:p>
            <a:r>
              <a:rPr lang="en-US" sz="3700">
                <a:solidFill>
                  <a:srgbClr val="252525"/>
                </a:solidFill>
              </a:rPr>
              <a:t>that purpose.</a:t>
            </a:r>
          </a:p>
          <a:p>
            <a:r>
              <a:rPr lang="en-US" sz="5000"/>
              <a:t>  </a:t>
            </a:r>
          </a:p>
          <a:p>
            <a:r>
              <a:rPr lang="en-US" sz="3700">
                <a:solidFill>
                  <a:srgbClr val="252525"/>
                </a:solidFill>
              </a:rPr>
              <a:t>3.3 You agree that Google or third parties own all legal right, title and</a:t>
            </a:r>
          </a:p>
          <a:p>
            <a:r>
              <a:rPr lang="en-US" sz="3700">
                <a:solidFill>
                  <a:srgbClr val="252525"/>
                </a:solidFill>
              </a:rPr>
              <a:t>interest in and to the SDK, including any Intellectual Property Rights that</a:t>
            </a:r>
          </a:p>
          <a:p>
            <a:r>
              <a:rPr lang="en-US" sz="3700">
                <a:solidFill>
                  <a:srgbClr val="252525"/>
                </a:solidFill>
              </a:rPr>
              <a:t>subsist in the SDK. "Intellectual Property Rights" means any and all rights under</a:t>
            </a:r>
          </a:p>
          <a:p>
            <a:r>
              <a:rPr lang="en-US" sz="3700">
                <a:solidFill>
                  <a:srgbClr val="252525"/>
                </a:solidFill>
              </a:rPr>
              <a:t>patent law, copyright law, trade secret law, trademark law, and any and all other</a:t>
            </a:r>
          </a:p>
          <a:p>
            <a:r>
              <a:rPr lang="en-US" sz="3700">
                <a:solidFill>
                  <a:srgbClr val="252525"/>
                </a:solidFill>
              </a:rPr>
              <a:t>proprietary rights. Google reserves all rights not expressly granted to you.</a:t>
            </a:r>
          </a:p>
          <a:p>
            <a:r>
              <a:rPr lang="en-US" sz="5000"/>
              <a:t>  </a:t>
            </a:r>
          </a:p>
          <a:p>
            <a:r>
              <a:rPr lang="en-US" sz="3700">
                <a:solidFill>
                  <a:srgbClr val="252525"/>
                </a:solidFill>
              </a:rPr>
              <a:t>3.4 You may not use the SDK for any purpose not expressly permitted by the</a:t>
            </a:r>
          </a:p>
          <a:p>
            <a:r>
              <a:rPr lang="en-US" sz="3700">
                <a:solidFill>
                  <a:srgbClr val="252525"/>
                </a:solidFill>
              </a:rPr>
              <a:t>License Agreement. Except to the extent required by applicable third party</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4" id="44"/>
          <p:cNvPicPr>
            <a:picLocks noChangeAspect="true"/>
          </p:cNvPicPr>
          <p:nvPr/>
        </p:nvPicPr>
        <p:blipFill>
          <a:blip r:embed="rId44"/>
          <a:stretch>
            <a:fillRect/>
          </a:stretch>
        </p:blipFill>
        <p:spPr>
          <a:xfrm>
            <a:off x="0" y="127000"/>
            <a:ext cx="23749000" cy="16548100"/>
          </a:xfrm>
          <a:prstGeom prst="rect">
            <a:avLst/>
          </a:prstGeom>
        </p:spPr>
      </p:pic>
      <p:sp>
        <p:nvSpPr>
          <p:cNvPr name="TextBox 44" id="4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licenses, you may not copy (except for backup purposes), modify, adapt,</a:t>
            </a:r>
          </a:p>
          <a:p>
            <a:r>
              <a:rPr lang="en-US" sz="3700">
                <a:solidFill>
                  <a:srgbClr val="252525"/>
                </a:solidFill>
              </a:rPr>
              <a:t>redistribute, decompile, reverse engineer, disassemble, or create derivative</a:t>
            </a:r>
          </a:p>
          <a:p>
            <a:r>
              <a:rPr lang="en-US" sz="3700">
                <a:solidFill>
                  <a:srgbClr val="252525"/>
                </a:solidFill>
              </a:rPr>
              <a:t>works of the SDK or any part of the SDK.</a:t>
            </a:r>
          </a:p>
          <a:p>
            <a:r>
              <a:rPr lang="en-US" sz="5000"/>
              <a:t>  </a:t>
            </a:r>
          </a:p>
          <a:p>
            <a:r>
              <a:rPr lang="en-US" sz="3700">
                <a:solidFill>
                  <a:srgbClr val="252525"/>
                </a:solidFill>
              </a:rPr>
              <a:t>3.5 Use, reproduction and distribution of components of the SDK licensed under an</a:t>
            </a:r>
          </a:p>
          <a:p>
            <a:r>
              <a:rPr lang="en-US" sz="3700">
                <a:solidFill>
                  <a:srgbClr val="252525"/>
                </a:solidFill>
              </a:rPr>
              <a:t>open source software license are governed solely by the terms of that open source</a:t>
            </a:r>
          </a:p>
          <a:p>
            <a:r>
              <a:rPr lang="en-US" sz="3700">
                <a:solidFill>
                  <a:srgbClr val="252525"/>
                </a:solidFill>
              </a:rPr>
              <a:t>software license and not the License Agreement.</a:t>
            </a:r>
          </a:p>
          <a:p>
            <a:r>
              <a:rPr lang="en-US" sz="5000"/>
              <a:t>  </a:t>
            </a:r>
          </a:p>
          <a:p>
            <a:r>
              <a:rPr lang="en-US" sz="3700">
                <a:solidFill>
                  <a:srgbClr val="252525"/>
                </a:solidFill>
              </a:rPr>
              <a:t>3.6 You agree that the form and nature of the SDK that Google provides may change</a:t>
            </a:r>
          </a:p>
          <a:p>
            <a:r>
              <a:rPr lang="en-US" sz="3700">
                <a:solidFill>
                  <a:srgbClr val="252525"/>
                </a:solidFill>
              </a:rPr>
              <a:t>without prior notice to you and that future versions of the SDK may be</a:t>
            </a:r>
          </a:p>
          <a:p>
            <a:r>
              <a:rPr lang="en-US" sz="3700">
                <a:solidFill>
                  <a:srgbClr val="252525"/>
                </a:solidFill>
              </a:rPr>
              <a:t>incompatible with applications developed on previous versions of the SDK. You</a:t>
            </a:r>
          </a:p>
          <a:p>
            <a:r>
              <a:rPr lang="en-US" sz="3700">
                <a:solidFill>
                  <a:srgbClr val="252525"/>
                </a:solidFill>
              </a:rPr>
              <a:t>agree that Google may stop (permanently </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6" id="46"/>
          <p:cNvPicPr>
            <a:picLocks noChangeAspect="true"/>
          </p:cNvPicPr>
          <p:nvPr/>
        </p:nvPicPr>
        <p:blipFill>
          <a:blip r:embed="rId46"/>
          <a:stretch>
            <a:fillRect/>
          </a:stretch>
        </p:blipFill>
        <p:spPr>
          <a:xfrm>
            <a:off x="0" y="127000"/>
            <a:ext cx="23749000" cy="16548100"/>
          </a:xfrm>
          <a:prstGeom prst="rect">
            <a:avLst/>
          </a:prstGeom>
        </p:spPr>
      </p:pic>
      <p:sp>
        <p:nvSpPr>
          <p:cNvPr name="TextBox 46" id="4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or temporarily) providing the SDK (or any</a:t>
            </a:r>
          </a:p>
          <a:p>
            <a:r>
              <a:rPr lang="en-US" sz="3700">
                <a:solidFill>
                  <a:srgbClr val="252525"/>
                </a:solidFill>
              </a:rPr>
              <a:t>features within the SDK) to you or to users generally at Google's sole</a:t>
            </a:r>
          </a:p>
          <a:p>
            <a:r>
              <a:rPr lang="en-US" sz="3700">
                <a:solidFill>
                  <a:srgbClr val="252525"/>
                </a:solidFill>
              </a:rPr>
              <a:t>discretion, without prior notice to you.</a:t>
            </a:r>
          </a:p>
          <a:p>
            <a:r>
              <a:rPr lang="en-US" sz="5000"/>
              <a:t>  </a:t>
            </a:r>
          </a:p>
          <a:p>
            <a:r>
              <a:rPr lang="en-US" sz="3700">
                <a:solidFill>
                  <a:srgbClr val="252525"/>
                </a:solidFill>
              </a:rPr>
              <a:t>3.7 Nothing in the License Agreement gives you a right to use any of Google's</a:t>
            </a:r>
          </a:p>
          <a:p>
            <a:r>
              <a:rPr lang="en-US" sz="3700">
                <a:solidFill>
                  <a:srgbClr val="252525"/>
                </a:solidFill>
              </a:rPr>
              <a:t>trade names, trademarks, service marks, logos, domain names, or other distinctive</a:t>
            </a:r>
          </a:p>
          <a:p>
            <a:r>
              <a:rPr lang="en-US" sz="3700">
                <a:solidFill>
                  <a:srgbClr val="252525"/>
                </a:solidFill>
              </a:rPr>
              <a:t>brand features.</a:t>
            </a:r>
          </a:p>
          <a:p>
            <a:r>
              <a:rPr lang="en-US" sz="5000"/>
              <a:t>  </a:t>
            </a:r>
          </a:p>
          <a:p>
            <a:r>
              <a:rPr lang="en-US" sz="3700">
                <a:solidFill>
                  <a:srgbClr val="252525"/>
                </a:solidFill>
              </a:rPr>
              <a:t>3.8 You agree that you will not remove, obscure, or alter any proprietary rights</a:t>
            </a:r>
          </a:p>
          <a:p>
            <a:r>
              <a:rPr lang="en-US" sz="3700">
                <a:solidFill>
                  <a:srgbClr val="252525"/>
                </a:solidFill>
              </a:rPr>
              <a:t>notices (including copyright and trademark notices) that may be affixed to or</a:t>
            </a:r>
          </a:p>
          <a:p>
            <a:r>
              <a:rPr lang="en-US" sz="3700">
                <a:solidFill>
                  <a:srgbClr val="252525"/>
                </a:solidFill>
              </a:rPr>
              <a:t>contained within the SDK.</a:t>
            </a:r>
          </a:p>
          <a:p>
            <a:r>
              <a:rPr lang="en-US" sz="5000"/>
              <a:t>  </a:t>
            </a:r>
          </a:p>
          <a:p>
            <a:r>
              <a:rPr lang="en-US" sz="5000"/>
              <a:t>  </a:t>
            </a:r>
          </a:p>
          <a:p>
            <a:r>
              <a:rPr lang="en-US" sz="3700">
                <a:solidFill>
                  <a:srgbClr val="252525"/>
                </a:solidFill>
              </a:rPr>
              <a:t>4. Use of the SDK by You</a:t>
            </a:r>
          </a:p>
          <a:p>
            <a:r>
              <a:rPr lang="en-US" sz="5000"/>
              <a:t>  </a:t>
            </a:r>
          </a:p>
          <a:p>
            <a:r>
              <a:rPr lang="en-US" sz="3700">
                <a:solidFill>
                  <a:srgbClr val="252525"/>
                </a:solidFill>
              </a:rPr>
              <a:t>4.1 Google agrees that it obtains no right, </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8" id="48"/>
          <p:cNvPicPr>
            <a:picLocks noChangeAspect="true"/>
          </p:cNvPicPr>
          <p:nvPr/>
        </p:nvPicPr>
        <p:blipFill>
          <a:blip r:embed="rId48"/>
          <a:stretch>
            <a:fillRect/>
          </a:stretch>
        </p:blipFill>
        <p:spPr>
          <a:xfrm>
            <a:off x="0" y="127000"/>
            <a:ext cx="23749000" cy="16548100"/>
          </a:xfrm>
          <a:prstGeom prst="rect">
            <a:avLst/>
          </a:prstGeom>
        </p:spPr>
      </p:pic>
      <p:sp>
        <p:nvSpPr>
          <p:cNvPr name="TextBox 48" id="4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title or interest from you (or your</a:t>
            </a:r>
          </a:p>
          <a:p>
            <a:r>
              <a:rPr lang="en-US" sz="3700">
                <a:solidFill>
                  <a:srgbClr val="252525"/>
                </a:solidFill>
              </a:rPr>
              <a:t>licensors) under the License Agreement in or to any software applications that</a:t>
            </a:r>
          </a:p>
          <a:p>
            <a:r>
              <a:rPr lang="en-US" sz="3700">
                <a:solidFill>
                  <a:srgbClr val="252525"/>
                </a:solidFill>
              </a:rPr>
              <a:t>you develop using the SDK, including any intellectual property rights that</a:t>
            </a:r>
          </a:p>
          <a:p>
            <a:r>
              <a:rPr lang="en-US" sz="3700">
                <a:solidFill>
                  <a:srgbClr val="252525"/>
                </a:solidFill>
              </a:rPr>
              <a:t>subsist in those applications.</a:t>
            </a:r>
          </a:p>
          <a:p>
            <a:r>
              <a:rPr lang="en-US" sz="5000"/>
              <a:t>  </a:t>
            </a:r>
          </a:p>
          <a:p>
            <a:r>
              <a:rPr lang="en-US" sz="3700">
                <a:solidFill>
                  <a:srgbClr val="252525"/>
                </a:solidFill>
              </a:rPr>
              <a:t>4.2 You agree to use the SDK and write applications only for purposes that are</a:t>
            </a:r>
          </a:p>
          <a:p>
            <a:r>
              <a:rPr lang="en-US" sz="3700">
                <a:solidFill>
                  <a:srgbClr val="252525"/>
                </a:solidFill>
              </a:rPr>
              <a:t>permitted by (a) the License Agreement and (b) any applicable law, regulation or</a:t>
            </a:r>
          </a:p>
          <a:p>
            <a:r>
              <a:rPr lang="en-US" sz="3700">
                <a:solidFill>
                  <a:srgbClr val="252525"/>
                </a:solidFill>
              </a:rPr>
              <a:t>generally accepted practices or guidelines in the relevant jurisdictions</a:t>
            </a:r>
          </a:p>
          <a:p>
            <a:r>
              <a:rPr lang="en-US" sz="3700">
                <a:solidFill>
                  <a:srgbClr val="252525"/>
                </a:solidFill>
              </a:rPr>
              <a:t>(including any laws regarding the export of data or software to and from the</a:t>
            </a:r>
          </a:p>
          <a:p>
            <a:r>
              <a:rPr lang="en-US" sz="3700">
                <a:solidFill>
                  <a:srgbClr val="252525"/>
                </a:solidFill>
              </a:rPr>
              <a:t>United States or other relevant countries).</a:t>
            </a:r>
          </a:p>
          <a:p>
            <a:r>
              <a:rPr lang="en-US" sz="5000"/>
              <a:t>  </a:t>
            </a:r>
          </a:p>
          <a:p>
            <a:r>
              <a:rPr lang="en-US" sz="3700">
                <a:solidFill>
                  <a:srgbClr val="252525"/>
                </a:solidFill>
              </a:rPr>
              <a:t>4.3 You agree that if you use the SDK to develop applications for general public</a:t>
            </a:r>
          </a:p>
          <a:p>
            <a:r>
              <a:rPr lang="en-US" sz="3700">
                <a:solidFill>
                  <a:srgbClr val="252525"/>
                </a:solidFill>
              </a:rPr>
              <a:t>users, you will protect the privacy and legal rights of those users. If the users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0" id="50"/>
          <p:cNvPicPr>
            <a:picLocks noChangeAspect="true"/>
          </p:cNvPicPr>
          <p:nvPr/>
        </p:nvPicPr>
        <p:blipFill>
          <a:blip r:embed="rId50"/>
          <a:stretch>
            <a:fillRect/>
          </a:stretch>
        </p:blipFill>
        <p:spPr>
          <a:xfrm>
            <a:off x="0" y="127000"/>
            <a:ext cx="23749000" cy="16548100"/>
          </a:xfrm>
          <a:prstGeom prst="rect">
            <a:avLst/>
          </a:prstGeom>
        </p:spPr>
      </p:pic>
      <p:sp>
        <p:nvSpPr>
          <p:cNvPr name="TextBox 50" id="5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provide you with user names, passwords, or other login information or personal</a:t>
            </a:r>
          </a:p>
          <a:p>
            <a:r>
              <a:rPr lang="en-US" sz="3700">
                <a:solidFill>
                  <a:srgbClr val="252525"/>
                </a:solidFill>
              </a:rPr>
              <a:t>information, you must make the users aware that the information will be available</a:t>
            </a:r>
          </a:p>
          <a:p>
            <a:r>
              <a:rPr lang="en-US" sz="3700">
                <a:solidFill>
                  <a:srgbClr val="252525"/>
                </a:solidFill>
              </a:rPr>
              <a:t>to your application, and you must provide legally adequate privacy notice and</a:t>
            </a:r>
          </a:p>
          <a:p>
            <a:r>
              <a:rPr lang="en-US" sz="3700">
                <a:solidFill>
                  <a:srgbClr val="252525"/>
                </a:solidFill>
              </a:rPr>
              <a:t>protection for those users. If your application stores personal or sensitive</a:t>
            </a:r>
          </a:p>
          <a:p>
            <a:r>
              <a:rPr lang="en-US" sz="3700">
                <a:solidFill>
                  <a:srgbClr val="252525"/>
                </a:solidFill>
              </a:rPr>
              <a:t>information provided by users, it must do so securely. If the user provides your</a:t>
            </a:r>
          </a:p>
          <a:p>
            <a:r>
              <a:rPr lang="en-US" sz="3700">
                <a:solidFill>
                  <a:srgbClr val="252525"/>
                </a:solidFill>
              </a:rPr>
              <a:t>application with Google Account information, your application may only use that</a:t>
            </a:r>
          </a:p>
          <a:p>
            <a:r>
              <a:rPr lang="en-US" sz="3700">
                <a:solidFill>
                  <a:srgbClr val="252525"/>
                </a:solidFill>
              </a:rPr>
              <a:t>information to access the user's Google Account when, and for the limited</a:t>
            </a:r>
          </a:p>
          <a:p>
            <a:r>
              <a:rPr lang="en-US" sz="3700">
                <a:solidFill>
                  <a:srgbClr val="252525"/>
                </a:solidFill>
              </a:rPr>
              <a:t>purposes for which, the user has given you permission to do so.</a:t>
            </a:r>
          </a:p>
          <a:p>
            <a:r>
              <a:rPr lang="en-US" sz="5000"/>
              <a:t>  </a:t>
            </a:r>
          </a:p>
          <a:p>
            <a:r>
              <a:rPr lang="en-US" sz="3700">
                <a:solidFill>
                  <a:srgbClr val="252525"/>
                </a:solidFill>
              </a:rPr>
              <a:t>4.4 You agree that you will not engage in any activity with the SDK, including</a:t>
            </a:r>
          </a:p>
          <a:p>
            <a:r>
              <a:rPr lang="en-US" sz="3700">
                <a:solidFill>
                  <a:srgbClr val="252525"/>
                </a:solidFill>
              </a:rPr>
              <a:t>the development or distribution of an </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2" id="52"/>
          <p:cNvPicPr>
            <a:picLocks noChangeAspect="true"/>
          </p:cNvPicPr>
          <p:nvPr/>
        </p:nvPicPr>
        <p:blipFill>
          <a:blip r:embed="rId52"/>
          <a:stretch>
            <a:fillRect/>
          </a:stretch>
        </p:blipFill>
        <p:spPr>
          <a:xfrm>
            <a:off x="0" y="127000"/>
            <a:ext cx="23749000" cy="16548100"/>
          </a:xfrm>
          <a:prstGeom prst="rect">
            <a:avLst/>
          </a:prstGeom>
        </p:spPr>
      </p:pic>
      <p:sp>
        <p:nvSpPr>
          <p:cNvPr name="TextBox 52" id="5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application, that interferes with,</a:t>
            </a:r>
          </a:p>
          <a:p>
            <a:r>
              <a:rPr lang="en-US" sz="3700">
                <a:solidFill>
                  <a:srgbClr val="252525"/>
                </a:solidFill>
              </a:rPr>
              <a:t>disrupts, damages, or accesses in an unauthorized manner the servers, networks,</a:t>
            </a:r>
          </a:p>
          <a:p>
            <a:r>
              <a:rPr lang="en-US" sz="3700">
                <a:solidFill>
                  <a:srgbClr val="252525"/>
                </a:solidFill>
              </a:rPr>
              <a:t>or other properties or services of any third party including, but not limited to,</a:t>
            </a:r>
          </a:p>
          <a:p>
            <a:r>
              <a:rPr lang="en-US" sz="3700">
                <a:solidFill>
                  <a:srgbClr val="252525"/>
                </a:solidFill>
              </a:rPr>
              <a:t>Google or any mobile communications carrier.</a:t>
            </a:r>
          </a:p>
          <a:p>
            <a:r>
              <a:rPr lang="en-US" sz="5000"/>
              <a:t>  </a:t>
            </a:r>
          </a:p>
          <a:p>
            <a:r>
              <a:rPr lang="en-US" sz="3700">
                <a:solidFill>
                  <a:srgbClr val="252525"/>
                </a:solidFill>
              </a:rPr>
              <a:t>4.5 You agree that you are solely responsible for (and that Google has no</a:t>
            </a:r>
          </a:p>
          <a:p>
            <a:r>
              <a:rPr lang="en-US" sz="3700">
                <a:solidFill>
                  <a:srgbClr val="252525"/>
                </a:solidFill>
              </a:rPr>
              <a:t>responsibility to you or to any third party for) any data, content, or resources</a:t>
            </a:r>
          </a:p>
          <a:p>
            <a:r>
              <a:rPr lang="en-US" sz="3700">
                <a:solidFill>
                  <a:srgbClr val="252525"/>
                </a:solidFill>
              </a:rPr>
              <a:t>that you create, transmit or display through Android and/or applications for</a:t>
            </a:r>
          </a:p>
          <a:p>
            <a:r>
              <a:rPr lang="en-US" sz="3700">
                <a:solidFill>
                  <a:srgbClr val="252525"/>
                </a:solidFill>
              </a:rPr>
              <a:t>Android, and for the consequences of your actions (including any loss or damage</a:t>
            </a:r>
          </a:p>
          <a:p>
            <a:r>
              <a:rPr lang="en-US" sz="3700">
                <a:solidFill>
                  <a:srgbClr val="252525"/>
                </a:solidFill>
              </a:rPr>
              <a:t>which Google may suffer) by doing so.</a:t>
            </a:r>
          </a:p>
          <a:p>
            <a:r>
              <a:rPr lang="en-US" sz="5000"/>
              <a:t>  </a:t>
            </a:r>
          </a:p>
          <a:p>
            <a:r>
              <a:rPr lang="en-US" sz="3700">
                <a:solidFill>
                  <a:srgbClr val="252525"/>
                </a:solidFill>
              </a:rPr>
              <a:t>4.6 You agree that you are solely responsible for (and that Google has no</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4" id="54"/>
          <p:cNvPicPr>
            <a:picLocks noChangeAspect="true"/>
          </p:cNvPicPr>
          <p:nvPr/>
        </p:nvPicPr>
        <p:blipFill>
          <a:blip r:embed="rId54"/>
          <a:stretch>
            <a:fillRect/>
          </a:stretch>
        </p:blipFill>
        <p:spPr>
          <a:xfrm>
            <a:off x="0" y="127000"/>
            <a:ext cx="23749000" cy="16548100"/>
          </a:xfrm>
          <a:prstGeom prst="rect">
            <a:avLst/>
          </a:prstGeom>
        </p:spPr>
      </p:pic>
      <p:sp>
        <p:nvSpPr>
          <p:cNvPr name="TextBox 54" id="5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responsibility to you or to any third party for) any breach of your obligations</a:t>
            </a:r>
          </a:p>
          <a:p>
            <a:r>
              <a:rPr lang="en-US" sz="3700">
                <a:solidFill>
                  <a:srgbClr val="252525"/>
                </a:solidFill>
              </a:rPr>
              <a:t>under the License Agreement, any applicable third party contract or Terms of</a:t>
            </a:r>
          </a:p>
          <a:p>
            <a:r>
              <a:rPr lang="en-US" sz="3700">
                <a:solidFill>
                  <a:srgbClr val="252525"/>
                </a:solidFill>
              </a:rPr>
              <a:t>Service, or any applicable law or regulation, and for the consequences (including</a:t>
            </a:r>
          </a:p>
          <a:p>
            <a:r>
              <a:rPr lang="en-US" sz="3700">
                <a:solidFill>
                  <a:srgbClr val="252525"/>
                </a:solidFill>
              </a:rPr>
              <a:t>any loss or damage which Google or any third party may suffer) of any such</a:t>
            </a:r>
          </a:p>
          <a:p>
            <a:r>
              <a:rPr lang="en-US" sz="3700">
                <a:solidFill>
                  <a:srgbClr val="252525"/>
                </a:solidFill>
              </a:rPr>
              <a:t>breach.</a:t>
            </a:r>
          </a:p>
          <a:p>
            <a:r>
              <a:rPr lang="en-US" sz="5000"/>
              <a:t>  </a:t>
            </a:r>
          </a:p>
          <a:p>
            <a:r>
              <a:rPr lang="en-US" sz="5000"/>
              <a:t>  </a:t>
            </a:r>
          </a:p>
          <a:p>
            <a:r>
              <a:rPr lang="en-US" sz="3700">
                <a:solidFill>
                  <a:srgbClr val="252525"/>
                </a:solidFill>
              </a:rPr>
              <a:t>5. Your Developer Credentials</a:t>
            </a:r>
          </a:p>
          <a:p>
            <a:r>
              <a:rPr lang="en-US" sz="5000"/>
              <a:t>  </a:t>
            </a:r>
          </a:p>
          <a:p>
            <a:r>
              <a:rPr lang="en-US" sz="3700">
                <a:solidFill>
                  <a:srgbClr val="252525"/>
                </a:solidFill>
              </a:rPr>
              <a:t>5.1 You agree that you are responsible for maintaining the confidentiality of any</a:t>
            </a:r>
          </a:p>
          <a:p>
            <a:r>
              <a:rPr lang="en-US" sz="3700">
                <a:solidFill>
                  <a:srgbClr val="252525"/>
                </a:solidFill>
              </a:rPr>
              <a:t>developer credentials that may be issued to you by Google or which you may choose</a:t>
            </a:r>
          </a:p>
          <a:p>
            <a:r>
              <a:rPr lang="en-US" sz="3700">
                <a:solidFill>
                  <a:srgbClr val="252525"/>
                </a:solidFill>
              </a:rPr>
              <a:t>yourself and that you will be solely responsible for all applications that are</a:t>
            </a:r>
          </a:p>
          <a:p>
            <a:r>
              <a:rPr lang="en-US" sz="3700">
                <a:solidFill>
                  <a:srgbClr val="252525"/>
                </a:solidFill>
              </a:rPr>
              <a:t>developed under your developer </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6" id="56"/>
          <p:cNvPicPr>
            <a:picLocks noChangeAspect="true"/>
          </p:cNvPicPr>
          <p:nvPr/>
        </p:nvPicPr>
        <p:blipFill>
          <a:blip r:embed="rId56"/>
          <a:stretch>
            <a:fillRect/>
          </a:stretch>
        </p:blipFill>
        <p:spPr>
          <a:xfrm>
            <a:off x="0" y="127000"/>
            <a:ext cx="23749000" cy="16548100"/>
          </a:xfrm>
          <a:prstGeom prst="rect">
            <a:avLst/>
          </a:prstGeom>
        </p:spPr>
      </p:pic>
      <p:sp>
        <p:nvSpPr>
          <p:cNvPr name="TextBox 56" id="5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credentials.</a:t>
            </a:r>
          </a:p>
          <a:p>
            <a:r>
              <a:rPr lang="en-US" sz="5000"/>
              <a:t>  </a:t>
            </a:r>
          </a:p>
          <a:p>
            <a:r>
              <a:rPr lang="en-US" sz="5000"/>
              <a:t>  </a:t>
            </a:r>
          </a:p>
          <a:p>
            <a:r>
              <a:rPr lang="en-US" sz="3700">
                <a:solidFill>
                  <a:srgbClr val="252525"/>
                </a:solidFill>
              </a:rPr>
              <a:t>6. Privacy and Information</a:t>
            </a:r>
          </a:p>
          <a:p>
            <a:r>
              <a:rPr lang="en-US" sz="5000"/>
              <a:t>  </a:t>
            </a:r>
          </a:p>
          <a:p>
            <a:r>
              <a:rPr lang="en-US" sz="3700">
                <a:solidFill>
                  <a:srgbClr val="252525"/>
                </a:solidFill>
              </a:rPr>
              <a:t>6.1 In order to continually innovate and improve the SDK, Google may collect</a:t>
            </a:r>
          </a:p>
          <a:p>
            <a:r>
              <a:rPr lang="en-US" sz="3700">
                <a:solidFill>
                  <a:srgbClr val="252525"/>
                </a:solidFill>
              </a:rPr>
              <a:t>certain usage statistics from the software including but not limited to a unique</a:t>
            </a:r>
          </a:p>
          <a:p>
            <a:r>
              <a:rPr lang="en-US" sz="3700">
                <a:solidFill>
                  <a:srgbClr val="252525"/>
                </a:solidFill>
              </a:rPr>
              <a:t>identifier, associated IP address, version number of the software, and</a:t>
            </a:r>
          </a:p>
          <a:p>
            <a:r>
              <a:rPr lang="en-US" sz="3700">
                <a:solidFill>
                  <a:srgbClr val="252525"/>
                </a:solidFill>
              </a:rPr>
              <a:t>information on which tools and/or services in the SDK are being used and how they</a:t>
            </a:r>
          </a:p>
          <a:p>
            <a:r>
              <a:rPr lang="en-US" sz="3700">
                <a:solidFill>
                  <a:srgbClr val="252525"/>
                </a:solidFill>
              </a:rPr>
              <a:t>are being used. Before any of this information is collected, the SDK will notify</a:t>
            </a:r>
          </a:p>
          <a:p>
            <a:r>
              <a:rPr lang="en-US" sz="3700">
                <a:solidFill>
                  <a:srgbClr val="252525"/>
                </a:solidFill>
              </a:rPr>
              <a:t>you and seek your consent. If you withhold consent, the information will not be</a:t>
            </a:r>
          </a:p>
          <a:p>
            <a:r>
              <a:rPr lang="en-US" sz="3700">
                <a:solidFill>
                  <a:srgbClr val="252525"/>
                </a:solidFill>
              </a:rPr>
              <a:t>collected.</a:t>
            </a:r>
          </a:p>
          <a:p>
            <a:r>
              <a:rPr lang="en-US" sz="5000"/>
              <a:t>  </a:t>
            </a:r>
          </a:p>
          <a:p>
            <a:r>
              <a:rPr lang="en-US" sz="3700">
                <a:solidFill>
                  <a:srgbClr val="252525"/>
                </a:solidFill>
              </a:rPr>
              <a:t>6.2 The data collected is examined in the aggregate to improve the SDK and is</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8" id="58"/>
          <p:cNvPicPr>
            <a:picLocks noChangeAspect="true"/>
          </p:cNvPicPr>
          <p:nvPr/>
        </p:nvPicPr>
        <p:blipFill>
          <a:blip r:embed="rId58"/>
          <a:stretch>
            <a:fillRect/>
          </a:stretch>
        </p:blipFill>
        <p:spPr>
          <a:xfrm>
            <a:off x="0" y="127000"/>
            <a:ext cx="23749000" cy="16548100"/>
          </a:xfrm>
          <a:prstGeom prst="rect">
            <a:avLst/>
          </a:prstGeom>
        </p:spPr>
      </p:pic>
      <p:sp>
        <p:nvSpPr>
          <p:cNvPr name="TextBox 58" id="5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maintained in accordance with Google's Privacy Policy.</a:t>
            </a:r>
          </a:p>
          <a:p>
            <a:r>
              <a:rPr lang="en-US" sz="5000"/>
              <a:t>  </a:t>
            </a:r>
          </a:p>
          <a:p>
            <a:r>
              <a:rPr lang="en-US" sz="5000"/>
              <a:t>  </a:t>
            </a:r>
          </a:p>
          <a:p>
            <a:r>
              <a:rPr lang="en-US" sz="3700">
                <a:solidFill>
                  <a:srgbClr val="252525"/>
                </a:solidFill>
              </a:rPr>
              <a:t>7. Third Party Applications</a:t>
            </a:r>
          </a:p>
          <a:p>
            <a:r>
              <a:rPr lang="en-US" sz="5000"/>
              <a:t>  </a:t>
            </a:r>
          </a:p>
          <a:p>
            <a:r>
              <a:rPr lang="en-US" sz="3700">
                <a:solidFill>
                  <a:srgbClr val="252525"/>
                </a:solidFill>
              </a:rPr>
              <a:t>7.1 If you use the SDK to run applications developed by a third party or that</a:t>
            </a:r>
          </a:p>
          <a:p>
            <a:r>
              <a:rPr lang="en-US" sz="3700">
                <a:solidFill>
                  <a:srgbClr val="252525"/>
                </a:solidFill>
              </a:rPr>
              <a:t>access data, content or resources provided by a third party, you agree that</a:t>
            </a:r>
          </a:p>
          <a:p>
            <a:r>
              <a:rPr lang="en-US" sz="3700">
                <a:solidFill>
                  <a:srgbClr val="252525"/>
                </a:solidFill>
              </a:rPr>
              <a:t>Google is not responsible for those applications, data, content, or resources.</a:t>
            </a:r>
          </a:p>
          <a:p>
            <a:r>
              <a:rPr lang="en-US" sz="3700">
                <a:solidFill>
                  <a:srgbClr val="252525"/>
                </a:solidFill>
              </a:rPr>
              <a:t>You understand that all data, content or resources which you may access through</a:t>
            </a:r>
          </a:p>
          <a:p>
            <a:r>
              <a:rPr lang="en-US" sz="3700">
                <a:solidFill>
                  <a:srgbClr val="252525"/>
                </a:solidFill>
              </a:rPr>
              <a:t>such third party applications are the sole responsibility of the person from</a:t>
            </a:r>
          </a:p>
          <a:p>
            <a:r>
              <a:rPr lang="en-US" sz="3700">
                <a:solidFill>
                  <a:srgbClr val="252525"/>
                </a:solidFill>
              </a:rPr>
              <a:t>which they originated and that Google is not liable for any loss or damage that</a:t>
            </a:r>
          </a:p>
          <a:p>
            <a:r>
              <a:rPr lang="en-US" sz="3700">
                <a:solidFill>
                  <a:srgbClr val="252525"/>
                </a:solidFill>
              </a:rPr>
              <a:t>you may experience as a result of the use or access of any of those third party</a:t>
            </a:r>
          </a:p>
          <a:p>
            <a:r>
              <a:rPr lang="en-US" sz="3700">
                <a:solidFill>
                  <a:srgbClr val="252525"/>
                </a:solidFill>
              </a:rPr>
              <a:t>applications, data, content, or resources.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0" id="60"/>
          <p:cNvPicPr>
            <a:picLocks noChangeAspect="true"/>
          </p:cNvPicPr>
          <p:nvPr/>
        </p:nvPicPr>
        <p:blipFill>
          <a:blip r:embed="rId60"/>
          <a:stretch>
            <a:fillRect/>
          </a:stretch>
        </p:blipFill>
        <p:spPr>
          <a:xfrm>
            <a:off x="0" y="127000"/>
            <a:ext cx="23749000" cy="16548100"/>
          </a:xfrm>
          <a:prstGeom prst="rect">
            <a:avLst/>
          </a:prstGeom>
        </p:spPr>
      </p:pic>
      <p:sp>
        <p:nvSpPr>
          <p:cNvPr name="TextBox 60" id="61"/>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7.2 You should be aware the data, content, and resources presented to you through</a:t>
            </a:r>
          </a:p>
          <a:p>
            <a:r>
              <a:rPr lang="en-US" sz="3700">
                <a:solidFill>
                  <a:srgbClr val="252525"/>
                </a:solidFill>
              </a:rPr>
              <a:t>such a third party application may be protected by intellectual property rights</a:t>
            </a:r>
          </a:p>
          <a:p>
            <a:r>
              <a:rPr lang="en-US" sz="3700">
                <a:solidFill>
                  <a:srgbClr val="252525"/>
                </a:solidFill>
              </a:rPr>
              <a:t>which are owned by the providers (or by other persons or companies on their</a:t>
            </a:r>
          </a:p>
          <a:p>
            <a:r>
              <a:rPr lang="en-US" sz="3700">
                <a:solidFill>
                  <a:srgbClr val="252525"/>
                </a:solidFill>
              </a:rPr>
              <a:t>behalf). You may not modify, rent, lease, loan, sell, distribute or create</a:t>
            </a:r>
          </a:p>
          <a:p>
            <a:r>
              <a:rPr lang="en-US" sz="3700">
                <a:solidFill>
                  <a:srgbClr val="252525"/>
                </a:solidFill>
              </a:rPr>
              <a:t>derivative works based on these data, content, or resources (either in whole or</a:t>
            </a:r>
          </a:p>
          <a:p>
            <a:r>
              <a:rPr lang="en-US" sz="3700">
                <a:solidFill>
                  <a:srgbClr val="252525"/>
                </a:solidFill>
              </a:rPr>
              <a:t>in part) unless you have been specifically given permission to do so by the</a:t>
            </a:r>
          </a:p>
          <a:p>
            <a:r>
              <a:rPr lang="en-US" sz="3700">
                <a:solidFill>
                  <a:srgbClr val="252525"/>
                </a:solidFill>
              </a:rPr>
              <a:t>relevant owners.</a:t>
            </a:r>
          </a:p>
          <a:p>
            <a:r>
              <a:rPr lang="en-US" sz="5000"/>
              <a:t>  </a:t>
            </a:r>
          </a:p>
          <a:p>
            <a:r>
              <a:rPr lang="en-US" sz="3700">
                <a:solidFill>
                  <a:srgbClr val="252525"/>
                </a:solidFill>
              </a:rPr>
              <a:t>7.3 You acknowledge that your use of such third party applications, data,</a:t>
            </a:r>
          </a:p>
          <a:p>
            <a:r>
              <a:rPr lang="en-US" sz="3700">
                <a:solidFill>
                  <a:srgbClr val="252525"/>
                </a:solidFill>
              </a:rPr>
              <a:t>content, or resources may be subject to separate terms between you and the</a:t>
            </a:r>
          </a:p>
          <a:p>
            <a:r>
              <a:rPr lang="en-US" sz="3700">
                <a:solidFill>
                  <a:srgbClr val="252525"/>
                </a:solidFill>
              </a:rPr>
              <a:t>relevant third party. In that case, the License Agreement does not affect your</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2" id="62"/>
          <p:cNvPicPr>
            <a:picLocks noChangeAspect="true"/>
          </p:cNvPicPr>
          <p:nvPr/>
        </p:nvPicPr>
        <p:blipFill>
          <a:blip r:embed="rId62"/>
          <a:stretch>
            <a:fillRect/>
          </a:stretch>
        </p:blipFill>
        <p:spPr>
          <a:xfrm>
            <a:off x="0" y="127000"/>
            <a:ext cx="23749000" cy="16548100"/>
          </a:xfrm>
          <a:prstGeom prst="rect">
            <a:avLst/>
          </a:prstGeom>
        </p:spPr>
      </p:pic>
      <p:sp>
        <p:nvSpPr>
          <p:cNvPr name="TextBox 62" id="6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legal relationship with these third parties.</a:t>
            </a:r>
          </a:p>
          <a:p>
            <a:r>
              <a:rPr lang="en-US" sz="5000"/>
              <a:t>  </a:t>
            </a:r>
          </a:p>
          <a:p>
            <a:r>
              <a:rPr lang="en-US" sz="5000"/>
              <a:t>  </a:t>
            </a:r>
          </a:p>
          <a:p>
            <a:r>
              <a:rPr lang="en-US" sz="3700">
                <a:solidFill>
                  <a:srgbClr val="252525"/>
                </a:solidFill>
              </a:rPr>
              <a:t>8. Using Android APIs</a:t>
            </a:r>
          </a:p>
          <a:p>
            <a:r>
              <a:rPr lang="en-US" sz="5000"/>
              <a:t>  </a:t>
            </a:r>
          </a:p>
          <a:p>
            <a:r>
              <a:rPr lang="en-US" sz="3700">
                <a:solidFill>
                  <a:srgbClr val="252525"/>
                </a:solidFill>
              </a:rPr>
              <a:t>8.1 Google Data APIs</a:t>
            </a:r>
          </a:p>
          <a:p>
            <a:r>
              <a:rPr lang="en-US" sz="5000"/>
              <a:t>  </a:t>
            </a:r>
          </a:p>
          <a:p>
            <a:r>
              <a:rPr lang="en-US" sz="3700">
                <a:solidFill>
                  <a:srgbClr val="252525"/>
                </a:solidFill>
              </a:rPr>
              <a:t>8.1.1 If you use any API to retrieve data from Google, you acknowledge that the</a:t>
            </a:r>
          </a:p>
          <a:p>
            <a:r>
              <a:rPr lang="en-US" sz="3700">
                <a:solidFill>
                  <a:srgbClr val="252525"/>
                </a:solidFill>
              </a:rPr>
              <a:t>data may be protected by intellectual property rights which are owned by Google</a:t>
            </a:r>
          </a:p>
          <a:p>
            <a:r>
              <a:rPr lang="en-US" sz="3700">
                <a:solidFill>
                  <a:srgbClr val="252525"/>
                </a:solidFill>
              </a:rPr>
              <a:t>or those parties that provide the data (or by other persons or companies on their</a:t>
            </a:r>
          </a:p>
          <a:p>
            <a:r>
              <a:rPr lang="en-US" sz="3700">
                <a:solidFill>
                  <a:srgbClr val="252525"/>
                </a:solidFill>
              </a:rPr>
              <a:t>behalf). Your use of any such API may be subject to additional Terms of Service.</a:t>
            </a:r>
          </a:p>
          <a:p>
            <a:r>
              <a:rPr lang="en-US" sz="3700">
                <a:solidFill>
                  <a:srgbClr val="252525"/>
                </a:solidFill>
              </a:rPr>
              <a:t>You may not modify, rent, lease, loan, sell, distribute or create derivative</a:t>
            </a:r>
          </a:p>
          <a:p>
            <a:r>
              <a:rPr lang="en-US" sz="3700">
                <a:solidFill>
                  <a:srgbClr val="252525"/>
                </a:solidFill>
              </a:rPr>
              <a:t>works based on this data (either in whole or in part) unless allowed by the</a:t>
            </a:r>
          </a:p>
          <a:p>
            <a:r>
              <a:rPr lang="en-US" sz="3700">
                <a:solidFill>
                  <a:srgbClr val="252525"/>
                </a:solidFill>
              </a:rPr>
              <a:t>relevant Terms of Service.</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4" id="64"/>
          <p:cNvPicPr>
            <a:picLocks noChangeAspect="true"/>
          </p:cNvPicPr>
          <p:nvPr/>
        </p:nvPicPr>
        <p:blipFill>
          <a:blip r:embed="rId64"/>
          <a:stretch>
            <a:fillRect/>
          </a:stretch>
        </p:blipFill>
        <p:spPr>
          <a:xfrm>
            <a:off x="0" y="127000"/>
            <a:ext cx="23749000" cy="16548100"/>
          </a:xfrm>
          <a:prstGeom prst="rect">
            <a:avLst/>
          </a:prstGeom>
        </p:spPr>
      </p:pic>
      <p:sp>
        <p:nvSpPr>
          <p:cNvPr name="TextBox 64" id="6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8.1.2 If you use any API to retrieve a user's data from Google, you acknowledge</a:t>
            </a:r>
          </a:p>
          <a:p>
            <a:r>
              <a:rPr lang="en-US" sz="3700">
                <a:solidFill>
                  <a:srgbClr val="252525"/>
                </a:solidFill>
              </a:rPr>
              <a:t>and agree that you shall retrieve data only with the user's explicit consent and</a:t>
            </a:r>
          </a:p>
          <a:p>
            <a:r>
              <a:rPr lang="en-US" sz="3700">
                <a:solidFill>
                  <a:srgbClr val="252525"/>
                </a:solidFill>
              </a:rPr>
              <a:t>only when, and for the limited purposes for which, the user has given you</a:t>
            </a:r>
          </a:p>
          <a:p>
            <a:r>
              <a:rPr lang="en-US" sz="3700">
                <a:solidFill>
                  <a:srgbClr val="252525"/>
                </a:solidFill>
              </a:rPr>
              <a:t>permission to do so. If you use the Android Recognition Service API, documented</a:t>
            </a:r>
          </a:p>
          <a:p>
            <a:r>
              <a:rPr lang="en-US" sz="3700">
                <a:solidFill>
                  <a:srgbClr val="252525"/>
                </a:solidFill>
              </a:rPr>
              <a:t>at the following URL:</a:t>
            </a:r>
          </a:p>
          <a:p>
            <a:r>
              <a:rPr lang="en-US" sz="3700">
                <a:solidFill>
                  <a:srgbClr val="252525"/>
                </a:solidFill>
              </a:rPr>
              <a:t/>
            </a:r>
            <a:r>
              <a:rPr lang="en-US" sz="3700">
                <a:solidFill>
                  <a:srgbClr val="252525"/>
                </a:solidFill>
              </a:rPr>
              <a:t>, as</a:t>
            </a:r>
          </a:p>
          <a:p>
            <a:r>
              <a:rPr lang="en-US" sz="3700">
                <a:solidFill>
                  <a:srgbClr val="252525"/>
                </a:solidFill>
              </a:rPr>
              <a:t>updated from time to time, you acknowledge that the use of the API is subject to</a:t>
            </a:r>
          </a:p>
          <a:p>
            <a:r>
              <a:rPr lang="en-US" sz="3700">
                <a:solidFill>
                  <a:srgbClr val="252525"/>
                </a:solidFill>
              </a:rPr>
              <a:t>the Data Processing Addendum for Products where Google is a Data Processor, which</a:t>
            </a:r>
          </a:p>
          <a:p>
            <a:r>
              <a:rPr lang="en-US" sz="3700">
                <a:solidFill>
                  <a:srgbClr val="252525"/>
                </a:solidFill>
              </a:rPr>
              <a:t>is located at the following URL:</a:t>
            </a:r>
          </a:p>
        </p:txBody>
      </p:sp>
      <p:pic>
        <p:nvPicPr>
          <p:cNvPr name="Picture 66" id="66">
            <a:hlinkClick r:id="rId67"/>
          </p:cNvPr>
          <p:cNvPicPr>
            <a:picLocks noChangeAspect="true"/>
          </p:cNvPicPr>
          <p:nvPr/>
        </p:nvPicPr>
        <p:blipFill>
          <a:blip r:embed="rId66"/>
          <a:stretch>
            <a:fillRect/>
          </a:stretch>
        </p:blipFill>
        <p:spPr>
          <a:xfrm>
            <a:off x="6451600" y="1727200"/>
            <a:ext cx="10820400" cy="1714500"/>
          </a:xfrm>
          <a:prstGeom prst="rect">
            <a:avLst/>
          </a:prstGeom>
        </p:spPr>
      </p:pic>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8" id="68"/>
          <p:cNvPicPr>
            <a:picLocks noChangeAspect="true"/>
          </p:cNvPicPr>
          <p:nvPr/>
        </p:nvPicPr>
        <p:blipFill>
          <a:blip r:embed="rId68"/>
          <a:stretch>
            <a:fillRect/>
          </a:stretch>
        </p:blipFill>
        <p:spPr>
          <a:xfrm>
            <a:off x="0" y="127000"/>
            <a:ext cx="23749000" cy="16548100"/>
          </a:xfrm>
          <a:prstGeom prst="rect">
            <a:avLst/>
          </a:prstGeom>
        </p:spPr>
      </p:pic>
      <p:sp>
        <p:nvSpPr>
          <p:cNvPr name="TextBox 68" id="6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r>
              <a:rPr lang="en-US" sz="3700">
                <a:solidFill>
                  <a:srgbClr val="252525"/>
                </a:solidFill>
              </a:rPr>
              <a:t>, as updated from time</a:t>
            </a:r>
          </a:p>
          <a:p>
            <a:r>
              <a:rPr lang="en-US" sz="3700">
                <a:solidFill>
                  <a:srgbClr val="252525"/>
                </a:solidFill>
              </a:rPr>
              <a:t>to time. By clicking to accept, you hereby agree to the terms of the Data</a:t>
            </a:r>
          </a:p>
          <a:p>
            <a:r>
              <a:rPr lang="en-US" sz="3700">
                <a:solidFill>
                  <a:srgbClr val="252525"/>
                </a:solidFill>
              </a:rPr>
              <a:t>Processing Addendum for Products where Google is a Data Processor.</a:t>
            </a:r>
          </a:p>
          <a:p>
            <a:r>
              <a:rPr lang="en-US" sz="5000"/>
              <a:t>  </a:t>
            </a:r>
          </a:p>
          <a:p>
            <a:r>
              <a:rPr lang="en-US" sz="5000"/>
              <a:t>  </a:t>
            </a:r>
          </a:p>
          <a:p>
            <a:r>
              <a:rPr lang="en-US" sz="3700">
                <a:solidFill>
                  <a:srgbClr val="252525"/>
                </a:solidFill>
              </a:rPr>
              <a:t>9. Terminating this License Agreement</a:t>
            </a:r>
          </a:p>
          <a:p>
            <a:r>
              <a:rPr lang="en-US" sz="5000"/>
              <a:t>  </a:t>
            </a:r>
          </a:p>
          <a:p>
            <a:r>
              <a:rPr lang="en-US" sz="3700">
                <a:solidFill>
                  <a:srgbClr val="252525"/>
                </a:solidFill>
              </a:rPr>
              <a:t>9.1 The License Agreement will continue to apply until terminated by either you</a:t>
            </a:r>
          </a:p>
          <a:p>
            <a:r>
              <a:rPr lang="en-US" sz="3700">
                <a:solidFill>
                  <a:srgbClr val="252525"/>
                </a:solidFill>
              </a:rPr>
              <a:t>or Google as set out below.</a:t>
            </a:r>
          </a:p>
          <a:p>
            <a:r>
              <a:rPr lang="en-US" sz="5000"/>
              <a:t>  </a:t>
            </a:r>
          </a:p>
          <a:p>
            <a:r>
              <a:rPr lang="en-US" sz="3700">
                <a:solidFill>
                  <a:srgbClr val="252525"/>
                </a:solidFill>
              </a:rPr>
              <a:t>9.2 If you want to terminate the License Agreement, you may do so by ceasing your</a:t>
            </a:r>
          </a:p>
          <a:p>
            <a:r>
              <a:rPr lang="en-US" sz="3700">
                <a:solidFill>
                  <a:srgbClr val="252525"/>
                </a:solidFill>
              </a:rPr>
              <a:t>use of the SDK and any relevant developer credentials.</a:t>
            </a:r>
          </a:p>
        </p:txBody>
      </p:sp>
      <p:pic>
        <p:nvPicPr>
          <p:cNvPr name="Picture 70" id="70">
            <a:hlinkClick r:id="rId71"/>
          </p:cNvPr>
          <p:cNvPicPr>
            <a:picLocks noChangeAspect="true"/>
          </p:cNvPicPr>
          <p:nvPr/>
        </p:nvPicPr>
        <p:blipFill>
          <a:blip r:embed="rId70"/>
          <a:stretch>
            <a:fillRect/>
          </a:stretch>
        </p:blipFill>
        <p:spPr>
          <a:xfrm>
            <a:off x="6451600" y="9702800"/>
            <a:ext cx="10820400" cy="1714500"/>
          </a:xfrm>
          <a:prstGeom prst="rect">
            <a:avLst/>
          </a:prstGeom>
        </p:spPr>
      </p:pic>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2" id="72"/>
          <p:cNvPicPr>
            <a:picLocks noChangeAspect="true"/>
          </p:cNvPicPr>
          <p:nvPr/>
        </p:nvPicPr>
        <p:blipFill>
          <a:blip r:embed="rId72"/>
          <a:stretch>
            <a:fillRect/>
          </a:stretch>
        </p:blipFill>
        <p:spPr>
          <a:xfrm>
            <a:off x="0" y="127000"/>
            <a:ext cx="23749000" cy="16548100"/>
          </a:xfrm>
          <a:prstGeom prst="rect">
            <a:avLst/>
          </a:prstGeom>
        </p:spPr>
      </p:pic>
      <p:sp>
        <p:nvSpPr>
          <p:cNvPr name="TextBox 72" id="7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9.3 Google may at any time, terminate the License Agreement with you if:</a:t>
            </a:r>
          </a:p>
          <a:p>
            <a:r>
              <a:rPr lang="en-US" sz="3700">
                <a:solidFill>
                  <a:srgbClr val="252525"/>
                </a:solidFill>
              </a:rPr>
              <a:t>(A) you have breached any provision of the License Agreement; or</a:t>
            </a:r>
          </a:p>
          <a:p>
            <a:r>
              <a:rPr lang="en-US" sz="3700">
                <a:solidFill>
                  <a:srgbClr val="252525"/>
                </a:solidFill>
              </a:rPr>
              <a:t>(B) Google is required to do so by law; or</a:t>
            </a:r>
          </a:p>
          <a:p>
            <a:r>
              <a:rPr lang="en-US" sz="3700">
                <a:solidFill>
                  <a:srgbClr val="252525"/>
                </a:solidFill>
              </a:rPr>
              <a:t>(C) the partner with whom Google offered certain parts of SDK (such as APIs) to</a:t>
            </a:r>
          </a:p>
          <a:p>
            <a:r>
              <a:rPr lang="en-US" sz="3700">
                <a:solidFill>
                  <a:srgbClr val="252525"/>
                </a:solidFill>
              </a:rPr>
              <a:t>you has terminated its relationship with Google or ceased to offer certain parts</a:t>
            </a:r>
          </a:p>
          <a:p>
            <a:r>
              <a:rPr lang="en-US" sz="3700">
                <a:solidFill>
                  <a:srgbClr val="252525"/>
                </a:solidFill>
              </a:rPr>
              <a:t>of the SDK to you; or</a:t>
            </a:r>
          </a:p>
          <a:p>
            <a:r>
              <a:rPr lang="en-US" sz="3700">
                <a:solidFill>
                  <a:srgbClr val="252525"/>
                </a:solidFill>
              </a:rPr>
              <a:t>(D) Google decides to no longer provide the SDK or certain parts of the SDK to</a:t>
            </a:r>
          </a:p>
          <a:p>
            <a:r>
              <a:rPr lang="en-US" sz="3700">
                <a:solidFill>
                  <a:srgbClr val="252525"/>
                </a:solidFill>
              </a:rPr>
              <a:t>users in the country in which you are resident or from which you use the service,</a:t>
            </a:r>
          </a:p>
          <a:p>
            <a:r>
              <a:rPr lang="en-US" sz="3700">
                <a:solidFill>
                  <a:srgbClr val="252525"/>
                </a:solidFill>
              </a:rPr>
              <a:t>or the provision of the SDK or certain SDK services to you by Google is, in</a:t>
            </a:r>
          </a:p>
          <a:p>
            <a:r>
              <a:rPr lang="en-US" sz="3700">
                <a:solidFill>
                  <a:srgbClr val="252525"/>
                </a:solidFill>
              </a:rPr>
              <a:t>Google's sole discretion, no longer commercially viable.</a:t>
            </a:r>
          </a:p>
          <a:p>
            <a:r>
              <a:rPr lang="en-US" sz="5000"/>
              <a:t>  </a:t>
            </a:r>
          </a:p>
          <a:p>
            <a:r>
              <a:rPr lang="en-US" sz="3700">
                <a:solidFill>
                  <a:srgbClr val="252525"/>
                </a:solidFill>
              </a:rPr>
              <a:t>9.4 When the License Agreement comes to an end, all of the legal rights,</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4" id="74"/>
          <p:cNvPicPr>
            <a:picLocks noChangeAspect="true"/>
          </p:cNvPicPr>
          <p:nvPr/>
        </p:nvPicPr>
        <p:blipFill>
          <a:blip r:embed="rId74"/>
          <a:stretch>
            <a:fillRect/>
          </a:stretch>
        </p:blipFill>
        <p:spPr>
          <a:xfrm>
            <a:off x="0" y="127000"/>
            <a:ext cx="23749000" cy="16548100"/>
          </a:xfrm>
          <a:prstGeom prst="rect">
            <a:avLst/>
          </a:prstGeom>
        </p:spPr>
      </p:pic>
      <p:sp>
        <p:nvSpPr>
          <p:cNvPr name="TextBox 74" id="7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obligations and liabilities that you and Google have benefited from, been subject</a:t>
            </a:r>
          </a:p>
          <a:p>
            <a:r>
              <a:rPr lang="en-US" sz="3700">
                <a:solidFill>
                  <a:srgbClr val="252525"/>
                </a:solidFill>
              </a:rPr>
              <a:t>to (or which have accrued over time whilst the License Agreement has been in</a:t>
            </a:r>
          </a:p>
          <a:p>
            <a:r>
              <a:rPr lang="en-US" sz="3700">
                <a:solidFill>
                  <a:srgbClr val="252525"/>
                </a:solidFill>
              </a:rPr>
              <a:t>force) or which are expressed to continue indefinitely, shall be unaffected by</a:t>
            </a:r>
          </a:p>
          <a:p>
            <a:r>
              <a:rPr lang="en-US" sz="3700">
                <a:solidFill>
                  <a:srgbClr val="252525"/>
                </a:solidFill>
              </a:rPr>
              <a:t>this cessation, and the provisions of paragraph 14.7 shall continue to apply to</a:t>
            </a:r>
          </a:p>
          <a:p>
            <a:r>
              <a:rPr lang="en-US" sz="3700">
                <a:solidFill>
                  <a:srgbClr val="252525"/>
                </a:solidFill>
              </a:rPr>
              <a:t>such rights, obligations and liabilities indefinitely.</a:t>
            </a:r>
          </a:p>
          <a:p>
            <a:r>
              <a:rPr lang="en-US" sz="5000"/>
              <a:t>  </a:t>
            </a:r>
          </a:p>
          <a:p>
            <a:r>
              <a:rPr lang="en-US" sz="5000"/>
              <a:t>  </a:t>
            </a:r>
          </a:p>
          <a:p>
            <a:r>
              <a:rPr lang="en-US" sz="3700">
                <a:solidFill>
                  <a:srgbClr val="252525"/>
                </a:solidFill>
              </a:rPr>
              <a:t>10. DISCLAIMER OF WARRANTIES</a:t>
            </a:r>
          </a:p>
          <a:p>
            <a:r>
              <a:rPr lang="en-US" sz="5000"/>
              <a:t>  </a:t>
            </a:r>
          </a:p>
          <a:p>
            <a:r>
              <a:rPr lang="en-US" sz="3700">
                <a:solidFill>
                  <a:srgbClr val="252525"/>
                </a:solidFill>
              </a:rPr>
              <a:t>10.1 YOU EXPRESSLY UNDERSTAND AND AGREE THAT YOUR USE OF THE SDK IS AT YOUR SOLE</a:t>
            </a:r>
          </a:p>
          <a:p>
            <a:r>
              <a:rPr lang="en-US" sz="3700">
                <a:solidFill>
                  <a:srgbClr val="252525"/>
                </a:solidFill>
              </a:rPr>
              <a:t>RISK AND THAT THE SDK IS PROVIDED "AS IS" AND "AS AVAILABLE" WITHOUT WARRANTY OF</a:t>
            </a:r>
          </a:p>
          <a:p>
            <a:r>
              <a:rPr lang="en-US" sz="3700">
                <a:solidFill>
                  <a:srgbClr val="252525"/>
                </a:solidFill>
              </a:rPr>
              <a:t>ANY KIND FROM GOOGLE.</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6" id="76"/>
          <p:cNvPicPr>
            <a:picLocks noChangeAspect="true"/>
          </p:cNvPicPr>
          <p:nvPr/>
        </p:nvPicPr>
        <p:blipFill>
          <a:blip r:embed="rId76"/>
          <a:stretch>
            <a:fillRect/>
          </a:stretch>
        </p:blipFill>
        <p:spPr>
          <a:xfrm>
            <a:off x="0" y="127000"/>
            <a:ext cx="23749000" cy="16548100"/>
          </a:xfrm>
          <a:prstGeom prst="rect">
            <a:avLst/>
          </a:prstGeom>
        </p:spPr>
      </p:pic>
      <p:sp>
        <p:nvSpPr>
          <p:cNvPr name="TextBox 76" id="77"/>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10.2 YOUR USE OF THE SDK AND ANY MATERIAL DOWNLOADED OR OTHERWISE OBTAINED</a:t>
            </a:r>
          </a:p>
          <a:p>
            <a:r>
              <a:rPr lang="en-US" sz="3700">
                <a:solidFill>
                  <a:srgbClr val="252525"/>
                </a:solidFill>
              </a:rPr>
              <a:t>THROUGH THE USE OF THE SDK IS AT YOUR OWN DISCRETION AND RISK AND YOU ARE SOLELY</a:t>
            </a:r>
          </a:p>
          <a:p>
            <a:r>
              <a:rPr lang="en-US" sz="3700">
                <a:solidFill>
                  <a:srgbClr val="252525"/>
                </a:solidFill>
              </a:rPr>
              <a:t>RESPONSIBLE FOR ANY DAMAGE TO YOUR COMPUTER SYSTEM OR OTHER DEVICE OR LOSS OF</a:t>
            </a:r>
          </a:p>
          <a:p>
            <a:r>
              <a:rPr lang="en-US" sz="3700">
                <a:solidFill>
                  <a:srgbClr val="252525"/>
                </a:solidFill>
              </a:rPr>
              <a:t>DATA THAT RESULTS FROM SUCH USE.</a:t>
            </a:r>
          </a:p>
          <a:p>
            <a:r>
              <a:rPr lang="en-US" sz="5000"/>
              <a:t>  </a:t>
            </a:r>
          </a:p>
          <a:p>
            <a:r>
              <a:rPr lang="en-US" sz="3700">
                <a:solidFill>
                  <a:srgbClr val="252525"/>
                </a:solidFill>
              </a:rPr>
              <a:t>10.3 GOOGLE FURTHER EXPRESSLY DISCLAIMS ALL WARRANTIES AND CONDITIONS OF ANY</a:t>
            </a:r>
          </a:p>
          <a:p>
            <a:r>
              <a:rPr lang="en-US" sz="3700">
                <a:solidFill>
                  <a:srgbClr val="252525"/>
                </a:solidFill>
              </a:rPr>
              <a:t>KIND, WHETHER EXPRESS OR IMPLIED, INCLUDING, BUT NOT LIMITED TO THE IMPLIED</a:t>
            </a:r>
          </a:p>
          <a:p>
            <a:r>
              <a:rPr lang="en-US" sz="3700">
                <a:solidFill>
                  <a:srgbClr val="252525"/>
                </a:solidFill>
              </a:rPr>
              <a:t>WARRANTIES AND CONDITIONS OF MERCHANTABILITY, FITNESS FOR A PARTICULAR PURPOSE</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8" id="78"/>
          <p:cNvPicPr>
            <a:picLocks noChangeAspect="true"/>
          </p:cNvPicPr>
          <p:nvPr/>
        </p:nvPicPr>
        <p:blipFill>
          <a:blip r:embed="rId78"/>
          <a:stretch>
            <a:fillRect/>
          </a:stretch>
        </p:blipFill>
        <p:spPr>
          <a:xfrm>
            <a:off x="0" y="127000"/>
            <a:ext cx="23749000" cy="16548100"/>
          </a:xfrm>
          <a:prstGeom prst="rect">
            <a:avLst/>
          </a:prstGeom>
        </p:spPr>
      </p:pic>
      <p:sp>
        <p:nvSpPr>
          <p:cNvPr name="TextBox 78" id="7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AND NON-INFRINGEMENT.</a:t>
            </a:r>
          </a:p>
          <a:p>
            <a:r>
              <a:rPr lang="en-US" sz="5000"/>
              <a:t>  </a:t>
            </a:r>
          </a:p>
          <a:p>
            <a:r>
              <a:rPr lang="en-US" sz="5000"/>
              <a:t>  </a:t>
            </a:r>
          </a:p>
          <a:p>
            <a:r>
              <a:rPr lang="en-US" sz="3700">
                <a:solidFill>
                  <a:srgbClr val="252525"/>
                </a:solidFill>
              </a:rPr>
              <a:t>11. LIMITATION OF LIABILITY</a:t>
            </a:r>
          </a:p>
          <a:p>
            <a:r>
              <a:rPr lang="en-US" sz="5000"/>
              <a:t>  </a:t>
            </a:r>
          </a:p>
          <a:p>
            <a:r>
              <a:rPr lang="en-US" sz="3700">
                <a:solidFill>
                  <a:srgbClr val="252525"/>
                </a:solidFill>
              </a:rPr>
              <a:t>11.1 YOU EXPRESSLY UNDERSTAND AND AGREE THAT GOOGLE, ITS SUBSIDIARIES AND</a:t>
            </a:r>
          </a:p>
          <a:p>
            <a:r>
              <a:rPr lang="en-US" sz="3700">
                <a:solidFill>
                  <a:srgbClr val="252525"/>
                </a:solidFill>
              </a:rPr>
              <a:t>AFFILIATES, AND ITS LICENSORS SHALL NOT BE LIABLE TO YOU UNDER ANY THEORY OF</a:t>
            </a:r>
          </a:p>
          <a:p>
            <a:r>
              <a:rPr lang="en-US" sz="3700">
                <a:solidFill>
                  <a:srgbClr val="252525"/>
                </a:solidFill>
              </a:rPr>
              <a:t>LIABILITY FOR ANY DIRECT, INDIRECT, INCIDENTAL, SPECIAL, CONSEQUENTIAL OR</a:t>
            </a:r>
          </a:p>
          <a:p>
            <a:r>
              <a:rPr lang="en-US" sz="3700">
                <a:solidFill>
                  <a:srgbClr val="252525"/>
                </a:solidFill>
              </a:rPr>
              <a:t>EXEMPLARY DAMAGES THAT MAY BE INCURRED BY YOU, INCLUDING ANY LOSS OF DATA,</a:t>
            </a:r>
          </a:p>
          <a:p>
            <a:r>
              <a:rPr lang="en-US" sz="3700">
                <a:solidFill>
                  <a:srgbClr val="252525"/>
                </a:solidFill>
              </a:rPr>
              <a:t>WHETHER OR NOT GOOGLE OR ITS REPRESENTATIVES HAVE BEEN ADVISED OF OR SHOULD HAVE</a:t>
            </a:r>
          </a:p>
          <a:p>
            <a:r>
              <a:rPr lang="en-US" sz="3700">
                <a:solidFill>
                  <a:srgbClr val="252525"/>
                </a:solidFill>
              </a:rPr>
              <a:t>BEEN AWARE OF THE POSSIBILITY OF </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0" id="80"/>
          <p:cNvPicPr>
            <a:picLocks noChangeAspect="true"/>
          </p:cNvPicPr>
          <p:nvPr/>
        </p:nvPicPr>
        <p:blipFill>
          <a:blip r:embed="rId80"/>
          <a:stretch>
            <a:fillRect/>
          </a:stretch>
        </p:blipFill>
        <p:spPr>
          <a:xfrm>
            <a:off x="0" y="127000"/>
            <a:ext cx="23749000" cy="16548100"/>
          </a:xfrm>
          <a:prstGeom prst="rect">
            <a:avLst/>
          </a:prstGeom>
        </p:spPr>
      </p:pic>
      <p:sp>
        <p:nvSpPr>
          <p:cNvPr name="TextBox 80" id="8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ANY SUCH LOSSES ARISING.</a:t>
            </a:r>
          </a:p>
          <a:p>
            <a:r>
              <a:rPr lang="en-US" sz="5000"/>
              <a:t>  </a:t>
            </a:r>
          </a:p>
          <a:p>
            <a:r>
              <a:rPr lang="en-US" sz="5000"/>
              <a:t>  </a:t>
            </a:r>
          </a:p>
          <a:p>
            <a:r>
              <a:rPr lang="en-US" sz="3700">
                <a:solidFill>
                  <a:srgbClr val="252525"/>
                </a:solidFill>
              </a:rPr>
              <a:t>12. Indemnification</a:t>
            </a:r>
          </a:p>
          <a:p>
            <a:r>
              <a:rPr lang="en-US" sz="5000"/>
              <a:t>  </a:t>
            </a:r>
          </a:p>
          <a:p>
            <a:r>
              <a:rPr lang="en-US" sz="3700">
                <a:solidFill>
                  <a:srgbClr val="252525"/>
                </a:solidFill>
              </a:rPr>
              <a:t>12.1 To the maximum extent permitted by law, you agree to defend, indemnify and</a:t>
            </a:r>
          </a:p>
          <a:p>
            <a:r>
              <a:rPr lang="en-US" sz="3700">
                <a:solidFill>
                  <a:srgbClr val="252525"/>
                </a:solidFill>
              </a:rPr>
              <a:t>hold harmless Google, its affiliates and their respective directors, officers,</a:t>
            </a:r>
          </a:p>
          <a:p>
            <a:r>
              <a:rPr lang="en-US" sz="3700">
                <a:solidFill>
                  <a:srgbClr val="252525"/>
                </a:solidFill>
              </a:rPr>
              <a:t>employees and agents from and against any and all claims, actions, suits or</a:t>
            </a:r>
          </a:p>
          <a:p>
            <a:r>
              <a:rPr lang="en-US" sz="3700">
                <a:solidFill>
                  <a:srgbClr val="252525"/>
                </a:solidFill>
              </a:rPr>
              <a:t>proceedings, as well as any and all losses, liabilities, damages, costs and</a:t>
            </a:r>
          </a:p>
          <a:p>
            <a:r>
              <a:rPr lang="en-US" sz="3700">
                <a:solidFill>
                  <a:srgbClr val="252525"/>
                </a:solidFill>
              </a:rPr>
              <a:t>expenses (including reasonable attorneys fees) arising out of or accruing from</a:t>
            </a:r>
          </a:p>
          <a:p>
            <a:r>
              <a:rPr lang="en-US" sz="3700">
                <a:solidFill>
                  <a:srgbClr val="252525"/>
                </a:solidFill>
              </a:rPr>
              <a:t>(a) your use of the SDK, (b) any application you develop on the SDK that</a:t>
            </a:r>
          </a:p>
          <a:p>
            <a:r>
              <a:rPr lang="en-US" sz="3700">
                <a:solidFill>
                  <a:srgbClr val="252525"/>
                </a:solidFill>
              </a:rPr>
              <a:t>infringes any copyright, trademark, trade secret, trade dress, patent or other</a:t>
            </a:r>
          </a:p>
          <a:p>
            <a:r>
              <a:rPr lang="en-US" sz="3700">
                <a:solidFill>
                  <a:srgbClr val="252525"/>
                </a:solidFill>
              </a:rPr>
              <a:t>intellectual property right of any person or defames any person or violates their</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2" id="82"/>
          <p:cNvPicPr>
            <a:picLocks noChangeAspect="true"/>
          </p:cNvPicPr>
          <p:nvPr/>
        </p:nvPicPr>
        <p:blipFill>
          <a:blip r:embed="rId82"/>
          <a:stretch>
            <a:fillRect/>
          </a:stretch>
        </p:blipFill>
        <p:spPr>
          <a:xfrm>
            <a:off x="0" y="127000"/>
            <a:ext cx="23749000" cy="16548100"/>
          </a:xfrm>
          <a:prstGeom prst="rect">
            <a:avLst/>
          </a:prstGeom>
        </p:spPr>
      </p:pic>
      <p:sp>
        <p:nvSpPr>
          <p:cNvPr name="TextBox 82" id="8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rights of publicity or privacy, and (c) any non-compliance by you with the</a:t>
            </a:r>
          </a:p>
          <a:p>
            <a:r>
              <a:rPr lang="en-US" sz="3700">
                <a:solidFill>
                  <a:srgbClr val="252525"/>
                </a:solidFill>
              </a:rPr>
              <a:t>License Agreement.</a:t>
            </a:r>
          </a:p>
          <a:p>
            <a:r>
              <a:rPr lang="en-US" sz="5000"/>
              <a:t>  </a:t>
            </a:r>
          </a:p>
          <a:p>
            <a:r>
              <a:rPr lang="en-US" sz="5000"/>
              <a:t>  </a:t>
            </a:r>
          </a:p>
          <a:p>
            <a:r>
              <a:rPr lang="en-US" sz="3700">
                <a:solidFill>
                  <a:srgbClr val="252525"/>
                </a:solidFill>
              </a:rPr>
              <a:t>13. Changes to the License Agreement</a:t>
            </a:r>
          </a:p>
          <a:p>
            <a:r>
              <a:rPr lang="en-US" sz="5000"/>
              <a:t>  </a:t>
            </a:r>
          </a:p>
          <a:p>
            <a:r>
              <a:rPr lang="en-US" sz="3700">
                <a:solidFill>
                  <a:srgbClr val="252525"/>
                </a:solidFill>
              </a:rPr>
              <a:t>13.1 Google may make changes to the License Agreement as it distributes new</a:t>
            </a:r>
          </a:p>
          <a:p>
            <a:r>
              <a:rPr lang="en-US" sz="3700">
                <a:solidFill>
                  <a:srgbClr val="252525"/>
                </a:solidFill>
              </a:rPr>
              <a:t>versions of the SDK. When these changes are made, Google will make a new version</a:t>
            </a:r>
          </a:p>
          <a:p>
            <a:r>
              <a:rPr lang="en-US" sz="3700">
                <a:solidFill>
                  <a:srgbClr val="252525"/>
                </a:solidFill>
              </a:rPr>
              <a:t>of the License Agreement available on the website where the SDK is made</a:t>
            </a:r>
          </a:p>
          <a:p>
            <a:r>
              <a:rPr lang="en-US" sz="3700">
                <a:solidFill>
                  <a:srgbClr val="252525"/>
                </a:solidFill>
              </a:rPr>
              <a:t>available.</a:t>
            </a:r>
          </a:p>
          <a:p>
            <a:r>
              <a:rPr lang="en-US" sz="5000"/>
              <a:t>  </a:t>
            </a:r>
          </a:p>
          <a:p>
            <a:r>
              <a:rPr lang="en-US" sz="5000"/>
              <a:t>  </a:t>
            </a:r>
          </a:p>
          <a:p>
            <a:r>
              <a:rPr lang="en-US" sz="3700">
                <a:solidFill>
                  <a:srgbClr val="252525"/>
                </a:solidFill>
              </a:rPr>
              <a:t>14. General Legal Terms</a:t>
            </a:r>
          </a:p>
          <a:p>
            <a:r>
              <a:rPr lang="en-US" sz="5000"/>
              <a:t>  </a:t>
            </a:r>
          </a:p>
          <a:p>
            <a:r>
              <a:rPr lang="en-US" sz="3700">
                <a:solidFill>
                  <a:srgbClr val="252525"/>
                </a:solidFill>
              </a:rPr>
              <a:t>14.1 The License Agreement constitutes the whole legal agreement between you and</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4" id="84"/>
          <p:cNvPicPr>
            <a:picLocks noChangeAspect="true"/>
          </p:cNvPicPr>
          <p:nvPr/>
        </p:nvPicPr>
        <p:blipFill>
          <a:blip r:embed="rId84"/>
          <a:stretch>
            <a:fillRect/>
          </a:stretch>
        </p:blipFill>
        <p:spPr>
          <a:xfrm>
            <a:off x="0" y="127000"/>
            <a:ext cx="23749000" cy="16548100"/>
          </a:xfrm>
          <a:prstGeom prst="rect">
            <a:avLst/>
          </a:prstGeom>
        </p:spPr>
      </p:pic>
      <p:sp>
        <p:nvSpPr>
          <p:cNvPr name="TextBox 84" id="8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Google and governs your use of the SDK (excluding any services which Google may</a:t>
            </a:r>
          </a:p>
          <a:p>
            <a:r>
              <a:rPr lang="en-US" sz="3700">
                <a:solidFill>
                  <a:srgbClr val="252525"/>
                </a:solidFill>
              </a:rPr>
              <a:t>provide to you under a separate written agreement), and completely replaces any</a:t>
            </a:r>
          </a:p>
          <a:p>
            <a:r>
              <a:rPr lang="en-US" sz="3700">
                <a:solidFill>
                  <a:srgbClr val="252525"/>
                </a:solidFill>
              </a:rPr>
              <a:t>prior agreements between you and Google in relation to the SDK.</a:t>
            </a:r>
          </a:p>
          <a:p>
            <a:r>
              <a:rPr lang="en-US" sz="5000"/>
              <a:t>  </a:t>
            </a:r>
          </a:p>
          <a:p>
            <a:r>
              <a:rPr lang="en-US" sz="3700">
                <a:solidFill>
                  <a:srgbClr val="252525"/>
                </a:solidFill>
              </a:rPr>
              <a:t>14.2 You agree that if Google does not exercise or enforce any legal right or</a:t>
            </a:r>
          </a:p>
          <a:p>
            <a:r>
              <a:rPr lang="en-US" sz="3700">
                <a:solidFill>
                  <a:srgbClr val="252525"/>
                </a:solidFill>
              </a:rPr>
              <a:t>remedy which is contained in the License Agreement (or which Google has the</a:t>
            </a:r>
          </a:p>
          <a:p>
            <a:r>
              <a:rPr lang="en-US" sz="3700">
                <a:solidFill>
                  <a:srgbClr val="252525"/>
                </a:solidFill>
              </a:rPr>
              <a:t>benefit of under any applicable law), this will not be taken to be a formal</a:t>
            </a:r>
          </a:p>
          <a:p>
            <a:r>
              <a:rPr lang="en-US" sz="3700">
                <a:solidFill>
                  <a:srgbClr val="252525"/>
                </a:solidFill>
              </a:rPr>
              <a:t>waiver of Google's rights and that those rights or remedies will still be</a:t>
            </a:r>
          </a:p>
          <a:p>
            <a:r>
              <a:rPr lang="en-US" sz="3700">
                <a:solidFill>
                  <a:srgbClr val="252525"/>
                </a:solidFill>
              </a:rPr>
              <a:t>available to Google.</a:t>
            </a:r>
          </a:p>
          <a:p>
            <a:r>
              <a:rPr lang="en-US" sz="5000"/>
              <a:t>  </a:t>
            </a:r>
          </a:p>
          <a:p>
            <a:r>
              <a:rPr lang="en-US" sz="3700">
                <a:solidFill>
                  <a:srgbClr val="252525"/>
                </a:solidFill>
              </a:rPr>
              <a:t>14.3 If any court of law, having the jurisdiction to decide on this matter, rules</a:t>
            </a:r>
          </a:p>
          <a:p>
            <a:r>
              <a:rPr lang="en-US" sz="3700">
                <a:solidFill>
                  <a:srgbClr val="252525"/>
                </a:solidFill>
              </a:rPr>
              <a:t>that any provision of the License Agreement is invalid, then that provision </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6" id="86"/>
          <p:cNvPicPr>
            <a:picLocks noChangeAspect="true"/>
          </p:cNvPicPr>
          <p:nvPr/>
        </p:nvPicPr>
        <p:blipFill>
          <a:blip r:embed="rId86"/>
          <a:stretch>
            <a:fillRect/>
          </a:stretch>
        </p:blipFill>
        <p:spPr>
          <a:xfrm>
            <a:off x="0" y="127000"/>
            <a:ext cx="23749000" cy="16548100"/>
          </a:xfrm>
          <a:prstGeom prst="rect">
            <a:avLst/>
          </a:prstGeom>
        </p:spPr>
      </p:pic>
      <p:sp>
        <p:nvSpPr>
          <p:cNvPr name="TextBox 86" id="8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will</a:t>
            </a:r>
          </a:p>
          <a:p>
            <a:r>
              <a:rPr lang="en-US" sz="3700">
                <a:solidFill>
                  <a:srgbClr val="252525"/>
                </a:solidFill>
              </a:rPr>
              <a:t>be removed from the License Agreement without affecting the rest of the License</a:t>
            </a:r>
          </a:p>
          <a:p>
            <a:r>
              <a:rPr lang="en-US" sz="3700">
                <a:solidFill>
                  <a:srgbClr val="252525"/>
                </a:solidFill>
              </a:rPr>
              <a:t>Agreement. The remaining provisions of the License Agreement will continue to be</a:t>
            </a:r>
          </a:p>
          <a:p>
            <a:r>
              <a:rPr lang="en-US" sz="3700">
                <a:solidFill>
                  <a:srgbClr val="252525"/>
                </a:solidFill>
              </a:rPr>
              <a:t>valid and enforceable.</a:t>
            </a:r>
          </a:p>
          <a:p>
            <a:r>
              <a:rPr lang="en-US" sz="5000"/>
              <a:t>  </a:t>
            </a:r>
          </a:p>
          <a:p>
            <a:r>
              <a:rPr lang="en-US" sz="3700">
                <a:solidFill>
                  <a:srgbClr val="252525"/>
                </a:solidFill>
              </a:rPr>
              <a:t>14.4 You acknowledge and agree that each member of the group of companies of</a:t>
            </a:r>
          </a:p>
          <a:p>
            <a:r>
              <a:rPr lang="en-US" sz="3700">
                <a:solidFill>
                  <a:srgbClr val="252525"/>
                </a:solidFill>
              </a:rPr>
              <a:t>which Google is the parent shall be third party beneficiaries to the License</a:t>
            </a:r>
          </a:p>
          <a:p>
            <a:r>
              <a:rPr lang="en-US" sz="3700">
                <a:solidFill>
                  <a:srgbClr val="252525"/>
                </a:solidFill>
              </a:rPr>
              <a:t>Agreement and that such other companies shall be entitled to directly enforce,</a:t>
            </a:r>
          </a:p>
          <a:p>
            <a:r>
              <a:rPr lang="en-US" sz="3700">
                <a:solidFill>
                  <a:srgbClr val="252525"/>
                </a:solidFill>
              </a:rPr>
              <a:t>and rely upon, any provision of the License Agreement that confers a benefit on</a:t>
            </a:r>
          </a:p>
          <a:p>
            <a:r>
              <a:rPr lang="en-US" sz="3700">
                <a:solidFill>
                  <a:srgbClr val="252525"/>
                </a:solidFill>
              </a:rPr>
              <a:t>(or rights in favor of) them. Other than this, no other person or company shall</a:t>
            </a:r>
          </a:p>
          <a:p>
            <a:r>
              <a:rPr lang="en-US" sz="3700">
                <a:solidFill>
                  <a:srgbClr val="252525"/>
                </a:solidFill>
              </a:rPr>
              <a:t>be third party beneficiaries to the License Agreement.</a:t>
            </a:r>
          </a:p>
          <a:p>
            <a:r>
              <a:rPr lang="en-US" sz="5000"/>
              <a:t>  </a:t>
            </a:r>
          </a:p>
          <a:p>
            <a:r>
              <a:rPr lang="en-US" sz="3700">
                <a:solidFill>
                  <a:srgbClr val="252525"/>
                </a:solidFill>
              </a:rPr>
              <a:t>14.5 EXPORT RESTRICTIONS. THE SDK IS </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8" id="88"/>
          <p:cNvPicPr>
            <a:picLocks noChangeAspect="true"/>
          </p:cNvPicPr>
          <p:nvPr/>
        </p:nvPicPr>
        <p:blipFill>
          <a:blip r:embed="rId88"/>
          <a:stretch>
            <a:fillRect/>
          </a:stretch>
        </p:blipFill>
        <p:spPr>
          <a:xfrm>
            <a:off x="0" y="127000"/>
            <a:ext cx="23749000" cy="16548100"/>
          </a:xfrm>
          <a:prstGeom prst="rect">
            <a:avLst/>
          </a:prstGeom>
        </p:spPr>
      </p:pic>
      <p:sp>
        <p:nvSpPr>
          <p:cNvPr name="TextBox 88" id="8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SUBJECT TO UNITED STATES EXPORT LAWS AND</a:t>
            </a:r>
          </a:p>
          <a:p>
            <a:r>
              <a:rPr lang="en-US" sz="3700">
                <a:solidFill>
                  <a:srgbClr val="252525"/>
                </a:solidFill>
              </a:rPr>
              <a:t>REGULATIONS. YOU MUST COMPLY WITH ALL DOMESTIC AND INTERNATIONAL EXPORT LAWS AND</a:t>
            </a:r>
          </a:p>
          <a:p>
            <a:r>
              <a:rPr lang="en-US" sz="3700">
                <a:solidFill>
                  <a:srgbClr val="252525"/>
                </a:solidFill>
              </a:rPr>
              <a:t>REGULATIONS THAT APPLY TO THE SDK. THESE LAWS INCLUDE RESTRICTIONS ON</a:t>
            </a:r>
          </a:p>
          <a:p>
            <a:r>
              <a:rPr lang="en-US" sz="3700">
                <a:solidFill>
                  <a:srgbClr val="252525"/>
                </a:solidFill>
              </a:rPr>
              <a:t>DESTINATIONS, END USERS AND END USE.</a:t>
            </a:r>
          </a:p>
          <a:p>
            <a:r>
              <a:rPr lang="en-US" sz="5000"/>
              <a:t>  </a:t>
            </a:r>
          </a:p>
          <a:p>
            <a:r>
              <a:rPr lang="en-US" sz="3700">
                <a:solidFill>
                  <a:srgbClr val="252525"/>
                </a:solidFill>
              </a:rPr>
              <a:t>14.6 The rights granted in the License Agreement may not be assigned or</a:t>
            </a:r>
          </a:p>
          <a:p>
            <a:r>
              <a:rPr lang="en-US" sz="3700">
                <a:solidFill>
                  <a:srgbClr val="252525"/>
                </a:solidFill>
              </a:rPr>
              <a:t>transferred by either you or Google without the prior written approval of the</a:t>
            </a:r>
          </a:p>
          <a:p>
            <a:r>
              <a:rPr lang="en-US" sz="3700">
                <a:solidFill>
                  <a:srgbClr val="252525"/>
                </a:solidFill>
              </a:rPr>
              <a:t>other party. Neither you nor Google shall be permitted to delegate their</a:t>
            </a:r>
          </a:p>
          <a:p>
            <a:r>
              <a:rPr lang="en-US" sz="3700">
                <a:solidFill>
                  <a:srgbClr val="252525"/>
                </a:solidFill>
              </a:rPr>
              <a:t>responsibilities or obligations under the License Agreement without the prior</a:t>
            </a:r>
          </a:p>
          <a:p>
            <a:r>
              <a:rPr lang="en-US" sz="3700">
                <a:solidFill>
                  <a:srgbClr val="252525"/>
                </a:solidFill>
              </a:rPr>
              <a:t>written approval of the other party.</a:t>
            </a:r>
          </a:p>
          <a:p>
            <a:r>
              <a:rPr lang="en-US" sz="5000"/>
              <a:t>  </a:t>
            </a:r>
          </a:p>
          <a:p>
            <a:r>
              <a:rPr lang="en-US" sz="3700">
                <a:solidFill>
                  <a:srgbClr val="252525"/>
                </a:solidFill>
              </a:rPr>
              <a:t>14.7 The License Agreement, and your relationship with Google under the License</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0" id="90"/>
          <p:cNvPicPr>
            <a:picLocks noChangeAspect="true"/>
          </p:cNvPicPr>
          <p:nvPr/>
        </p:nvPicPr>
        <p:blipFill>
          <a:blip r:embed="rId90"/>
          <a:stretch>
            <a:fillRect/>
          </a:stretch>
        </p:blipFill>
        <p:spPr>
          <a:xfrm>
            <a:off x="0" y="127000"/>
            <a:ext cx="23749000" cy="16548100"/>
          </a:xfrm>
          <a:prstGeom prst="rect">
            <a:avLst/>
          </a:prstGeom>
        </p:spPr>
      </p:pic>
      <p:sp>
        <p:nvSpPr>
          <p:cNvPr name="TextBox 90" id="9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Agreement, shall be governed by the laws of the State of California without</a:t>
            </a:r>
          </a:p>
          <a:p>
            <a:r>
              <a:rPr lang="en-US" sz="3700">
                <a:solidFill>
                  <a:srgbClr val="252525"/>
                </a:solidFill>
              </a:rPr>
              <a:t>regard to its conflict of laws provisions. You and Google agree to submit to the</a:t>
            </a:r>
          </a:p>
          <a:p>
            <a:r>
              <a:rPr lang="en-US" sz="3700">
                <a:solidFill>
                  <a:srgbClr val="252525"/>
                </a:solidFill>
              </a:rPr>
              <a:t>exclusive jurisdiction of the courts located within the county of Santa Clara,</a:t>
            </a:r>
          </a:p>
          <a:p>
            <a:r>
              <a:rPr lang="en-US" sz="3700">
                <a:solidFill>
                  <a:srgbClr val="252525"/>
                </a:solidFill>
              </a:rPr>
              <a:t>California to resolve any legal matter arising from the License Agreement.</a:t>
            </a:r>
          </a:p>
          <a:p>
            <a:r>
              <a:rPr lang="en-US" sz="3700">
                <a:solidFill>
                  <a:srgbClr val="252525"/>
                </a:solidFill>
              </a:rPr>
              <a:t>Notwithstanding this, you agree that Google shall still be allowed to apply for</a:t>
            </a:r>
          </a:p>
          <a:p>
            <a:r>
              <a:rPr lang="en-US" sz="3700">
                <a:solidFill>
                  <a:srgbClr val="252525"/>
                </a:solidFill>
              </a:rPr>
              <a:t>injunctive remedies (or an equivalent type of urgent legal relief) in any</a:t>
            </a:r>
          </a:p>
          <a:p>
            <a:r>
              <a:rPr lang="en-US" sz="3700">
                <a:solidFill>
                  <a:srgbClr val="252525"/>
                </a:solidFill>
              </a:rPr>
              <a:t>jurisdiction.</a:t>
            </a:r>
          </a:p>
          <a:p>
            <a:r>
              <a:rPr lang="en-US" sz="5000"/>
              <a:t>  </a:t>
            </a:r>
          </a:p>
          <a:p>
            <a:r>
              <a:rPr lang="en-US" sz="3700">
                <a:solidFill>
                  <a:srgbClr val="252525"/>
                </a:solidFill>
              </a:rPr>
              <a:t>---</a:t>
            </a:r>
          </a:p>
          <a:p>
            <a:r>
              <a:rPr lang="en-US" sz="5000"/>
              <a:t>  </a:t>
            </a:r>
          </a:p>
          <a:p>
            <a:r>
              <a:rPr lang="en-US" sz="3700">
                <a:solidFill>
                  <a:srgbClr val="252525"/>
                </a:solidFill>
              </a:rPr>
              <a:t>ANTLR Software Rights Notice</a:t>
            </a:r>
          </a:p>
          <a:p>
            <a:r>
              <a:rPr lang="en-US" sz="3700">
                <a:solidFill>
                  <a:srgbClr val="252525"/>
                </a:solidFill>
              </a:rPr>
              <a:t>(ANTLR 2.7.7)</a:t>
            </a:r>
          </a:p>
          <a:p>
            <a:r>
              <a:rPr lang="en-US" sz="5000"/>
              <a:t>  </a:t>
            </a:r>
          </a:p>
          <a:p>
            <a:r>
              <a:rPr lang="en-US" sz="3700">
                <a:solidFill>
                  <a:srgbClr val="252525"/>
                </a:solidFill>
              </a:rPr>
              <a:t>ANTLR License</a:t>
            </a:r>
          </a:p>
          <a:p>
            <a:r>
              <a:rPr lang="en-US" sz="3700">
                <a:solidFill>
                  <a:srgbClr val="252525"/>
                </a:solidFill>
              </a:rPr>
              <a:t>=============</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2" id="92"/>
          <p:cNvPicPr>
            <a:picLocks noChangeAspect="true"/>
          </p:cNvPicPr>
          <p:nvPr/>
        </p:nvPicPr>
        <p:blipFill>
          <a:blip r:embed="rId92"/>
          <a:stretch>
            <a:fillRect/>
          </a:stretch>
        </p:blipFill>
        <p:spPr>
          <a:xfrm>
            <a:off x="0" y="127000"/>
            <a:ext cx="23749000" cy="16548100"/>
          </a:xfrm>
          <a:prstGeom prst="rect">
            <a:avLst/>
          </a:prstGeom>
        </p:spPr>
      </p:pic>
      <p:sp>
        <p:nvSpPr>
          <p:cNvPr name="TextBox 92" id="93"/>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SOFTWARE RIGHTS</a:t>
            </a:r>
          </a:p>
          <a:p>
            <a:r>
              <a:rPr lang="en-US" sz="5000"/>
              <a:t>  </a:t>
            </a:r>
          </a:p>
          <a:p>
            <a:r>
              <a:rPr lang="en-US" sz="3700">
                <a:solidFill>
                  <a:srgbClr val="252525"/>
                </a:solidFill>
              </a:rPr>
              <a:t>ANTLR 1989-2004 Developed by Terence Parr Partially supported by University of</a:t>
            </a:r>
          </a:p>
          <a:p>
            <a:r>
              <a:rPr lang="en-US" sz="3700">
                <a:solidFill>
                  <a:srgbClr val="252525"/>
                </a:solidFill>
              </a:rPr>
              <a:t>San Francisco &amp; jGuru.com</a:t>
            </a:r>
          </a:p>
          <a:p>
            <a:r>
              <a:rPr lang="en-US" sz="5000"/>
              <a:t>  </a:t>
            </a:r>
          </a:p>
          <a:p>
            <a:r>
              <a:rPr lang="en-US" sz="3700">
                <a:solidFill>
                  <a:srgbClr val="252525"/>
                </a:solidFill>
              </a:rPr>
              <a:t>We reserve no legal rights to the ANTLR--it is fully in the public domain. An</a:t>
            </a:r>
          </a:p>
          <a:p>
            <a:r>
              <a:rPr lang="en-US" sz="3700">
                <a:solidFill>
                  <a:srgbClr val="252525"/>
                </a:solidFill>
              </a:rPr>
              <a:t>individual or company may do whatever they wish with source code distributed with</a:t>
            </a:r>
          </a:p>
          <a:p>
            <a:r>
              <a:rPr lang="en-US" sz="3700">
                <a:solidFill>
                  <a:srgbClr val="252525"/>
                </a:solidFill>
              </a:rPr>
              <a:t>ANTLR or the code generated by ANTLR, including the incorporation of ANTLR, or</a:t>
            </a:r>
          </a:p>
          <a:p>
            <a:r>
              <a:rPr lang="en-US" sz="3700">
                <a:solidFill>
                  <a:srgbClr val="252525"/>
                </a:solidFill>
              </a:rPr>
              <a:t>its output, into commerical software.</a:t>
            </a:r>
          </a:p>
          <a:p>
            <a:r>
              <a:rPr lang="en-US" sz="5000"/>
              <a:t>  </a:t>
            </a:r>
          </a:p>
          <a:p>
            <a:r>
              <a:rPr lang="en-US" sz="3700">
                <a:solidFill>
                  <a:srgbClr val="252525"/>
                </a:solidFill>
              </a:rPr>
              <a:t>We encourage users to develop software with ANTLR. However, we do ask that credit</a:t>
            </a:r>
          </a:p>
          <a:p>
            <a:r>
              <a:rPr lang="en-US" sz="3700">
                <a:solidFill>
                  <a:srgbClr val="252525"/>
                </a:solidFill>
              </a:rPr>
              <a:t>is given to us for developing ANTLR. By "credit", we mean that if you use ANTLR</a:t>
            </a:r>
          </a:p>
          <a:p>
            <a:r>
              <a:rPr lang="en-US" sz="3700">
                <a:solidFill>
                  <a:srgbClr val="252525"/>
                </a:solidFill>
              </a:rPr>
              <a:t>or incorporate any source code into one of your programs (commercial product,</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4" id="94"/>
          <p:cNvPicPr>
            <a:picLocks noChangeAspect="true"/>
          </p:cNvPicPr>
          <p:nvPr/>
        </p:nvPicPr>
        <p:blipFill>
          <a:blip r:embed="rId94"/>
          <a:stretch>
            <a:fillRect/>
          </a:stretch>
        </p:blipFill>
        <p:spPr>
          <a:xfrm>
            <a:off x="0" y="127000"/>
            <a:ext cx="23749000" cy="16548100"/>
          </a:xfrm>
          <a:prstGeom prst="rect">
            <a:avLst/>
          </a:prstGeom>
        </p:spPr>
      </p:pic>
      <p:sp>
        <p:nvSpPr>
          <p:cNvPr name="TextBox 94" id="9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research project, or otherwise) that you acknowledge this fact somewhere in the</a:t>
            </a:r>
          </a:p>
          <a:p>
            <a:r>
              <a:rPr lang="en-US" sz="3700">
                <a:solidFill>
                  <a:srgbClr val="252525"/>
                </a:solidFill>
              </a:rPr>
              <a:t>documentation, research report, etc... If you like ANTLR and have developed a</a:t>
            </a:r>
          </a:p>
          <a:p>
            <a:r>
              <a:rPr lang="en-US" sz="3700">
                <a:solidFill>
                  <a:srgbClr val="252525"/>
                </a:solidFill>
              </a:rPr>
              <a:t>nice tool with the output, please mention that you developed it using ANTLR. In</a:t>
            </a:r>
          </a:p>
          <a:p>
            <a:r>
              <a:rPr lang="en-US" sz="3700">
                <a:solidFill>
                  <a:srgbClr val="252525"/>
                </a:solidFill>
              </a:rPr>
              <a:t>addition, we ask that the headers remain intact in our source code. As long as</a:t>
            </a:r>
          </a:p>
          <a:p>
            <a:r>
              <a:rPr lang="en-US" sz="3700">
                <a:solidFill>
                  <a:srgbClr val="252525"/>
                </a:solidFill>
              </a:rPr>
              <a:t>these guidelines are kept, we expect to continue enhancing this system and expect</a:t>
            </a:r>
          </a:p>
          <a:p>
            <a:r>
              <a:rPr lang="en-US" sz="3700">
                <a:solidFill>
                  <a:srgbClr val="252525"/>
                </a:solidFill>
              </a:rPr>
              <a:t>to make other tools available as they are completed.</a:t>
            </a:r>
          </a:p>
          <a:p>
            <a:r>
              <a:rPr lang="en-US" sz="5000"/>
              <a:t>  </a:t>
            </a:r>
          </a:p>
          <a:p>
            <a:r>
              <a:rPr lang="en-US" sz="3700">
                <a:solidFill>
                  <a:srgbClr val="252525"/>
                </a:solidFill>
              </a:rPr>
              <a:t>The primary ANTLR guy:</a:t>
            </a:r>
          </a:p>
          <a:p>
            <a:r>
              <a:rPr lang="en-US" sz="5000"/>
              <a:t>  </a:t>
            </a:r>
          </a:p>
          <a:p>
            <a:r>
              <a:rPr lang="en-US" sz="3700">
                <a:solidFill>
                  <a:srgbClr val="252525"/>
                </a:solidFill>
              </a:rPr>
              <a:t>Terence Parr</a:t>
            </a:r>
          </a:p>
          <a:p>
            <a:r>
              <a:rPr lang="en-US" sz="3700">
                <a:solidFill>
                  <a:srgbClr val="252525"/>
                </a:solidFill>
              </a:rPr>
              <a:t>parrt@cs.usfca.edu</a:t>
            </a:r>
          </a:p>
          <a:p>
            <a:r>
              <a:rPr lang="en-US" sz="3700">
                <a:solidFill>
                  <a:srgbClr val="252525"/>
                </a:solidFill>
              </a:rPr>
              <a:t>parrt@antlr.org</a:t>
            </a:r>
          </a:p>
          <a:p>
            <a:r>
              <a:rPr lang="en-US" sz="5000"/>
              <a:t>  </a:t>
            </a:r>
          </a:p>
          <a:p>
            <a:r>
              <a:rPr lang="en-US" sz="3700">
                <a:solidFill>
                  <a:srgbClr val="252525"/>
                </a:solidFill>
              </a:rPr>
              <a:t>---</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6" id="96"/>
          <p:cNvPicPr>
            <a:picLocks noChangeAspect="true"/>
          </p:cNvPicPr>
          <p:nvPr/>
        </p:nvPicPr>
        <p:blipFill>
          <a:blip r:embed="rId96"/>
          <a:stretch>
            <a:fillRect/>
          </a:stretch>
        </p:blipFill>
        <p:spPr>
          <a:xfrm>
            <a:off x="0" y="127000"/>
            <a:ext cx="23749000" cy="16548100"/>
          </a:xfrm>
          <a:prstGeom prst="rect">
            <a:avLst/>
          </a:prstGeom>
        </p:spPr>
      </p:pic>
      <p:sp>
        <p:nvSpPr>
          <p:cNvPr name="TextBox 96" id="9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Apache License 1.1</a:t>
            </a:r>
          </a:p>
          <a:p>
            <a:r>
              <a:rPr lang="en-US" sz="3700">
                <a:solidFill>
                  <a:srgbClr val="252525"/>
                </a:solidFill>
              </a:rPr>
              <a:t>(Apache XML Commons 1.0.b2)</a:t>
            </a:r>
          </a:p>
          <a:p>
            <a:r>
              <a:rPr lang="en-US" sz="5000"/>
              <a:t>  </a:t>
            </a:r>
          </a:p>
          <a:p>
            <a:r>
              <a:rPr lang="en-US" sz="3700">
                <a:solidFill>
                  <a:srgbClr val="252525"/>
                </a:solidFill>
              </a:rPr>
              <a:t>Apache Software License</a:t>
            </a:r>
          </a:p>
          <a:p>
            <a:r>
              <a:rPr lang="en-US" sz="3700">
                <a:solidFill>
                  <a:srgbClr val="252525"/>
                </a:solidFill>
              </a:rPr>
              <a:t>=======================</a:t>
            </a:r>
          </a:p>
          <a:p>
            <a:r>
              <a:rPr lang="en-US" sz="5000"/>
              <a:t>  </a:t>
            </a:r>
          </a:p>
          <a:p>
            <a:r>
              <a:rPr lang="en-US" sz="5000"/>
              <a:t>  </a:t>
            </a:r>
          </a:p>
          <a:p>
            <a:r>
              <a:rPr lang="en-US" sz="3700">
                <a:solidFill>
                  <a:srgbClr val="252525"/>
                </a:solidFill>
              </a:rPr>
              <a:t>Version 1.1</a:t>
            </a:r>
          </a:p>
          <a:p>
            <a:r>
              <a:rPr lang="en-US" sz="3700">
                <a:solidFill>
                  <a:srgbClr val="252525"/>
                </a:solidFill>
              </a:rPr>
              <a:t>-----------</a:t>
            </a:r>
          </a:p>
          <a:p>
            <a:r>
              <a:rPr lang="en-US" sz="5000"/>
              <a:t>  </a:t>
            </a:r>
          </a:p>
          <a:p>
            <a:r>
              <a:rPr lang="en-US" sz="5000"/>
              <a:t>  </a:t>
            </a:r>
          </a:p>
          <a:p>
            <a:r>
              <a:rPr lang="en-US" sz="5000"/>
              <a:t>  </a:t>
            </a:r>
          </a:p>
          <a:p>
            <a:r>
              <a:rPr lang="en-US" sz="3700">
                <a:solidFill>
                  <a:srgbClr val="252525"/>
                </a:solidFill>
              </a:rPr>
              <a:t>Copyright (c) 2000 The Apache Software Foundation. All rights reserved.</a:t>
            </a:r>
          </a:p>
          <a:p>
            <a:r>
              <a:rPr lang="en-US" sz="5000"/>
              <a:t>  </a:t>
            </a:r>
          </a:p>
          <a:p>
            <a:r>
              <a:rPr lang="en-US" sz="3700">
                <a:solidFill>
                  <a:srgbClr val="252525"/>
                </a:solidFill>
              </a:rPr>
              <a:t>Redistribution and use in source and binary forms, with or without modification,</a:t>
            </a:r>
          </a:p>
          <a:p>
            <a:r>
              <a:rPr lang="en-US" sz="3700">
                <a:solidFill>
                  <a:srgbClr val="252525"/>
                </a:solidFill>
              </a:rPr>
              <a:t>are permitted provided that the following conditions are met:</a:t>
            </a:r>
          </a:p>
          <a:p>
            <a:r>
              <a:rPr lang="en-US" sz="5000"/>
              <a:t>  </a:t>
            </a:r>
          </a:p>
          <a:p>
            <a:r>
              <a:rPr lang="en-US" sz="3700">
                <a:solidFill>
                  <a:srgbClr val="252525"/>
                </a:solidFill>
              </a:rPr>
              <a:t>1. Redistributions of source code must </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8" id="98"/>
          <p:cNvPicPr>
            <a:picLocks noChangeAspect="true"/>
          </p:cNvPicPr>
          <p:nvPr/>
        </p:nvPicPr>
        <p:blipFill>
          <a:blip r:embed="rId98"/>
          <a:stretch>
            <a:fillRect/>
          </a:stretch>
        </p:blipFill>
        <p:spPr>
          <a:xfrm>
            <a:off x="0" y="127000"/>
            <a:ext cx="23749000" cy="16548100"/>
          </a:xfrm>
          <a:prstGeom prst="rect">
            <a:avLst/>
          </a:prstGeom>
        </p:spPr>
      </p:pic>
      <p:sp>
        <p:nvSpPr>
          <p:cNvPr name="TextBox 98" id="9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retain the above copyright notice, this</a:t>
            </a:r>
          </a:p>
          <a:p>
            <a:r>
              <a:rPr lang="en-US" sz="3700">
                <a:solidFill>
                  <a:srgbClr val="252525"/>
                </a:solidFill>
              </a:rPr>
              <a:t>list of conditions and the following disclaimer.</a:t>
            </a:r>
          </a:p>
          <a:p>
            <a:r>
              <a:rPr lang="en-US" sz="5000"/>
              <a:t>  </a:t>
            </a:r>
          </a:p>
          <a:p>
            <a:r>
              <a:rPr lang="en-US" sz="3700">
                <a:solidFill>
                  <a:srgbClr val="252525"/>
                </a:solidFill>
              </a:rPr>
              <a:t>2. Redistributions in binary form must reproduce the above copyright notice, this</a:t>
            </a:r>
          </a:p>
          <a:p>
            <a:r>
              <a:rPr lang="en-US" sz="3700">
                <a:solidFill>
                  <a:srgbClr val="252525"/>
                </a:solidFill>
              </a:rPr>
              <a:t>list of conditions and the following disclaimer in the documentation and/or other</a:t>
            </a:r>
          </a:p>
          <a:p>
            <a:r>
              <a:rPr lang="en-US" sz="3700">
                <a:solidFill>
                  <a:srgbClr val="252525"/>
                </a:solidFill>
              </a:rPr>
              <a:t>materials provided with the distribution.</a:t>
            </a:r>
          </a:p>
          <a:p>
            <a:r>
              <a:rPr lang="en-US" sz="5000"/>
              <a:t>  </a:t>
            </a:r>
          </a:p>
          <a:p>
            <a:r>
              <a:rPr lang="en-US" sz="3700">
                <a:solidFill>
                  <a:srgbClr val="252525"/>
                </a:solidFill>
              </a:rPr>
              <a:t>3. The end-user documentation included with the redistribution, if any, must</a:t>
            </a:r>
          </a:p>
          <a:p>
            <a:r>
              <a:rPr lang="en-US" sz="3700">
                <a:solidFill>
                  <a:srgbClr val="252525"/>
                </a:solidFill>
              </a:rPr>
              <a:t>include the following acknowledgment:</a:t>
            </a:r>
          </a:p>
          <a:p>
            <a:r>
              <a:rPr lang="en-US" sz="5000"/>
              <a:t>  </a:t>
            </a:r>
          </a:p>
          <a:p>
            <a:r>
              <a:rPr lang="en-US" sz="3700">
                <a:solidFill>
                  <a:srgbClr val="252525"/>
                </a:solidFill>
              </a:rPr>
              <a:t>      "This product includes software developed by the Apache Software Foundation</a:t>
            </a:r>
          </a:p>
          <a:p>
            <a:r>
              <a:rPr lang="en-US" sz="3700">
                <a:solidFill>
                  <a:srgbClr val="252525"/>
                </a:solidFill>
              </a:rPr>
              <a:t>      (</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0" id="100"/>
          <p:cNvPicPr>
            <a:picLocks noChangeAspect="true"/>
          </p:cNvPicPr>
          <p:nvPr/>
        </p:nvPicPr>
        <p:blipFill>
          <a:blip r:embed="rId100"/>
          <a:stretch>
            <a:fillRect/>
          </a:stretch>
        </p:blipFill>
        <p:spPr>
          <a:xfrm>
            <a:off x="0" y="127000"/>
            <a:ext cx="23749000" cy="16548100"/>
          </a:xfrm>
          <a:prstGeom prst="rect">
            <a:avLst/>
          </a:prstGeom>
        </p:spPr>
      </p:pic>
      <p:sp>
        <p:nvSpPr>
          <p:cNvPr name="TextBox 100" id="10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r>
              <a:rPr lang="en-US" sz="3700">
                <a:solidFill>
                  <a:srgbClr val="252525"/>
                </a:solidFill>
              </a:rPr>
              <a:t>)."</a:t>
            </a:r>
          </a:p>
          <a:p>
            <a:r>
              <a:rPr lang="en-US" sz="5000"/>
              <a:t>  </a:t>
            </a:r>
          </a:p>
          <a:p>
            <a:r>
              <a:rPr lang="en-US" sz="3700">
                <a:solidFill>
                  <a:srgbClr val="252525"/>
                </a:solidFill>
              </a:rPr>
              <a:t>Alternately, this acknowledgment may appear in the software itself, if and</a:t>
            </a:r>
          </a:p>
          <a:p>
            <a:r>
              <a:rPr lang="en-US" sz="3700">
                <a:solidFill>
                  <a:srgbClr val="252525"/>
                </a:solidFill>
              </a:rPr>
              <a:t>wherever such third-party acknowledgments normally appear.</a:t>
            </a:r>
          </a:p>
          <a:p>
            <a:r>
              <a:rPr lang="en-US" sz="5000"/>
              <a:t>  </a:t>
            </a:r>
          </a:p>
          <a:p>
            <a:r>
              <a:rPr lang="en-US" sz="3700">
                <a:solidFill>
                  <a:srgbClr val="252525"/>
                </a:solidFill>
              </a:rPr>
              <a:t>4. The names "Apache" and "Apache Software Foundation" must not be used to</a:t>
            </a:r>
          </a:p>
          <a:p>
            <a:r>
              <a:rPr lang="en-US" sz="3700">
                <a:solidFill>
                  <a:srgbClr val="252525"/>
                </a:solidFill>
              </a:rPr>
              <a:t>endorse or promote products derived from this software without prior written</a:t>
            </a:r>
          </a:p>
          <a:p>
            <a:r>
              <a:rPr lang="en-US" sz="3700">
                <a:solidFill>
                  <a:srgbClr val="252525"/>
                </a:solidFill>
              </a:rPr>
              <a:t>permission. For written permission, please contact apache@apache.org.</a:t>
            </a:r>
          </a:p>
          <a:p>
            <a:r>
              <a:rPr lang="en-US" sz="5000"/>
              <a:t>  </a:t>
            </a:r>
          </a:p>
          <a:p>
            <a:r>
              <a:rPr lang="en-US" sz="3700">
                <a:solidFill>
                  <a:srgbClr val="252525"/>
                </a:solidFill>
              </a:rPr>
              <a:t>5. Products derived from this software may not be called "Apache", nor may</a:t>
            </a:r>
          </a:p>
          <a:p>
            <a:r>
              <a:rPr lang="en-US" sz="3700">
                <a:solidFill>
                  <a:srgbClr val="252525"/>
                </a:solidFill>
              </a:rPr>
              <a:t>"Apache" appear in their name, without prior written permission of the Apache</a:t>
            </a:r>
          </a:p>
        </p:txBody>
      </p:sp>
      <p:pic>
        <p:nvPicPr>
          <p:cNvPr name="Picture 102" id="102">
            <a:hlinkClick r:id="rId103"/>
          </p:cNvPr>
          <p:cNvPicPr>
            <a:picLocks noChangeAspect="true"/>
          </p:cNvPicPr>
          <p:nvPr/>
        </p:nvPicPr>
        <p:blipFill>
          <a:blip r:embed="rId102"/>
          <a:stretch>
            <a:fillRect/>
          </a:stretch>
        </p:blipFill>
        <p:spPr>
          <a:xfrm>
            <a:off x="6451600" y="13855700"/>
            <a:ext cx="10820400" cy="1714500"/>
          </a:xfrm>
          <a:prstGeom prst="rect">
            <a:avLst/>
          </a:prstGeom>
        </p:spPr>
      </p:pic>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4" id="104"/>
          <p:cNvPicPr>
            <a:picLocks noChangeAspect="true"/>
          </p:cNvPicPr>
          <p:nvPr/>
        </p:nvPicPr>
        <p:blipFill>
          <a:blip r:embed="rId104"/>
          <a:stretch>
            <a:fillRect/>
          </a:stretch>
        </p:blipFill>
        <p:spPr>
          <a:xfrm>
            <a:off x="0" y="127000"/>
            <a:ext cx="23749000" cy="16548100"/>
          </a:xfrm>
          <a:prstGeom prst="rect">
            <a:avLst/>
          </a:prstGeom>
        </p:spPr>
      </p:pic>
      <p:sp>
        <p:nvSpPr>
          <p:cNvPr name="TextBox 104" id="10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Software Foundation.</a:t>
            </a:r>
          </a:p>
          <a:p>
            <a:r>
              <a:rPr lang="en-US" sz="5000"/>
              <a:t>  </a:t>
            </a:r>
          </a:p>
          <a:p>
            <a:r>
              <a:rPr lang="en-US" sz="3700">
                <a:solidFill>
                  <a:srgbClr val="252525"/>
                </a:solidFill>
              </a:rPr>
              <a:t>THIS SOFTWARE IS PROVIDED "AS IS" AND ANY EXPRESSED OR IMPLIED WARRANTIES,</a:t>
            </a:r>
          </a:p>
          <a:p>
            <a:r>
              <a:rPr lang="en-US" sz="3700">
                <a:solidFill>
                  <a:srgbClr val="252525"/>
                </a:solidFill>
              </a:rPr>
              <a:t>INCLUDING, BUT NOT LIMITED TO, THE IMPLIED WARRANTIES OF MERCHANTABILITY AND</a:t>
            </a:r>
          </a:p>
          <a:p>
            <a:r>
              <a:rPr lang="en-US" sz="3700">
                <a:solidFill>
                  <a:srgbClr val="252525"/>
                </a:solidFill>
              </a:rPr>
              <a:t>FITNESS FOR A PARTICULAR PURPOSE ARE DISCLAIMED. IN NO EVENT SHALL THE APACHE</a:t>
            </a:r>
          </a:p>
          <a:p>
            <a:r>
              <a:rPr lang="en-US" sz="3700">
                <a:solidFill>
                  <a:srgbClr val="252525"/>
                </a:solidFill>
              </a:rPr>
              <a:t>SOFTWARE FOUNDATION OR ITS CONTRIBUTORS BE LIABLE FOR ANY DIRECT, INDIRECT,</a:t>
            </a:r>
          </a:p>
          <a:p>
            <a:r>
              <a:rPr lang="en-US" sz="3700">
                <a:solidFill>
                  <a:srgbClr val="252525"/>
                </a:solidFill>
              </a:rPr>
              <a:t>INCIDENTAL, SPECIAL, EXEMPLARY, OR CONSEQUENTIAL DAMAGES (INCLUDING, BUT NOT</a:t>
            </a:r>
          </a:p>
          <a:p>
            <a:r>
              <a:rPr lang="en-US" sz="3700">
                <a:solidFill>
                  <a:srgbClr val="252525"/>
                </a:solidFill>
              </a:rPr>
              <a:t>LIMITED TO, PROCUREMENT OF SUBSTITUTE GOODS OR SERVICES; LOSS OF USE, DATA, OR</a:t>
            </a:r>
          </a:p>
          <a:p>
            <a:r>
              <a:rPr lang="en-US" sz="3700">
                <a:solidFill>
                  <a:srgbClr val="252525"/>
                </a:solidFill>
              </a:rPr>
              <a:t>PROFITS; OR BUSINESS INTERRUPTION) </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6" id="106"/>
          <p:cNvPicPr>
            <a:picLocks noChangeAspect="true"/>
          </p:cNvPicPr>
          <p:nvPr/>
        </p:nvPicPr>
        <p:blipFill>
          <a:blip r:embed="rId106"/>
          <a:stretch>
            <a:fillRect/>
          </a:stretch>
        </p:blipFill>
        <p:spPr>
          <a:xfrm>
            <a:off x="0" y="127000"/>
            <a:ext cx="23749000" cy="16548100"/>
          </a:xfrm>
          <a:prstGeom prst="rect">
            <a:avLst/>
          </a:prstGeom>
        </p:spPr>
      </p:pic>
      <p:sp>
        <p:nvSpPr>
          <p:cNvPr name="TextBox 106" id="10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HOWEVER CAUSED AND ON ANY THEORY OF LIABILITY,</a:t>
            </a:r>
          </a:p>
          <a:p>
            <a:r>
              <a:rPr lang="en-US" sz="3700">
                <a:solidFill>
                  <a:srgbClr val="252525"/>
                </a:solidFill>
              </a:rPr>
              <a:t>WHETHER IN CONTRACT, STRICT LIABILITY, OR TORT (INCLUDING NEGLIGENCE OR</a:t>
            </a:r>
          </a:p>
          <a:p>
            <a:r>
              <a:rPr lang="en-US" sz="3700">
                <a:solidFill>
                  <a:srgbClr val="252525"/>
                </a:solidFill>
              </a:rPr>
              <a:t>OTHERWISE) ARISING IN ANY WAY OUT OF THE USE OF THIS SOFTWARE, EVEN IF ADVISED OF</a:t>
            </a:r>
          </a:p>
          <a:p>
            <a:r>
              <a:rPr lang="en-US" sz="3700">
                <a:solidFill>
                  <a:srgbClr val="252525"/>
                </a:solidFill>
              </a:rPr>
              <a:t>THE POSSIBILITY OF SUCH DAMAGE.</a:t>
            </a:r>
          </a:p>
          <a:p>
            <a:r>
              <a:rPr lang="en-US" sz="5000"/>
              <a:t>  </a:t>
            </a:r>
          </a:p>
          <a:p>
            <a:r>
              <a:rPr lang="en-US" sz="3700">
                <a:solidFill>
                  <a:srgbClr val="252525"/>
                </a:solidFill>
              </a:rPr>
              <a:t>--------------------------------------------------------------------------------</a:t>
            </a:r>
          </a:p>
          <a:p>
            <a:r>
              <a:rPr lang="en-US" sz="5000"/>
              <a:t>  </a:t>
            </a:r>
          </a:p>
          <a:p>
            <a:r>
              <a:rPr lang="en-US" sz="3700">
                <a:solidFill>
                  <a:srgbClr val="252525"/>
                </a:solidFill>
              </a:rPr>
              <a:t>This software consists of voluntary contributions made by many individuals on</a:t>
            </a:r>
          </a:p>
          <a:p>
            <a:r>
              <a:rPr lang="en-US" sz="3700">
                <a:solidFill>
                  <a:srgbClr val="252525"/>
                </a:solidFill>
              </a:rPr>
              <a:t>behalf of the Apache Software Foundation. For more information on the Apache</a:t>
            </a:r>
          </a:p>
          <a:p>
            <a:r>
              <a:rPr lang="en-US" sz="3700">
                <a:solidFill>
                  <a:srgbClr val="252525"/>
                </a:solidFill>
              </a:rPr>
              <a:t>Software Foundation, please see &lt;</a:t>
            </a:r>
          </a:p>
        </p:txBody>
      </p:sp>
      <p:pic>
        <p:nvPicPr>
          <p:cNvPr name="Picture 108" id="108">
            <a:hlinkClick r:id="rId109"/>
          </p:cNvPr>
          <p:cNvPicPr>
            <a:picLocks noChangeAspect="true"/>
          </p:cNvPicPr>
          <p:nvPr/>
        </p:nvPicPr>
        <p:blipFill>
          <a:blip r:embed="rId108"/>
          <a:stretch>
            <a:fillRect/>
          </a:stretch>
        </p:blipFill>
        <p:spPr>
          <a:xfrm>
            <a:off x="6451600" y="10795000"/>
            <a:ext cx="10820400" cy="1714500"/>
          </a:xfrm>
          <a:prstGeom prst="rect">
            <a:avLst/>
          </a:prstGeom>
        </p:spPr>
      </p:pic>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0" id="110"/>
          <p:cNvPicPr>
            <a:picLocks noChangeAspect="true"/>
          </p:cNvPicPr>
          <p:nvPr/>
        </p:nvPicPr>
        <p:blipFill>
          <a:blip r:embed="rId110"/>
          <a:stretch>
            <a:fillRect/>
          </a:stretch>
        </p:blipFill>
        <p:spPr>
          <a:xfrm>
            <a:off x="0" y="127000"/>
            <a:ext cx="23749000" cy="16548100"/>
          </a:xfrm>
          <a:prstGeom prst="rect">
            <a:avLst/>
          </a:prstGeom>
        </p:spPr>
      </p:pic>
      <p:sp>
        <p:nvSpPr>
          <p:cNvPr name="TextBox 110" id="11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&gt;.</a:t>
            </a:r>
          </a:p>
          <a:p>
            <a:r>
              <a:rPr lang="en-US" sz="5000"/>
              <a:t>  </a:t>
            </a:r>
          </a:p>
          <a:p>
            <a:r>
              <a:rPr lang="en-US" sz="3700">
                <a:solidFill>
                  <a:srgbClr val="252525"/>
                </a:solidFill>
              </a:rPr>
              <a:t>Portions of this software are based upon public domain software originally</a:t>
            </a:r>
          </a:p>
          <a:p>
            <a:r>
              <a:rPr lang="en-US" sz="3700">
                <a:solidFill>
                  <a:srgbClr val="252525"/>
                </a:solidFill>
              </a:rPr>
              <a:t>written at the National Center for Supercomputing Applications, University of</a:t>
            </a:r>
          </a:p>
          <a:p>
            <a:r>
              <a:rPr lang="en-US" sz="3700">
                <a:solidFill>
                  <a:srgbClr val="252525"/>
                </a:solidFill>
              </a:rPr>
              <a:t>Illinois, Urbana-Champaign.</a:t>
            </a:r>
          </a:p>
          <a:p>
            <a:r>
              <a:rPr lang="en-US" sz="5000"/>
              <a:t>  </a:t>
            </a:r>
          </a:p>
          <a:p>
            <a:r>
              <a:rPr lang="en-US" sz="3700">
                <a:solidFill>
                  <a:srgbClr val="252525"/>
                </a:solidFill>
              </a:rPr>
              <a:t>---</a:t>
            </a:r>
          </a:p>
          <a:p>
            <a:r>
              <a:rPr lang="en-US" sz="5000"/>
              <a:t>  </a:t>
            </a:r>
          </a:p>
          <a:p>
            <a:r>
              <a:rPr lang="en-US" sz="3700">
                <a:solidFill>
                  <a:srgbClr val="252525"/>
                </a:solidFill>
              </a:rPr>
              <a:t>Apache License 2.0</a:t>
            </a:r>
          </a:p>
          <a:p>
            <a:r>
              <a:rPr lang="en-US" sz="3700">
                <a:solidFill>
                  <a:srgbClr val="252525"/>
                </a:solidFill>
              </a:rPr>
              <a:t>(@cnakazawa/watch 1.0.4, @xtuc/long 4.2.2, aapt2 3.6.0-6040484, aapt2-proto 0.4.0, Activity 1.0.0, adler-32 1.2.0, Android APK Zip Library 3.6.0, Android AppCompat Library v7 1.0.0, Android AppCompat Library v7 1.0.2, Android AppCompat Library v7 1.1.0, Android Arch-Common 2.0.0, Android Arch-Common 2.1.0, Android Arch-Runtime 2.0.0, Android Builder library 3.6.0, Android Builder Model </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2" id="112"/>
          <p:cNvPicPr>
            <a:picLocks noChangeAspect="true"/>
          </p:cNvPicPr>
          <p:nvPr/>
        </p:nvPicPr>
        <p:blipFill>
          <a:blip r:embed="rId112"/>
          <a:stretch>
            <a:fillRect/>
          </a:stretch>
        </p:blipFill>
        <p:spPr>
          <a:xfrm>
            <a:off x="0" y="127000"/>
            <a:ext cx="23749000" cy="16548100"/>
          </a:xfrm>
          <a:prstGeom prst="rect">
            <a:avLst/>
          </a:prstGeom>
        </p:spPr>
      </p:pic>
      <p:sp>
        <p:nvSpPr>
          <p:cNvPr name="TextBox 112" id="11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library 3.6.0, Android Builder Test API library 3.6.0, Android ConstraintLayout 1.1.3, Android ConstraintLayout 2.0.4, Android ConstraintLayout Solver 1.1.3, Android ConstraintLayout Solver 2.0.4, Android Emoji Compat 1.0.0, Android Jetifier Core 1.0.0-beta08, Android KTX Core 1.0.2, Android Lifecycle Extensions 2.0.0, Android Lifecycle LiveData 2.0.0, Android Lifecycle LiveData Core 2.0.0, Android Lifecycle Process 2.0.0, Android Lifecycle Runtime 2.0.0, Android Lifecycle Runtime 2.1.0, Android Lifecycle Runtime 2.2.0, Android Lifecycle Service 2.0.0, Android Lifecycle ViewModel 2.0.0, Android Lifecycle ViewModel 2.1.0, Android Lifecycle-Common 2.0.0, Android Lifecycle-Common 2.1.0, Android Lifecycle-Common 2.2.0, Android Lifecycle-Common for Java 8 Language 2.0.0, Android Lifecycles Compiler 2.0.0, Android </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4" id="114"/>
          <p:cNvPicPr>
            <a:picLocks noChangeAspect="true"/>
          </p:cNvPicPr>
          <p:nvPr/>
        </p:nvPicPr>
        <p:blipFill>
          <a:blip r:embed="rId114"/>
          <a:stretch>
            <a:fillRect/>
          </a:stretch>
        </p:blipFill>
        <p:spPr>
          <a:xfrm>
            <a:off x="0" y="127000"/>
            <a:ext cx="23749000" cy="16548100"/>
          </a:xfrm>
          <a:prstGeom prst="rect">
            <a:avLst/>
          </a:prstGeom>
        </p:spPr>
      </p:pic>
      <p:sp>
        <p:nvSpPr>
          <p:cNvPr name="TextBox 114" id="11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Lifecycles Compiler 2.2.0, Android Lint Checks 26.6.0, Android Multi-Dex Instrumentation Library 2.0.0, Android Multi-Dex Library 2.0.0, Android Multi-Dex Library 2.0.1, Android Navigation Common 2.0.0, Android Navigation Fragment 2.0.0, Android Navigation Runtime 2.0.0, Android RecyclerView Selection 1.0.0, Android Resources Library 1.1.0, Android Signflinger Library 3.6.0, Android Support AnimatedVectorDrawable 1.0.0, Android Support AnimatedVectorDrawable 1.1.0, Android Support CardView v7 1.0.0, Android Support ExifInterface 1.0.0, Android Support ExifInterface 1.1.0-beta01, Android Support Leanback v17 1.0.0, Android Support Library Annotations 1.0.0, Android Support Library Annotations 1.0.2, Android Support Library Annotations 1.1.0, Android Support Library Async Layout Inflater 1.0.0, Android Support </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6" id="116"/>
          <p:cNvPicPr>
            <a:picLocks noChangeAspect="true"/>
          </p:cNvPicPr>
          <p:nvPr/>
        </p:nvPicPr>
        <p:blipFill>
          <a:blip r:embed="rId116"/>
          <a:stretch>
            <a:fillRect/>
          </a:stretch>
        </p:blipFill>
        <p:spPr>
          <a:xfrm>
            <a:off x="0" y="127000"/>
            <a:ext cx="23749000" cy="16548100"/>
          </a:xfrm>
          <a:prstGeom prst="rect">
            <a:avLst/>
          </a:prstGeom>
        </p:spPr>
      </p:pic>
      <p:sp>
        <p:nvSpPr>
          <p:cNvPr name="TextBox 116" id="11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Library collections 1.0.0, Android Support Library collections 1.1.0, Android Support Library compat 1.0.0, Android Support Library compat 1.0.1, Android Support Library compat 1.0.2, Android Support Library compat 1.1.0, Android Support Library compat 1.3.1, Android Support Library Coordinator Layout 1.0.0, Android Support Library Coordinator Layout 1.1.0-rc01, Android Support Library core UI 1.0.0, Android Support Library core utils 1.0.0, Android Support Library Cursor Adapter 1.0.0, Android Support Library Custom View - androidx.customview:customview 1.0.0, Android Support Library Custom View - androidx.swiperefreshlayout:swiperefreshlayout 1.0.0, Android Support Library Document File 1.0.0, Android Support Library Drawer Layout 1.0.0, Android Support Library fragment 1.0.0, Android </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8" id="118"/>
          <p:cNvPicPr>
            <a:picLocks noChangeAspect="true"/>
          </p:cNvPicPr>
          <p:nvPr/>
        </p:nvPicPr>
        <p:blipFill>
          <a:blip r:embed="rId118"/>
          <a:stretch>
            <a:fillRect/>
          </a:stretch>
        </p:blipFill>
        <p:spPr>
          <a:xfrm>
            <a:off x="0" y="127000"/>
            <a:ext cx="23749000" cy="16548100"/>
          </a:xfrm>
          <a:prstGeom prst="rect">
            <a:avLst/>
          </a:prstGeom>
        </p:spPr>
      </p:pic>
      <p:sp>
        <p:nvSpPr>
          <p:cNvPr name="TextBox 118" id="11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Support Library fragment 1.1.0, Android Support Library Interpolators 1.0.0, Android Support Library loader 1.0.0, Android Support Library Local Broadcast Manager 1.0.0, Android Support Library media compat 1.0.0, Android Support Library Print 1.0.0, Android Support Library Sliding Pane Layout 1.0.0, Android Support Library v4 1.0.0, Android Support Library View Pager 1.0.0, Android Support Palette v7 1.0.0, Android Support RecyclerView v7 1.0.0, Android Support RecyclerView v7 1.1.0-rc01, Android Support VectorDrawable 1.0.0, Android Support VectorDrawable 1.0.1, Android Support VectorDrawable 1.1.0, Android Tools common library 26.6.0, Android Tools ddmlib 26.6.0, Android Tools dvlib 26.6.0, Android Tools layoutlib-api 26.6.0, Android Tools Lint API 26.6.0, Android Tools Lint Gradle Integration 26.6.0, Android Tools </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0" id="120"/>
          <p:cNvPicPr>
            <a:picLocks noChangeAspect="true"/>
          </p:cNvPicPr>
          <p:nvPr/>
        </p:nvPicPr>
        <p:blipFill>
          <a:blip r:embed="rId120"/>
          <a:stretch>
            <a:fillRect/>
          </a:stretch>
        </p:blipFill>
        <p:spPr>
          <a:xfrm>
            <a:off x="0" y="127000"/>
            <a:ext cx="23749000" cy="16548100"/>
          </a:xfrm>
          <a:prstGeom prst="rect">
            <a:avLst/>
          </a:prstGeom>
        </p:spPr>
      </p:pic>
      <p:sp>
        <p:nvSpPr>
          <p:cNvPr name="TextBox 120" id="12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Lint Gradle Integration API 26.6.0, Android Tools Manifest Merger library 26.6.0, Android Tools sdk-common library 26.6.0, Android Tools sdklib 26.6.0, Android Transition Support Library 1.0.0, Android Transition Support Library 1.0.1, Android Transition Support Library 1.2.0, Android Zip Flinger Library 3.6.0, androidx 1.0.0, AndroidX Security 1.1.0-alpha02, AndroidX Security 1.1.0-alpha03, AndroidX Widget ViewPager2 1.0.0-rc01, ansi-html 0.0.7, Apache Commons BeanUtils 1.9.3, Apache Commons Codec 1.10, Apache Commons Collections 3.2.2, Apache Commons Compress 1.12, Apache Commons Lang 2.6, Apache Commons Lang 3.8.1, Apache Commons Logging 1.2, Apache Groovy 2.4.15, Apache HttpClient 4.5.6, Apache HttpComponents Core 4.4.10, Apache HttpMime 4.5.6, aria-query 3.0.0, aria-query v4.2.2, atob 2.1.2, atomicfu-common </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2" id="122"/>
          <p:cNvPicPr>
            <a:picLocks noChangeAspect="true"/>
          </p:cNvPicPr>
          <p:nvPr/>
        </p:nvPicPr>
        <p:blipFill>
          <a:blip r:embed="rId122"/>
          <a:stretch>
            <a:fillRect/>
          </a:stretch>
        </p:blipFill>
        <p:spPr>
          <a:xfrm>
            <a:off x="0" y="127000"/>
            <a:ext cx="23749000" cy="16548100"/>
          </a:xfrm>
          <a:prstGeom prst="rect">
            <a:avLst/>
          </a:prstGeom>
        </p:spPr>
      </p:pic>
      <p:sp>
        <p:nvSpPr>
          <p:cNvPr name="TextBox 122" id="12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0.10.3, Auto Common Libraries 0.10, AutoValue Annotations 1.6.5, axobject-query 2.0.2, axobject-query 2.2.0, babel-preset-airbnb 3.2.1, bumptech/glide v4.11.0, bumptech/glide v4.8.0, bumptop/BumpTop 2.5, caseless 0.12.0, cfb 1.1.3, cglib 2.2.2, cIDNN 0.1.0, codepage 1.14.0, com.android.databinding.baseLibrary 3.6.0, com.android.tools.analytics-library.protos 26.6.0, com.android.tools.analytics-library.shared 26.6.0, com.android.tools.analytics-library.tracker 26.6.0, com.android.tools.annotations 26.6.0, com.android.tools.build.apksig 3.6.0, com.android.tools.build.gradle-api 3.6.0, com.android.tools.repository 26.6.0, Commons IO 2.4, Commons IO 2.6, crc-32 1.2.0, Data Binding Annotation Processor 3.6.0, Data Binding Base Library 3.6.0, Data Binding Compiler Common 3.6.0, </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4" id="124"/>
          <p:cNvPicPr>
            <a:picLocks noChangeAspect="true"/>
          </p:cNvPicPr>
          <p:nvPr/>
        </p:nvPicPr>
        <p:blipFill>
          <a:blip r:embed="rId124"/>
          <a:stretch>
            <a:fillRect/>
          </a:stretch>
        </p:blipFill>
        <p:spPr>
          <a:xfrm>
            <a:off x="0" y="127000"/>
            <a:ext cx="23749000" cy="16548100"/>
          </a:xfrm>
          <a:prstGeom prst="rect">
            <a:avLst/>
          </a:prstGeom>
        </p:spPr>
      </p:pic>
      <p:sp>
        <p:nvSpPr>
          <p:cNvPr name="TextBox 124" id="12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databinding-adapters 3.6.0, databinding-runtime 3.6.0, davemorrissey/subsampling-scale-image-view v3.10.0, detect-libc 1.0.3, doctrine v2.1.0, doctrine v3.0.0, dominictarr/rc 1.2.8, donglua/PhotoPicker v0.9.12, EasyMock 3.4, ejs v2.7.1, ejs v2.7.4, error-prone annotations 2.0.18, error-prone annotations 2.1.3, error-prone annotations 2.2.0, eslint-visitor-keys 1.1.0, eslint-visitor-keys 1.3.0, EventBus 3.1.1, EventBus (greenrobot) V3.1.1, exit-on-epipe 1.0.1, Fast Infoset 1.2.15, fast-diff 1.2.0, fastutil 7.2.0, FindBugs - findbugs eclipse plugin 6.0, FindBugs jsr305 1.3.9, FindBugs jsr305 2.0.1, FindBugs jsr305 3.0.2, firebase-common 19.0.0, flexbox-layout 2.0.1, forever-agent 0.6.1, frac 1.1.2, Glide 4.11.0, Glide 4.8.0, Glide Annotation processor 4.11.0, Glide Annotation processor 4.8.0, Glide Annotations 4.11.0, Glide Annotations 4.8.0, Glide Disk LRU </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6" id="126"/>
          <p:cNvPicPr>
            <a:picLocks noChangeAspect="true"/>
          </p:cNvPicPr>
          <p:nvPr/>
        </p:nvPicPr>
        <p:blipFill>
          <a:blip r:embed="rId126"/>
          <a:stretch>
            <a:fillRect/>
          </a:stretch>
        </p:blipFill>
        <p:spPr>
          <a:xfrm>
            <a:off x="0" y="127000"/>
            <a:ext cx="23749000" cy="16548100"/>
          </a:xfrm>
          <a:prstGeom prst="rect">
            <a:avLst/>
          </a:prstGeom>
        </p:spPr>
      </p:pic>
      <p:sp>
        <p:nvSpPr>
          <p:cNvPr name="TextBox 126" id="12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Cache Library 4.11.0, Glide Disk LRU Cache Library 4.8.0, Glide GIF Decoder Library 4.11.0, Glide GIF Decoder Library 4.8.0, Google Android Lint  Tool 26.6.0, google-gson 2.8.1, google-gson 2.8.5, google.firebase-Messaging 20.0, gradle-wrapper 5.6.4, grpcio-tools 1.30.0, Guava InternalFutureFailureAccess and InternalFutures 1.0.1, Guava ListenableFuture only 9999.0-empty-to-avoid-conflict-with-guava, Guava: Google Core Libraries for Java v23.5, Guava: Google Core Libraries for Java v26.0, Guava: Google Core Libraries for Java v27.0.1, Guava: Google Core Libraries for Java v27.1, harmony-reflect v1.6.1, Horizon7 Session Enhancement SDK 3.2.0, intel/clDNN v0.1.0, intel/mkl-dnn 0.18.1, IntelliJ IDEA Core 26.6.0, J2ObjC Annotations 1.1, JavaPoet 1.10.0, JavaPoet 1.8.0, Javassist 3.20.0-GA, </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8" id="128"/>
          <p:cNvPicPr>
            <a:picLocks noChangeAspect="true"/>
          </p:cNvPicPr>
          <p:nvPr/>
        </p:nvPicPr>
        <p:blipFill>
          <a:blip r:embed="rId128"/>
          <a:stretch>
            <a:fillRect/>
          </a:stretch>
        </p:blipFill>
        <p:spPr>
          <a:xfrm>
            <a:off x="0" y="127000"/>
            <a:ext cx="23749000" cy="16548100"/>
          </a:xfrm>
          <a:prstGeom prst="rect">
            <a:avLst/>
          </a:prstGeom>
        </p:spPr>
      </p:pic>
      <p:sp>
        <p:nvSpPr>
          <p:cNvPr name="TextBox 128" id="12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JavaWriter 2.5.0, Javax Inject from the JSR-330 Expert Group 1, JCommander Library 1.72, Jetbrains annotations 13.0, Jimfs Parent 1.1, js-xlsx 0.15.3, json-simple 1.1, Kotlin Compiler 26.6.0, Kotlin Stdlib 1.2.50, Kotlin Stdlib 1.3.31, Kotlin Stdlib 1.3.50, Kotlin Stdlib 1.3.61, kotlin-android-extensions 1.3.31, kotlin-android-extensions-runtime 1.3.31, kotlin-compiler 1.3.31, kotlin-reflect 1.3.31, kotlin-reflect 1.3.61, kotlin-script-runtime 1.3.31, kotlin-stdlib-common 1.2.50, kotlin-stdlib-common 1.3.31, kotlin-stdlib-common 1.3.50, kotlin-stdlib-common 1.3.61, kotlinx-coroutines-android 0.23.4, kotlinx-coroutines-core 0.23.4, kotlinx-coroutines-core-common 0.23.4, libphonenumber 8.10.9, google/libphonenumber v8.12.12, libphonenumber 8.8.1, libphonenumber v8.11.5, libphonenumber v8.12.12, libphonenumber v8.12.13, </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0" id="130"/>
          <p:cNvPicPr>
            <a:picLocks noChangeAspect="true"/>
          </p:cNvPicPr>
          <p:nvPr/>
        </p:nvPicPr>
        <p:blipFill>
          <a:blip r:embed="rId130"/>
          <a:stretch>
            <a:fillRect/>
          </a:stretch>
        </p:blipFill>
        <p:spPr>
          <a:xfrm>
            <a:off x="0" y="127000"/>
            <a:ext cx="23749000" cy="16548100"/>
          </a:xfrm>
          <a:prstGeom prst="rect">
            <a:avLst/>
          </a:prstGeom>
        </p:spPr>
      </p:pic>
      <p:sp>
        <p:nvSpPr>
          <p:cNvPr name="TextBox 130" id="13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libPhoneNumber-iOS 0.8.17, Material Components for Android 1.0.0, Material Components for Android 1.2.0-alpha02, mDNSResponder 878.30.4, mikeal/aws-sign 0.7.0, mikeal/oauth-sign 0.9.0, mkldnn 0.18.1, NineOldAndroids 2.4.0, nodejs-walker 1.0.7, objenesis 2.2, org.jetbrains.kotlin:kotlin-annotation-processing-gradle 1.3.31, org.jetbrains.kotlin:kotlin-stdlib-jdk7 1.3.31, org.jetbrains.kotlin:kotlin-stdlib-jdk7 1.3.61, org.jetbrains.kotlin:kotlin-stdlib-jdk8 1.3.31, org.jetbrains.kotlin:kotlin-stdlib-jdk8 1.3.61, Otto 1.3.5, picocli - a mighty tiny Command Line Interface 3.9.0, PowerMock 1.6.4, powermock-api-easymock 1.6.4, powermock-api-support 1.6.4, powermock-core 1.6.4, powermock-module-junit4 1.6.4, powermock-module-junit4-common 1.6.4, powermock-reflect </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2" id="132"/>
          <p:cNvPicPr>
            <a:picLocks noChangeAspect="true"/>
          </p:cNvPicPr>
          <p:nvPr/>
        </p:nvPicPr>
        <p:blipFill>
          <a:blip r:embed="rId132"/>
          <a:stretch>
            <a:fillRect/>
          </a:stretch>
        </p:blipFill>
        <p:spPr>
          <a:xfrm>
            <a:off x="0" y="127000"/>
            <a:ext cx="23749000" cy="16548100"/>
          </a:xfrm>
          <a:prstGeom prst="rect">
            <a:avLst/>
          </a:prstGeom>
        </p:spPr>
      </p:pic>
      <p:sp>
        <p:nvSpPr>
          <p:cNvPr name="TextBox 132" id="13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1.6.4, printj 1.1.2, recyclerviewHelper 24.0.0, Relinker 1.3.1, Request -  Simple HTTP Client 2.88.2, RxAndroid 2.x 2.1.1, rxjava 2.2.6, RxJS 6.5.3, RxJS 6.6.3, spdx-correct.js 3.1.0, spdx-correct.js v3.1.1, ssf 0.10.2, SubsamplingScaleImageView 3.10.0, Tink 1.5.0, Tink Cryptography API for Android 1.5.0, true-case-path 1.0.3, tslib 1.10.0, tunnel-agent 0.6.0, Unified AST 26.6.0, validate-npm-package-license 3.0.4, VersionedParcelable and friends 1.0.0, VersionedParcelable and friends 1.1.0, viewbinding 3.6.0, watchman 2.0.1, watchman 2.1.1, websocket-driver-node 0.7.3, websocket-driver-node 0.7.4, websocket-extensions-node 0.1.4, xml-name-validator 3.0.0, ZXing Core 3.4.0, zxing-android-embedded 4.1.0)</a:t>
            </a:r>
          </a:p>
          <a:p>
            <a:r>
              <a:rPr lang="en-US" sz="5000"/>
              <a:t>  </a:t>
            </a:r>
          </a:p>
          <a:p>
            <a:r>
              <a:rPr lang="en-US" sz="3700">
                <a:solidFill>
                  <a:srgbClr val="252525"/>
                </a:solidFill>
              </a:rPr>
              <a:t>Apache License</a:t>
            </a:r>
          </a:p>
          <a:p>
            <a:r>
              <a:rPr lang="en-US" sz="3700">
                <a:solidFill>
                  <a:srgbClr val="252525"/>
                </a:solidFill>
              </a:rPr>
              <a:t>Version 2.0, January 2004</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4" id="134"/>
          <p:cNvPicPr>
            <a:picLocks noChangeAspect="true"/>
          </p:cNvPicPr>
          <p:nvPr/>
        </p:nvPicPr>
        <p:blipFill>
          <a:blip r:embed="rId134"/>
          <a:stretch>
            <a:fillRect/>
          </a:stretch>
        </p:blipFill>
        <p:spPr>
          <a:xfrm>
            <a:off x="0" y="127000"/>
            <a:ext cx="23749000" cy="16548100"/>
          </a:xfrm>
          <a:prstGeom prst="rect">
            <a:avLst/>
          </a:prstGeom>
        </p:spPr>
      </p:pic>
      <p:sp>
        <p:nvSpPr>
          <p:cNvPr name="TextBox 134" id="13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t>
            </a:r>
          </a:p>
          <a:p>
            <a:r>
              <a:rPr lang="en-US" sz="5000"/>
              <a:t>  </a:t>
            </a:r>
          </a:p>
          <a:p>
            <a:r>
              <a:rPr lang="en-US" sz="5000"/>
              <a:t>  </a:t>
            </a:r>
          </a:p>
          <a:p>
            <a:r>
              <a:rPr lang="en-US" sz="3700">
                <a:solidFill>
                  <a:srgbClr val="252525"/>
                </a:solidFill>
              </a:rPr>
              <a:t/>
            </a:r>
          </a:p>
          <a:p>
            <a:r>
              <a:rPr lang="en-US" sz="5000"/>
              <a:t>  </a:t>
            </a:r>
          </a:p>
          <a:p>
            <a:r>
              <a:rPr lang="en-US" sz="3700">
                <a:solidFill>
                  <a:srgbClr val="252525"/>
                </a:solidFill>
              </a:rPr>
              <a:t>TERMS AND CONDITIONS FOR USE, REPRODUCTION, AND DISTRIBUTION</a:t>
            </a:r>
          </a:p>
          <a:p>
            <a:r>
              <a:rPr lang="en-US" sz="5000"/>
              <a:t>  </a:t>
            </a:r>
          </a:p>
          <a:p>
            <a:r>
              <a:rPr lang="en-US" sz="3700">
                <a:solidFill>
                  <a:srgbClr val="252525"/>
                </a:solidFill>
              </a:rPr>
              <a:t>1. Definitions.</a:t>
            </a:r>
          </a:p>
          <a:p>
            <a:r>
              <a:rPr lang="en-US" sz="5000"/>
              <a:t>  </a:t>
            </a:r>
          </a:p>
          <a:p>
            <a:r>
              <a:rPr lang="en-US" sz="3700">
                <a:solidFill>
                  <a:srgbClr val="252525"/>
                </a:solidFill>
              </a:rPr>
              <a:t>"License" shall mean the terms and conditions for use, reproduction, and</a:t>
            </a:r>
          </a:p>
          <a:p>
            <a:r>
              <a:rPr lang="en-US" sz="3700">
                <a:solidFill>
                  <a:srgbClr val="252525"/>
                </a:solidFill>
              </a:rPr>
              <a:t>distribution as defined by Sections 1 through 9 of this document.</a:t>
            </a:r>
          </a:p>
          <a:p>
            <a:r>
              <a:rPr lang="en-US" sz="5000"/>
              <a:t>  </a:t>
            </a:r>
          </a:p>
          <a:p>
            <a:r>
              <a:rPr lang="en-US" sz="3700">
                <a:solidFill>
                  <a:srgbClr val="252525"/>
                </a:solidFill>
              </a:rPr>
              <a:t>"Licensor" shall mean the copyright owner or entity authorized by the copyright</a:t>
            </a:r>
          </a:p>
          <a:p>
            <a:r>
              <a:rPr lang="en-US" sz="3700">
                <a:solidFill>
                  <a:srgbClr val="252525"/>
                </a:solidFill>
              </a:rPr>
              <a:t>owner that is granting the License.</a:t>
            </a:r>
          </a:p>
        </p:txBody>
      </p:sp>
      <p:pic>
        <p:nvPicPr>
          <p:cNvPr name="Picture 136" id="136">
            <a:hlinkClick r:id="rId137"/>
          </p:cNvPr>
          <p:cNvPicPr>
            <a:picLocks noChangeAspect="true"/>
          </p:cNvPicPr>
          <p:nvPr/>
        </p:nvPicPr>
        <p:blipFill>
          <a:blip r:embed="rId136"/>
          <a:stretch>
            <a:fillRect/>
          </a:stretch>
        </p:blipFill>
        <p:spPr>
          <a:xfrm>
            <a:off x="6451600" y="6553200"/>
            <a:ext cx="10820400" cy="1714500"/>
          </a:xfrm>
          <a:prstGeom prst="rect">
            <a:avLst/>
          </a:prstGeom>
        </p:spPr>
      </p:pic>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8" id="138"/>
          <p:cNvPicPr>
            <a:picLocks noChangeAspect="true"/>
          </p:cNvPicPr>
          <p:nvPr/>
        </p:nvPicPr>
        <p:blipFill>
          <a:blip r:embed="rId138"/>
          <a:stretch>
            <a:fillRect/>
          </a:stretch>
        </p:blipFill>
        <p:spPr>
          <a:xfrm>
            <a:off x="0" y="127000"/>
            <a:ext cx="23749000" cy="16548100"/>
          </a:xfrm>
          <a:prstGeom prst="rect">
            <a:avLst/>
          </a:prstGeom>
        </p:spPr>
      </p:pic>
      <p:sp>
        <p:nvSpPr>
          <p:cNvPr name="TextBox 138" id="13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"Legal Entity" shall mean the union of the acting entity and all other entities</a:t>
            </a:r>
          </a:p>
          <a:p>
            <a:r>
              <a:rPr lang="en-US" sz="3700">
                <a:solidFill>
                  <a:srgbClr val="252525"/>
                </a:solidFill>
              </a:rPr>
              <a:t>that control, are controlled by, or are under common control with that entity.</a:t>
            </a:r>
          </a:p>
          <a:p>
            <a:r>
              <a:rPr lang="en-US" sz="3700">
                <a:solidFill>
                  <a:srgbClr val="252525"/>
                </a:solidFill>
              </a:rPr>
              <a:t>For the purposes of this definition, "control" means (i) the power, direct or</a:t>
            </a:r>
          </a:p>
          <a:p>
            <a:r>
              <a:rPr lang="en-US" sz="3700">
                <a:solidFill>
                  <a:srgbClr val="252525"/>
                </a:solidFill>
              </a:rPr>
              <a:t>indirect, to cause the direction or management of such entity, whether by</a:t>
            </a:r>
          </a:p>
          <a:p>
            <a:r>
              <a:rPr lang="en-US" sz="3700">
                <a:solidFill>
                  <a:srgbClr val="252525"/>
                </a:solidFill>
              </a:rPr>
              <a:t>contract or otherwise, or (ii) ownership of fifty percent (50%) or more of the</a:t>
            </a:r>
          </a:p>
          <a:p>
            <a:r>
              <a:rPr lang="en-US" sz="3700">
                <a:solidFill>
                  <a:srgbClr val="252525"/>
                </a:solidFill>
              </a:rPr>
              <a:t>outstanding shares, or (iii) beneficial ownership of such entity.</a:t>
            </a:r>
          </a:p>
          <a:p>
            <a:r>
              <a:rPr lang="en-US" sz="5000"/>
              <a:t>  </a:t>
            </a:r>
          </a:p>
          <a:p>
            <a:r>
              <a:rPr lang="en-US" sz="3700">
                <a:solidFill>
                  <a:srgbClr val="252525"/>
                </a:solidFill>
              </a:rPr>
              <a:t>"You" (or "Your") shall mean an individual or Legal Entity exercising permissions</a:t>
            </a:r>
          </a:p>
          <a:p>
            <a:r>
              <a:rPr lang="en-US" sz="3700">
                <a:solidFill>
                  <a:srgbClr val="252525"/>
                </a:solidFill>
              </a:rPr>
              <a:t>granted by this License.</a:t>
            </a:r>
          </a:p>
          <a:p>
            <a:r>
              <a:rPr lang="en-US" sz="5000"/>
              <a:t>  </a:t>
            </a:r>
          </a:p>
          <a:p>
            <a:r>
              <a:rPr lang="en-US" sz="3700">
                <a:solidFill>
                  <a:srgbClr val="252525"/>
                </a:solidFill>
              </a:rPr>
              <a:t>"Source" form shall mean the preferred form for making modifications, including</a:t>
            </a:r>
          </a:p>
          <a:p>
            <a:r>
              <a:rPr lang="en-US" sz="3700">
                <a:solidFill>
                  <a:srgbClr val="252525"/>
                </a:solidFill>
              </a:rPr>
              <a:t>but not limited to software source code, documentation source, and configuration</a:t>
            </a: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0" id="140"/>
          <p:cNvPicPr>
            <a:picLocks noChangeAspect="true"/>
          </p:cNvPicPr>
          <p:nvPr/>
        </p:nvPicPr>
        <p:blipFill>
          <a:blip r:embed="rId140"/>
          <a:stretch>
            <a:fillRect/>
          </a:stretch>
        </p:blipFill>
        <p:spPr>
          <a:xfrm>
            <a:off x="0" y="127000"/>
            <a:ext cx="23749000" cy="16548100"/>
          </a:xfrm>
          <a:prstGeom prst="rect">
            <a:avLst/>
          </a:prstGeom>
        </p:spPr>
      </p:pic>
      <p:sp>
        <p:nvSpPr>
          <p:cNvPr name="TextBox 140" id="14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files.</a:t>
            </a:r>
          </a:p>
          <a:p>
            <a:r>
              <a:rPr lang="en-US" sz="5000"/>
              <a:t>  </a:t>
            </a:r>
          </a:p>
          <a:p>
            <a:r>
              <a:rPr lang="en-US" sz="3700">
                <a:solidFill>
                  <a:srgbClr val="252525"/>
                </a:solidFill>
              </a:rPr>
              <a:t>"Object" form shall mean any form resulting from mechanical transformation or</a:t>
            </a:r>
          </a:p>
          <a:p>
            <a:r>
              <a:rPr lang="en-US" sz="3700">
                <a:solidFill>
                  <a:srgbClr val="252525"/>
                </a:solidFill>
              </a:rPr>
              <a:t>translation of a Source form, including but not limited to compiled object code,</a:t>
            </a:r>
          </a:p>
          <a:p>
            <a:r>
              <a:rPr lang="en-US" sz="3700">
                <a:solidFill>
                  <a:srgbClr val="252525"/>
                </a:solidFill>
              </a:rPr>
              <a:t>generated documentation, and conversions to other media types.</a:t>
            </a:r>
          </a:p>
          <a:p>
            <a:r>
              <a:rPr lang="en-US" sz="5000"/>
              <a:t>  </a:t>
            </a:r>
          </a:p>
          <a:p>
            <a:r>
              <a:rPr lang="en-US" sz="3700">
                <a:solidFill>
                  <a:srgbClr val="252525"/>
                </a:solidFill>
              </a:rPr>
              <a:t>"Work" shall mean the work of authorship, whether in Source or Object form, made</a:t>
            </a:r>
          </a:p>
          <a:p>
            <a:r>
              <a:rPr lang="en-US" sz="3700">
                <a:solidFill>
                  <a:srgbClr val="252525"/>
                </a:solidFill>
              </a:rPr>
              <a:t>available under the License, as indicated by a copyright notice that is included</a:t>
            </a:r>
          </a:p>
          <a:p>
            <a:r>
              <a:rPr lang="en-US" sz="3700">
                <a:solidFill>
                  <a:srgbClr val="252525"/>
                </a:solidFill>
              </a:rPr>
              <a:t>in or attached to the work (an example is provided in the Appendix below).</a:t>
            </a:r>
          </a:p>
          <a:p>
            <a:r>
              <a:rPr lang="en-US" sz="5000"/>
              <a:t>  </a:t>
            </a:r>
          </a:p>
          <a:p>
            <a:r>
              <a:rPr lang="en-US" sz="3700">
                <a:solidFill>
                  <a:srgbClr val="252525"/>
                </a:solidFill>
              </a:rPr>
              <a:t>"Derivative Works" shall mean any work, whether in Source or Object form, that is</a:t>
            </a:r>
          </a:p>
          <a:p>
            <a:r>
              <a:rPr lang="en-US" sz="3700">
                <a:solidFill>
                  <a:srgbClr val="252525"/>
                </a:solidFill>
              </a:rPr>
              <a:t>based on (or derived from) the Work and for which the editorial revisions,</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2" id="142"/>
          <p:cNvPicPr>
            <a:picLocks noChangeAspect="true"/>
          </p:cNvPicPr>
          <p:nvPr/>
        </p:nvPicPr>
        <p:blipFill>
          <a:blip r:embed="rId142"/>
          <a:stretch>
            <a:fillRect/>
          </a:stretch>
        </p:blipFill>
        <p:spPr>
          <a:xfrm>
            <a:off x="0" y="127000"/>
            <a:ext cx="23749000" cy="16548100"/>
          </a:xfrm>
          <a:prstGeom prst="rect">
            <a:avLst/>
          </a:prstGeom>
        </p:spPr>
      </p:pic>
      <p:sp>
        <p:nvSpPr>
          <p:cNvPr name="TextBox 142" id="14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annotations, elaborations, or other modifications represent, as a whole, an</a:t>
            </a:r>
          </a:p>
          <a:p>
            <a:r>
              <a:rPr lang="en-US" sz="3700">
                <a:solidFill>
                  <a:srgbClr val="252525"/>
                </a:solidFill>
              </a:rPr>
              <a:t>original work of authorship. For the purposes of this License, Derivative Works</a:t>
            </a:r>
          </a:p>
          <a:p>
            <a:r>
              <a:rPr lang="en-US" sz="3700">
                <a:solidFill>
                  <a:srgbClr val="252525"/>
                </a:solidFill>
              </a:rPr>
              <a:t>shall not include works that remain separable from, or merely link (or bind by</a:t>
            </a:r>
          </a:p>
          <a:p>
            <a:r>
              <a:rPr lang="en-US" sz="3700">
                <a:solidFill>
                  <a:srgbClr val="252525"/>
                </a:solidFill>
              </a:rPr>
              <a:t>name) to the interfaces of, the Work and Derivative Works thereof.</a:t>
            </a:r>
          </a:p>
          <a:p>
            <a:r>
              <a:rPr lang="en-US" sz="5000"/>
              <a:t>  </a:t>
            </a:r>
          </a:p>
          <a:p>
            <a:r>
              <a:rPr lang="en-US" sz="3700">
                <a:solidFill>
                  <a:srgbClr val="252525"/>
                </a:solidFill>
              </a:rPr>
              <a:t>"Contribution" shall mean any work of authorship, including the original version</a:t>
            </a:r>
          </a:p>
          <a:p>
            <a:r>
              <a:rPr lang="en-US" sz="3700">
                <a:solidFill>
                  <a:srgbClr val="252525"/>
                </a:solidFill>
              </a:rPr>
              <a:t>of the Work and any modifications or additions to that Work or Derivative Works</a:t>
            </a:r>
          </a:p>
          <a:p>
            <a:r>
              <a:rPr lang="en-US" sz="3700">
                <a:solidFill>
                  <a:srgbClr val="252525"/>
                </a:solidFill>
              </a:rPr>
              <a:t>thereof, that is intentionally submitted to Licensor for inclusion in the Work by</a:t>
            </a:r>
          </a:p>
          <a:p>
            <a:r>
              <a:rPr lang="en-US" sz="3700">
                <a:solidFill>
                  <a:srgbClr val="252525"/>
                </a:solidFill>
              </a:rPr>
              <a:t>the copyright owner or by an individual or Legal Entity authorized to submit on</a:t>
            </a:r>
          </a:p>
          <a:p>
            <a:r>
              <a:rPr lang="en-US" sz="3700">
                <a:solidFill>
                  <a:srgbClr val="252525"/>
                </a:solidFill>
              </a:rPr>
              <a:t>behalf of the copyright owner. For the purposes of this definition, "submitted"</a:t>
            </a:r>
          </a:p>
          <a:p>
            <a:r>
              <a:rPr lang="en-US" sz="3700">
                <a:solidFill>
                  <a:srgbClr val="252525"/>
                </a:solidFill>
              </a:rPr>
              <a:t>means any form of electronic, verbal, or written communication sent to the</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4" id="144"/>
          <p:cNvPicPr>
            <a:picLocks noChangeAspect="true"/>
          </p:cNvPicPr>
          <p:nvPr/>
        </p:nvPicPr>
        <p:blipFill>
          <a:blip r:embed="rId144"/>
          <a:stretch>
            <a:fillRect/>
          </a:stretch>
        </p:blipFill>
        <p:spPr>
          <a:xfrm>
            <a:off x="0" y="127000"/>
            <a:ext cx="23749000" cy="16548100"/>
          </a:xfrm>
          <a:prstGeom prst="rect">
            <a:avLst/>
          </a:prstGeom>
        </p:spPr>
      </p:pic>
      <p:sp>
        <p:nvSpPr>
          <p:cNvPr name="TextBox 144" id="14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Licensor or its representatives, including but not limited to communication on</a:t>
            </a:r>
          </a:p>
          <a:p>
            <a:r>
              <a:rPr lang="en-US" sz="3700">
                <a:solidFill>
                  <a:srgbClr val="252525"/>
                </a:solidFill>
              </a:rPr>
              <a:t>electronic mailing lists, source code control systems, and issue tracking systems</a:t>
            </a:r>
          </a:p>
          <a:p>
            <a:r>
              <a:rPr lang="en-US" sz="3700">
                <a:solidFill>
                  <a:srgbClr val="252525"/>
                </a:solidFill>
              </a:rPr>
              <a:t>that are managed by, or on behalf of, the Licensor for the purpose of discussing</a:t>
            </a:r>
          </a:p>
          <a:p>
            <a:r>
              <a:rPr lang="en-US" sz="3700">
                <a:solidFill>
                  <a:srgbClr val="252525"/>
                </a:solidFill>
              </a:rPr>
              <a:t>and improving the Work, but excluding communication that is conspicuously marked</a:t>
            </a:r>
          </a:p>
          <a:p>
            <a:r>
              <a:rPr lang="en-US" sz="3700">
                <a:solidFill>
                  <a:srgbClr val="252525"/>
                </a:solidFill>
              </a:rPr>
              <a:t>or otherwise designated in writing by the copyright owner as "Not a</a:t>
            </a:r>
          </a:p>
          <a:p>
            <a:r>
              <a:rPr lang="en-US" sz="3700">
                <a:solidFill>
                  <a:srgbClr val="252525"/>
                </a:solidFill>
              </a:rPr>
              <a:t>Contribution."</a:t>
            </a:r>
          </a:p>
          <a:p>
            <a:r>
              <a:rPr lang="en-US" sz="5000"/>
              <a:t>  </a:t>
            </a:r>
          </a:p>
          <a:p>
            <a:r>
              <a:rPr lang="en-US" sz="3700">
                <a:solidFill>
                  <a:srgbClr val="252525"/>
                </a:solidFill>
              </a:rPr>
              <a:t>"Contributor" shall mean Licensor and any individual or Legal Entity on behalf of</a:t>
            </a:r>
          </a:p>
          <a:p>
            <a:r>
              <a:rPr lang="en-US" sz="3700">
                <a:solidFill>
                  <a:srgbClr val="252525"/>
                </a:solidFill>
              </a:rPr>
              <a:t>whom a Contribution has been received by Licensor and subsequently incorporated</a:t>
            </a:r>
          </a:p>
          <a:p>
            <a:r>
              <a:rPr lang="en-US" sz="3700">
                <a:solidFill>
                  <a:srgbClr val="252525"/>
                </a:solidFill>
              </a:rPr>
              <a:t>within the Work.</a:t>
            </a:r>
          </a:p>
          <a:p>
            <a:r>
              <a:rPr lang="en-US" sz="5000"/>
              <a:t>  </a:t>
            </a:r>
          </a:p>
          <a:p>
            <a:r>
              <a:rPr lang="en-US" sz="3700">
                <a:solidFill>
                  <a:srgbClr val="252525"/>
                </a:solidFill>
              </a:rPr>
              <a:t>2. Grant of Copyright License. Subject to </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6" id="146"/>
          <p:cNvPicPr>
            <a:picLocks noChangeAspect="true"/>
          </p:cNvPicPr>
          <p:nvPr/>
        </p:nvPicPr>
        <p:blipFill>
          <a:blip r:embed="rId146"/>
          <a:stretch>
            <a:fillRect/>
          </a:stretch>
        </p:blipFill>
        <p:spPr>
          <a:xfrm>
            <a:off x="0" y="127000"/>
            <a:ext cx="23749000" cy="16548100"/>
          </a:xfrm>
          <a:prstGeom prst="rect">
            <a:avLst/>
          </a:prstGeom>
        </p:spPr>
      </p:pic>
      <p:sp>
        <p:nvSpPr>
          <p:cNvPr name="TextBox 146" id="14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the terms and conditions of this</a:t>
            </a:r>
          </a:p>
          <a:p>
            <a:r>
              <a:rPr lang="en-US" sz="3700">
                <a:solidFill>
                  <a:srgbClr val="252525"/>
                </a:solidFill>
              </a:rPr>
              <a:t>License, each Contributor hereby grants to You a perpetual, worldwide,</a:t>
            </a:r>
          </a:p>
          <a:p>
            <a:r>
              <a:rPr lang="en-US" sz="3700">
                <a:solidFill>
                  <a:srgbClr val="252525"/>
                </a:solidFill>
              </a:rPr>
              <a:t>non-exclusive, no-charge, royalty-free, irrevocable copyright license to</a:t>
            </a:r>
          </a:p>
          <a:p>
            <a:r>
              <a:rPr lang="en-US" sz="3700">
                <a:solidFill>
                  <a:srgbClr val="252525"/>
                </a:solidFill>
              </a:rPr>
              <a:t>reproduce, prepare Derivative Works of, publicly display, publicly perform,</a:t>
            </a:r>
          </a:p>
          <a:p>
            <a:r>
              <a:rPr lang="en-US" sz="3700">
                <a:solidFill>
                  <a:srgbClr val="252525"/>
                </a:solidFill>
              </a:rPr>
              <a:t>sublicense, and distribute the Work and such Derivative Works in Source or Object</a:t>
            </a:r>
          </a:p>
          <a:p>
            <a:r>
              <a:rPr lang="en-US" sz="3700">
                <a:solidFill>
                  <a:srgbClr val="252525"/>
                </a:solidFill>
              </a:rPr>
              <a:t>form.</a:t>
            </a:r>
          </a:p>
          <a:p>
            <a:r>
              <a:rPr lang="en-US" sz="5000"/>
              <a:t>  </a:t>
            </a:r>
          </a:p>
          <a:p>
            <a:r>
              <a:rPr lang="en-US" sz="3700">
                <a:solidFill>
                  <a:srgbClr val="252525"/>
                </a:solidFill>
              </a:rPr>
              <a:t>3. Grant of Patent License. Subject to the terms and conditions of this License,</a:t>
            </a:r>
          </a:p>
          <a:p>
            <a:r>
              <a:rPr lang="en-US" sz="3700">
                <a:solidFill>
                  <a:srgbClr val="252525"/>
                </a:solidFill>
              </a:rPr>
              <a:t>each Contributor hereby grants to You a perpetual, worldwide, non-exclusive,</a:t>
            </a:r>
          </a:p>
          <a:p>
            <a:r>
              <a:rPr lang="en-US" sz="3700">
                <a:solidFill>
                  <a:srgbClr val="252525"/>
                </a:solidFill>
              </a:rPr>
              <a:t>no-charge, royalty-free, irrevocable (except as stated in this section) patent</a:t>
            </a:r>
          </a:p>
          <a:p>
            <a:r>
              <a:rPr lang="en-US" sz="3700">
                <a:solidFill>
                  <a:srgbClr val="252525"/>
                </a:solidFill>
              </a:rPr>
              <a:t>license to make, have made, use, offer to sell, sell, import, and otherwise</a:t>
            </a:r>
          </a:p>
          <a:p>
            <a:r>
              <a:rPr lang="en-US" sz="3700">
                <a:solidFill>
                  <a:srgbClr val="252525"/>
                </a:solidFill>
              </a:rPr>
              <a:t>transfer the Work, where such license applies only to those patent claims</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8" id="148"/>
          <p:cNvPicPr>
            <a:picLocks noChangeAspect="true"/>
          </p:cNvPicPr>
          <p:nvPr/>
        </p:nvPicPr>
        <p:blipFill>
          <a:blip r:embed="rId148"/>
          <a:stretch>
            <a:fillRect/>
          </a:stretch>
        </p:blipFill>
        <p:spPr>
          <a:xfrm>
            <a:off x="0" y="127000"/>
            <a:ext cx="23749000" cy="16548100"/>
          </a:xfrm>
          <a:prstGeom prst="rect">
            <a:avLst/>
          </a:prstGeom>
        </p:spPr>
      </p:pic>
      <p:sp>
        <p:nvSpPr>
          <p:cNvPr name="TextBox 148" id="14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licensable by such Contributor that are necessarily infringed by their</a:t>
            </a:r>
          </a:p>
          <a:p>
            <a:r>
              <a:rPr lang="en-US" sz="3700">
                <a:solidFill>
                  <a:srgbClr val="252525"/>
                </a:solidFill>
              </a:rPr>
              <a:t>Contribution(s) alone or by combination of their Contribution(s) with the Work to</a:t>
            </a:r>
          </a:p>
          <a:p>
            <a:r>
              <a:rPr lang="en-US" sz="3700">
                <a:solidFill>
                  <a:srgbClr val="252525"/>
                </a:solidFill>
              </a:rPr>
              <a:t>which such Contribution(s) was submitted. If You institute patent litigation</a:t>
            </a:r>
          </a:p>
          <a:p>
            <a:r>
              <a:rPr lang="en-US" sz="3700">
                <a:solidFill>
                  <a:srgbClr val="252525"/>
                </a:solidFill>
              </a:rPr>
              <a:t>against any entity (including a cross-claim or counterclaim in a lawsuit)</a:t>
            </a:r>
          </a:p>
          <a:p>
            <a:r>
              <a:rPr lang="en-US" sz="3700">
                <a:solidFill>
                  <a:srgbClr val="252525"/>
                </a:solidFill>
              </a:rPr>
              <a:t>alleging that the Work or a Contribution incorporated within the Work constitutes</a:t>
            </a:r>
          </a:p>
          <a:p>
            <a:r>
              <a:rPr lang="en-US" sz="3700">
                <a:solidFill>
                  <a:srgbClr val="252525"/>
                </a:solidFill>
              </a:rPr>
              <a:t>direct or contributory patent infringement, then any patent licenses granted to</a:t>
            </a:r>
          </a:p>
          <a:p>
            <a:r>
              <a:rPr lang="en-US" sz="3700">
                <a:solidFill>
                  <a:srgbClr val="252525"/>
                </a:solidFill>
              </a:rPr>
              <a:t>You under this License for that Work shall terminate as of the date such</a:t>
            </a:r>
          </a:p>
          <a:p>
            <a:r>
              <a:rPr lang="en-US" sz="3700">
                <a:solidFill>
                  <a:srgbClr val="252525"/>
                </a:solidFill>
              </a:rPr>
              <a:t>litigation is filed.</a:t>
            </a:r>
          </a:p>
          <a:p>
            <a:r>
              <a:rPr lang="en-US" sz="5000"/>
              <a:t>  </a:t>
            </a:r>
          </a:p>
          <a:p>
            <a:r>
              <a:rPr lang="en-US" sz="3700">
                <a:solidFill>
                  <a:srgbClr val="252525"/>
                </a:solidFill>
              </a:rPr>
              <a:t>4. Redistribution. You may reproduce and distribute copies of the Work or</a:t>
            </a:r>
          </a:p>
          <a:p>
            <a:r>
              <a:rPr lang="en-US" sz="3700">
                <a:solidFill>
                  <a:srgbClr val="252525"/>
                </a:solidFill>
              </a:rPr>
              <a:t>Derivative Works thereof in any medium, with or without modifications, and in</a:t>
            </a:r>
          </a:p>
          <a:p>
            <a:r>
              <a:rPr lang="en-US" sz="3700">
                <a:solidFill>
                  <a:srgbClr val="252525"/>
                </a:solidFill>
              </a:rPr>
              <a:t>Source or Object form, provided that You </a:t>
            </a:r>
          </a:p>
        </p:txBody>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0" id="150"/>
          <p:cNvPicPr>
            <a:picLocks noChangeAspect="true"/>
          </p:cNvPicPr>
          <p:nvPr/>
        </p:nvPicPr>
        <p:blipFill>
          <a:blip r:embed="rId150"/>
          <a:stretch>
            <a:fillRect/>
          </a:stretch>
        </p:blipFill>
        <p:spPr>
          <a:xfrm>
            <a:off x="0" y="127000"/>
            <a:ext cx="23749000" cy="16548100"/>
          </a:xfrm>
          <a:prstGeom prst="rect">
            <a:avLst/>
          </a:prstGeom>
        </p:spPr>
      </p:pic>
      <p:sp>
        <p:nvSpPr>
          <p:cNvPr name="TextBox 150" id="15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meet the following conditions:</a:t>
            </a:r>
          </a:p>
          <a:p>
            <a:r>
              <a:rPr lang="en-US" sz="5000"/>
              <a:t>  </a:t>
            </a:r>
          </a:p>
          <a:p>
            <a:r>
              <a:rPr lang="en-US" sz="3700">
                <a:solidFill>
                  <a:srgbClr val="252525"/>
                </a:solidFill>
              </a:rPr>
              <a:t>  a. You must give any other recipients of the Work or Derivative Works a copy of</a:t>
            </a:r>
          </a:p>
          <a:p>
            <a:r>
              <a:rPr lang="en-US" sz="3700">
                <a:solidFill>
                  <a:srgbClr val="252525"/>
                </a:solidFill>
              </a:rPr>
              <a:t>    this License; and</a:t>
            </a:r>
          </a:p>
          <a:p>
            <a:r>
              <a:rPr lang="en-US" sz="5000"/>
              <a:t>  </a:t>
            </a:r>
          </a:p>
          <a:p>
            <a:r>
              <a:rPr lang="en-US" sz="3700">
                <a:solidFill>
                  <a:srgbClr val="252525"/>
                </a:solidFill>
              </a:rPr>
              <a:t>  b. You must cause any modified files to carry prominent notices stating that</a:t>
            </a:r>
          </a:p>
          <a:p>
            <a:r>
              <a:rPr lang="en-US" sz="3700">
                <a:solidFill>
                  <a:srgbClr val="252525"/>
                </a:solidFill>
              </a:rPr>
              <a:t>    You changed the files; and</a:t>
            </a:r>
          </a:p>
          <a:p>
            <a:r>
              <a:rPr lang="en-US" sz="5000"/>
              <a:t>  </a:t>
            </a:r>
          </a:p>
          <a:p>
            <a:r>
              <a:rPr lang="en-US" sz="3700">
                <a:solidFill>
                  <a:srgbClr val="252525"/>
                </a:solidFill>
              </a:rPr>
              <a:t>  c. You must retain, in the Source form of any Derivative Works that You</a:t>
            </a:r>
          </a:p>
          <a:p>
            <a:r>
              <a:rPr lang="en-US" sz="3700">
                <a:solidFill>
                  <a:srgbClr val="252525"/>
                </a:solidFill>
              </a:rPr>
              <a:t>    distribute, all copyright, patent, trademark, and attribution notices from</a:t>
            </a:r>
          </a:p>
          <a:p>
            <a:r>
              <a:rPr lang="en-US" sz="3700">
                <a:solidFill>
                  <a:srgbClr val="252525"/>
                </a:solidFill>
              </a:rPr>
              <a:t>    the Source form of the Work, excluding those notices that do not pertain to</a:t>
            </a:r>
          </a:p>
          <a:p>
            <a:r>
              <a:rPr lang="en-US" sz="3700">
                <a:solidFill>
                  <a:srgbClr val="252525"/>
                </a:solidFill>
              </a:rPr>
              <a:t>    any part of the Derivative Works; and</a:t>
            </a:r>
          </a:p>
          <a:p>
            <a:r>
              <a:rPr lang="en-US" sz="5000"/>
              <a:t>  </a:t>
            </a:r>
          </a:p>
          <a:p>
            <a:r>
              <a:rPr lang="en-US" sz="3700">
                <a:solidFill>
                  <a:srgbClr val="252525"/>
                </a:solidFill>
              </a:rPr>
              <a:t>  d. If the Work includes a "NOTICE" text file as part of its distribution, then</a:t>
            </a:r>
          </a:p>
          <a:p>
            <a:r>
              <a:rPr lang="en-US" sz="3700">
                <a:solidFill>
                  <a:srgbClr val="252525"/>
                </a:solidFill>
              </a:rPr>
              <a:t>    any Derivative Works that You distribute </a:t>
            </a:r>
          </a:p>
        </p:txBody>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2" id="152"/>
          <p:cNvPicPr>
            <a:picLocks noChangeAspect="true"/>
          </p:cNvPicPr>
          <p:nvPr/>
        </p:nvPicPr>
        <p:blipFill>
          <a:blip r:embed="rId152"/>
          <a:stretch>
            <a:fillRect/>
          </a:stretch>
        </p:blipFill>
        <p:spPr>
          <a:xfrm>
            <a:off x="0" y="127000"/>
            <a:ext cx="23749000" cy="16548100"/>
          </a:xfrm>
          <a:prstGeom prst="rect">
            <a:avLst/>
          </a:prstGeom>
        </p:spPr>
      </p:pic>
      <p:sp>
        <p:nvSpPr>
          <p:cNvPr name="TextBox 152" id="15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must include a readable copy of the</a:t>
            </a:r>
          </a:p>
          <a:p>
            <a:r>
              <a:rPr lang="en-US" sz="3700">
                <a:solidFill>
                  <a:srgbClr val="252525"/>
                </a:solidFill>
              </a:rPr>
              <a:t>    attribution notices contained within such NOTICE file, excluding those</a:t>
            </a:r>
          </a:p>
          <a:p>
            <a:r>
              <a:rPr lang="en-US" sz="3700">
                <a:solidFill>
                  <a:srgbClr val="252525"/>
                </a:solidFill>
              </a:rPr>
              <a:t>    notices that do not pertain to any part of the Derivative Works, in at least</a:t>
            </a:r>
          </a:p>
          <a:p>
            <a:r>
              <a:rPr lang="en-US" sz="3700">
                <a:solidFill>
                  <a:srgbClr val="252525"/>
                </a:solidFill>
              </a:rPr>
              <a:t>    one of the following places: within a NOTICE text file distributed as part of</a:t>
            </a:r>
          </a:p>
          <a:p>
            <a:r>
              <a:rPr lang="en-US" sz="3700">
                <a:solidFill>
                  <a:srgbClr val="252525"/>
                </a:solidFill>
              </a:rPr>
              <a:t>    the Derivative Works; within the Source form or documentation, if provided</a:t>
            </a:r>
          </a:p>
          <a:p>
            <a:r>
              <a:rPr lang="en-US" sz="3700">
                <a:solidFill>
                  <a:srgbClr val="252525"/>
                </a:solidFill>
              </a:rPr>
              <a:t>    along with the Derivative Works; or, within a display generated by the</a:t>
            </a:r>
          </a:p>
          <a:p>
            <a:r>
              <a:rPr lang="en-US" sz="3700">
                <a:solidFill>
                  <a:srgbClr val="252525"/>
                </a:solidFill>
              </a:rPr>
              <a:t>    Derivative Works, if and wherever such third-party notices normally appear.</a:t>
            </a:r>
          </a:p>
          <a:p>
            <a:r>
              <a:rPr lang="en-US" sz="3700">
                <a:solidFill>
                  <a:srgbClr val="252525"/>
                </a:solidFill>
              </a:rPr>
              <a:t>    The contents of the NOTICE file are for informational purposes only and do</a:t>
            </a:r>
          </a:p>
          <a:p>
            <a:r>
              <a:rPr lang="en-US" sz="3700">
                <a:solidFill>
                  <a:srgbClr val="252525"/>
                </a:solidFill>
              </a:rPr>
              <a:t>    not modify the License. You may add Your own attribution notices within</a:t>
            </a:r>
          </a:p>
          <a:p>
            <a:r>
              <a:rPr lang="en-US" sz="3700">
                <a:solidFill>
                  <a:srgbClr val="252525"/>
                </a:solidFill>
              </a:rPr>
              <a:t>    Derivative Works that You distribute, alongside or as an addendum to the</a:t>
            </a:r>
          </a:p>
          <a:p>
            <a:r>
              <a:rPr lang="en-US" sz="3700">
                <a:solidFill>
                  <a:srgbClr val="252525"/>
                </a:solidFill>
              </a:rPr>
              <a:t>    NOTICE text from the Work, provided that such additional attribution notices</a:t>
            </a:r>
          </a:p>
        </p:txBody>
      </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4" id="154"/>
          <p:cNvPicPr>
            <a:picLocks noChangeAspect="true"/>
          </p:cNvPicPr>
          <p:nvPr/>
        </p:nvPicPr>
        <p:blipFill>
          <a:blip r:embed="rId154"/>
          <a:stretch>
            <a:fillRect/>
          </a:stretch>
        </p:blipFill>
        <p:spPr>
          <a:xfrm>
            <a:off x="0" y="127000"/>
            <a:ext cx="23749000" cy="16548100"/>
          </a:xfrm>
          <a:prstGeom prst="rect">
            <a:avLst/>
          </a:prstGeom>
        </p:spPr>
      </p:pic>
      <p:sp>
        <p:nvSpPr>
          <p:cNvPr name="TextBox 154" id="15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cannot be construed as modifying the License.</a:t>
            </a:r>
          </a:p>
          <a:p>
            <a:r>
              <a:rPr lang="en-US" sz="5000"/>
              <a:t>  </a:t>
            </a:r>
          </a:p>
          <a:p>
            <a:r>
              <a:rPr lang="en-US" sz="3700">
                <a:solidFill>
                  <a:srgbClr val="252525"/>
                </a:solidFill>
              </a:rPr>
              <a:t>You may add Your own copyright statement to Your modifications and may provide</a:t>
            </a:r>
          </a:p>
          <a:p>
            <a:r>
              <a:rPr lang="en-US" sz="3700">
                <a:solidFill>
                  <a:srgbClr val="252525"/>
                </a:solidFill>
              </a:rPr>
              <a:t>additional or different license terms and conditions for use, reproduction, or</a:t>
            </a:r>
          </a:p>
          <a:p>
            <a:r>
              <a:rPr lang="en-US" sz="3700">
                <a:solidFill>
                  <a:srgbClr val="252525"/>
                </a:solidFill>
              </a:rPr>
              <a:t>distribution of Your modifications, or for any such Derivative Works as a whole,</a:t>
            </a:r>
          </a:p>
          <a:p>
            <a:r>
              <a:rPr lang="en-US" sz="3700">
                <a:solidFill>
                  <a:srgbClr val="252525"/>
                </a:solidFill>
              </a:rPr>
              <a:t>provided Your use, reproduction, and distribution of the Work otherwise complies</a:t>
            </a:r>
          </a:p>
          <a:p>
            <a:r>
              <a:rPr lang="en-US" sz="3700">
                <a:solidFill>
                  <a:srgbClr val="252525"/>
                </a:solidFill>
              </a:rPr>
              <a:t>with the conditions stated in this License.</a:t>
            </a:r>
          </a:p>
          <a:p>
            <a:r>
              <a:rPr lang="en-US" sz="5000"/>
              <a:t>  </a:t>
            </a:r>
          </a:p>
          <a:p>
            <a:r>
              <a:rPr lang="en-US" sz="3700">
                <a:solidFill>
                  <a:srgbClr val="252525"/>
                </a:solidFill>
              </a:rPr>
              <a:t>5. Submission of Contributions. Unless You explicitly state otherwise, any</a:t>
            </a:r>
          </a:p>
          <a:p>
            <a:r>
              <a:rPr lang="en-US" sz="3700">
                <a:solidFill>
                  <a:srgbClr val="252525"/>
                </a:solidFill>
              </a:rPr>
              <a:t>Contribution intentionally submitted for inclusion in the Work by You to the</a:t>
            </a:r>
          </a:p>
          <a:p>
            <a:r>
              <a:rPr lang="en-US" sz="3700">
                <a:solidFill>
                  <a:srgbClr val="252525"/>
                </a:solidFill>
              </a:rPr>
              <a:t>Licensor shall be under the terms and conditions of this License, without any</a:t>
            </a:r>
          </a:p>
        </p:txBody>
      </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6" id="156"/>
          <p:cNvPicPr>
            <a:picLocks noChangeAspect="true"/>
          </p:cNvPicPr>
          <p:nvPr/>
        </p:nvPicPr>
        <p:blipFill>
          <a:blip r:embed="rId156"/>
          <a:stretch>
            <a:fillRect/>
          </a:stretch>
        </p:blipFill>
        <p:spPr>
          <a:xfrm>
            <a:off x="0" y="127000"/>
            <a:ext cx="23749000" cy="16548100"/>
          </a:xfrm>
          <a:prstGeom prst="rect">
            <a:avLst/>
          </a:prstGeom>
        </p:spPr>
      </p:pic>
      <p:sp>
        <p:nvSpPr>
          <p:cNvPr name="TextBox 156" id="15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additional terms or conditions. Notwithstanding the above, nothing herein shall</a:t>
            </a:r>
          </a:p>
          <a:p>
            <a:r>
              <a:rPr lang="en-US" sz="3700">
                <a:solidFill>
                  <a:srgbClr val="252525"/>
                </a:solidFill>
              </a:rPr>
              <a:t>supersede or modify the terms of any separate license agreement you may have</a:t>
            </a:r>
          </a:p>
          <a:p>
            <a:r>
              <a:rPr lang="en-US" sz="3700">
                <a:solidFill>
                  <a:srgbClr val="252525"/>
                </a:solidFill>
              </a:rPr>
              <a:t>executed with Licensor regarding such Contributions.</a:t>
            </a:r>
          </a:p>
          <a:p>
            <a:r>
              <a:rPr lang="en-US" sz="5000"/>
              <a:t>  </a:t>
            </a:r>
          </a:p>
          <a:p>
            <a:r>
              <a:rPr lang="en-US" sz="3700">
                <a:solidFill>
                  <a:srgbClr val="252525"/>
                </a:solidFill>
              </a:rPr>
              <a:t>6. Trademarks. This License does not grant permission to use the trade names,</a:t>
            </a:r>
          </a:p>
          <a:p>
            <a:r>
              <a:rPr lang="en-US" sz="3700">
                <a:solidFill>
                  <a:srgbClr val="252525"/>
                </a:solidFill>
              </a:rPr>
              <a:t>trademarks, service marks, or product names of the Licensor, except as required</a:t>
            </a:r>
          </a:p>
          <a:p>
            <a:r>
              <a:rPr lang="en-US" sz="3700">
                <a:solidFill>
                  <a:srgbClr val="252525"/>
                </a:solidFill>
              </a:rPr>
              <a:t>for reasonable and customary use in describing the origin of the Work and</a:t>
            </a:r>
          </a:p>
          <a:p>
            <a:r>
              <a:rPr lang="en-US" sz="3700">
                <a:solidFill>
                  <a:srgbClr val="252525"/>
                </a:solidFill>
              </a:rPr>
              <a:t>reproducing the content of the NOTICE file.</a:t>
            </a:r>
          </a:p>
          <a:p>
            <a:r>
              <a:rPr lang="en-US" sz="5000"/>
              <a:t>  </a:t>
            </a:r>
          </a:p>
          <a:p>
            <a:r>
              <a:rPr lang="en-US" sz="3700">
                <a:solidFill>
                  <a:srgbClr val="252525"/>
                </a:solidFill>
              </a:rPr>
              <a:t>7. Disclaimer of Warranty. Unless required by applicable law or agreed to in</a:t>
            </a:r>
          </a:p>
          <a:p>
            <a:r>
              <a:rPr lang="en-US" sz="3700">
                <a:solidFill>
                  <a:srgbClr val="252525"/>
                </a:solidFill>
              </a:rPr>
              <a:t>writing, Licensor provides the Work (and each Contributor provides its</a:t>
            </a:r>
          </a:p>
          <a:p>
            <a:r>
              <a:rPr lang="en-US" sz="3700">
                <a:solidFill>
                  <a:srgbClr val="252525"/>
                </a:solidFill>
              </a:rPr>
              <a:t>Contributions) on an "AS IS" BASIS, </a:t>
            </a:r>
          </a:p>
        </p:txBody>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8" id="158"/>
          <p:cNvPicPr>
            <a:picLocks noChangeAspect="true"/>
          </p:cNvPicPr>
          <p:nvPr/>
        </p:nvPicPr>
        <p:blipFill>
          <a:blip r:embed="rId158"/>
          <a:stretch>
            <a:fillRect/>
          </a:stretch>
        </p:blipFill>
        <p:spPr>
          <a:xfrm>
            <a:off x="0" y="127000"/>
            <a:ext cx="23749000" cy="16548100"/>
          </a:xfrm>
          <a:prstGeom prst="rect">
            <a:avLst/>
          </a:prstGeom>
        </p:spPr>
      </p:pic>
      <p:sp>
        <p:nvSpPr>
          <p:cNvPr name="TextBox 158" id="15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WITHOUT WARRANTIES OR CONDITIONS OF ANY KIND,</a:t>
            </a:r>
          </a:p>
          <a:p>
            <a:r>
              <a:rPr lang="en-US" sz="3700">
                <a:solidFill>
                  <a:srgbClr val="252525"/>
                </a:solidFill>
              </a:rPr>
              <a:t>either express or implied, including, without limitation, any warranties or</a:t>
            </a:r>
          </a:p>
          <a:p>
            <a:r>
              <a:rPr lang="en-US" sz="3700">
                <a:solidFill>
                  <a:srgbClr val="252525"/>
                </a:solidFill>
              </a:rPr>
              <a:t>conditions of TITLE, NON-INFRINGEMENT, MERCHANTABILITY, or FITNESS FOR A</a:t>
            </a:r>
          </a:p>
          <a:p>
            <a:r>
              <a:rPr lang="en-US" sz="3700">
                <a:solidFill>
                  <a:srgbClr val="252525"/>
                </a:solidFill>
              </a:rPr>
              <a:t>PARTICULAR PURPOSE. You are solely responsible for determining the</a:t>
            </a:r>
          </a:p>
          <a:p>
            <a:r>
              <a:rPr lang="en-US" sz="3700">
                <a:solidFill>
                  <a:srgbClr val="252525"/>
                </a:solidFill>
              </a:rPr>
              <a:t>appropriateness of using or redistributing the Work and assume any risks</a:t>
            </a:r>
          </a:p>
          <a:p>
            <a:r>
              <a:rPr lang="en-US" sz="3700">
                <a:solidFill>
                  <a:srgbClr val="252525"/>
                </a:solidFill>
              </a:rPr>
              <a:t>associated with Your exercise of permissions under this License.</a:t>
            </a:r>
          </a:p>
          <a:p>
            <a:r>
              <a:rPr lang="en-US" sz="5000"/>
              <a:t>  </a:t>
            </a:r>
          </a:p>
          <a:p>
            <a:r>
              <a:rPr lang="en-US" sz="3700">
                <a:solidFill>
                  <a:srgbClr val="252525"/>
                </a:solidFill>
              </a:rPr>
              <a:t>8. Limitation of Liability. In no event and under no legal theory, whether in</a:t>
            </a:r>
          </a:p>
          <a:p>
            <a:r>
              <a:rPr lang="en-US" sz="3700">
                <a:solidFill>
                  <a:srgbClr val="252525"/>
                </a:solidFill>
              </a:rPr>
              <a:t>tort (including negligence), contract, or otherwise, unless required by</a:t>
            </a:r>
          </a:p>
          <a:p>
            <a:r>
              <a:rPr lang="en-US" sz="3700">
                <a:solidFill>
                  <a:srgbClr val="252525"/>
                </a:solidFill>
              </a:rPr>
              <a:t>applicable law (such as deliberate and grossly negligent acts) or agreed to in</a:t>
            </a:r>
          </a:p>
          <a:p>
            <a:r>
              <a:rPr lang="en-US" sz="3700">
                <a:solidFill>
                  <a:srgbClr val="252525"/>
                </a:solidFill>
              </a:rPr>
              <a:t>writing, shall any Contributor be liable to You for damages, including any</a:t>
            </a:r>
          </a:p>
        </p:txBody>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0" id="160"/>
          <p:cNvPicPr>
            <a:picLocks noChangeAspect="true"/>
          </p:cNvPicPr>
          <p:nvPr/>
        </p:nvPicPr>
        <p:blipFill>
          <a:blip r:embed="rId160"/>
          <a:stretch>
            <a:fillRect/>
          </a:stretch>
        </p:blipFill>
        <p:spPr>
          <a:xfrm>
            <a:off x="0" y="127000"/>
            <a:ext cx="23749000" cy="16548100"/>
          </a:xfrm>
          <a:prstGeom prst="rect">
            <a:avLst/>
          </a:prstGeom>
        </p:spPr>
      </p:pic>
      <p:sp>
        <p:nvSpPr>
          <p:cNvPr name="TextBox 160" id="16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direct, indirect, special, incidental, or consequential damages of any character</a:t>
            </a:r>
          </a:p>
          <a:p>
            <a:r>
              <a:rPr lang="en-US" sz="3700">
                <a:solidFill>
                  <a:srgbClr val="252525"/>
                </a:solidFill>
              </a:rPr>
              <a:t>arising as a result of this License or out of the use or inability to use the</a:t>
            </a:r>
          </a:p>
          <a:p>
            <a:r>
              <a:rPr lang="en-US" sz="3700">
                <a:solidFill>
                  <a:srgbClr val="252525"/>
                </a:solidFill>
              </a:rPr>
              <a:t>Work (including but not limited to damages for loss of goodwill, work stoppage,</a:t>
            </a:r>
          </a:p>
          <a:p>
            <a:r>
              <a:rPr lang="en-US" sz="3700">
                <a:solidFill>
                  <a:srgbClr val="252525"/>
                </a:solidFill>
              </a:rPr>
              <a:t>computer failure or malfunction, or any and all other commercial damages or</a:t>
            </a:r>
          </a:p>
          <a:p>
            <a:r>
              <a:rPr lang="en-US" sz="3700">
                <a:solidFill>
                  <a:srgbClr val="252525"/>
                </a:solidFill>
              </a:rPr>
              <a:t>losses), even if such Contributor has been advised of the possibility of such</a:t>
            </a:r>
          </a:p>
          <a:p>
            <a:r>
              <a:rPr lang="en-US" sz="3700">
                <a:solidFill>
                  <a:srgbClr val="252525"/>
                </a:solidFill>
              </a:rPr>
              <a:t>damages.</a:t>
            </a:r>
          </a:p>
          <a:p>
            <a:r>
              <a:rPr lang="en-US" sz="5000"/>
              <a:t>  </a:t>
            </a:r>
          </a:p>
          <a:p>
            <a:r>
              <a:rPr lang="en-US" sz="3700">
                <a:solidFill>
                  <a:srgbClr val="252525"/>
                </a:solidFill>
              </a:rPr>
              <a:t>9. Accepting Warranty or Additional Liability. While redistributing the Work or</a:t>
            </a:r>
          </a:p>
          <a:p>
            <a:r>
              <a:rPr lang="en-US" sz="3700">
                <a:solidFill>
                  <a:srgbClr val="252525"/>
                </a:solidFill>
              </a:rPr>
              <a:t>Derivative Works thereof, You may choose to offer, and charge a fee for,</a:t>
            </a:r>
          </a:p>
          <a:p>
            <a:r>
              <a:rPr lang="en-US" sz="3700">
                <a:solidFill>
                  <a:srgbClr val="252525"/>
                </a:solidFill>
              </a:rPr>
              <a:t>acceptance of support, warranty, indemnity, or other liability obligations and/or</a:t>
            </a:r>
          </a:p>
          <a:p>
            <a:r>
              <a:rPr lang="en-US" sz="3700">
                <a:solidFill>
                  <a:srgbClr val="252525"/>
                </a:solidFill>
              </a:rPr>
              <a:t>rights consistent with this License. </a:t>
            </a:r>
          </a:p>
        </p:txBody>
      </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2" id="162"/>
          <p:cNvPicPr>
            <a:picLocks noChangeAspect="true"/>
          </p:cNvPicPr>
          <p:nvPr/>
        </p:nvPicPr>
        <p:blipFill>
          <a:blip r:embed="rId162"/>
          <a:stretch>
            <a:fillRect/>
          </a:stretch>
        </p:blipFill>
        <p:spPr>
          <a:xfrm>
            <a:off x="0" y="127000"/>
            <a:ext cx="23749000" cy="16548100"/>
          </a:xfrm>
          <a:prstGeom prst="rect">
            <a:avLst/>
          </a:prstGeom>
        </p:spPr>
      </p:pic>
      <p:sp>
        <p:nvSpPr>
          <p:cNvPr name="TextBox 162" id="16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However, in accepting such obligations, You</a:t>
            </a:r>
          </a:p>
          <a:p>
            <a:r>
              <a:rPr lang="en-US" sz="3700">
                <a:solidFill>
                  <a:srgbClr val="252525"/>
                </a:solidFill>
              </a:rPr>
              <a:t>may act only on Your own behalf and on Your sole responsibility, not on behalf of</a:t>
            </a:r>
          </a:p>
          <a:p>
            <a:r>
              <a:rPr lang="en-US" sz="3700">
                <a:solidFill>
                  <a:srgbClr val="252525"/>
                </a:solidFill>
              </a:rPr>
              <a:t>any other Contributor, and only if You agree to indemnify, defend, and hold each</a:t>
            </a:r>
          </a:p>
          <a:p>
            <a:r>
              <a:rPr lang="en-US" sz="3700">
                <a:solidFill>
                  <a:srgbClr val="252525"/>
                </a:solidFill>
              </a:rPr>
              <a:t>Contributor harmless for any liability incurred by, or claims asserted against,</a:t>
            </a:r>
          </a:p>
          <a:p>
            <a:r>
              <a:rPr lang="en-US" sz="3700">
                <a:solidFill>
                  <a:srgbClr val="252525"/>
                </a:solidFill>
              </a:rPr>
              <a:t>such Contributor by reason of your accepting any such warranty or additional</a:t>
            </a:r>
          </a:p>
          <a:p>
            <a:r>
              <a:rPr lang="en-US" sz="3700">
                <a:solidFill>
                  <a:srgbClr val="252525"/>
                </a:solidFill>
              </a:rPr>
              <a:t>liability.</a:t>
            </a:r>
          </a:p>
          <a:p>
            <a:r>
              <a:rPr lang="en-US" sz="5000"/>
              <a:t>  </a:t>
            </a:r>
          </a:p>
          <a:p>
            <a:r>
              <a:rPr lang="en-US" sz="3700">
                <a:solidFill>
                  <a:srgbClr val="252525"/>
                </a:solidFill>
              </a:rPr>
              <a:t>END OF TERMS AND CONDITIONS</a:t>
            </a:r>
          </a:p>
          <a:p>
            <a:r>
              <a:rPr lang="en-US" sz="5000"/>
              <a:t>  </a:t>
            </a:r>
          </a:p>
          <a:p>
            <a:r>
              <a:rPr lang="en-US" sz="3700">
                <a:solidFill>
                  <a:srgbClr val="252525"/>
                </a:solidFill>
              </a:rPr>
              <a:t>APPENDIX: How to apply the Apache License to your work</a:t>
            </a:r>
          </a:p>
          <a:p>
            <a:r>
              <a:rPr lang="en-US" sz="5000"/>
              <a:t>  </a:t>
            </a:r>
          </a:p>
          <a:p>
            <a:r>
              <a:rPr lang="en-US" sz="3700">
                <a:solidFill>
                  <a:srgbClr val="252525"/>
                </a:solidFill>
              </a:rPr>
              <a:t>To apply the Apache License to your work, attach the following boilerplate</a:t>
            </a:r>
          </a:p>
          <a:p>
            <a:r>
              <a:rPr lang="en-US" sz="3700">
                <a:solidFill>
                  <a:srgbClr val="252525"/>
                </a:solidFill>
              </a:rPr>
              <a:t>notice, with the fields enclosed by brackets "[]" replaced with your own</a:t>
            </a:r>
          </a:p>
        </p:txBody>
      </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4" id="164"/>
          <p:cNvPicPr>
            <a:picLocks noChangeAspect="true"/>
          </p:cNvPicPr>
          <p:nvPr/>
        </p:nvPicPr>
        <p:blipFill>
          <a:blip r:embed="rId164"/>
          <a:stretch>
            <a:fillRect/>
          </a:stretch>
        </p:blipFill>
        <p:spPr>
          <a:xfrm>
            <a:off x="0" y="127000"/>
            <a:ext cx="23749000" cy="16548100"/>
          </a:xfrm>
          <a:prstGeom prst="rect">
            <a:avLst/>
          </a:prstGeom>
        </p:spPr>
      </p:pic>
      <p:sp>
        <p:nvSpPr>
          <p:cNvPr name="TextBox 164" id="16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identifying information. (Don't include the brackets!) The text should be</a:t>
            </a:r>
          </a:p>
          <a:p>
            <a:r>
              <a:rPr lang="en-US" sz="3700">
                <a:solidFill>
                  <a:srgbClr val="252525"/>
                </a:solidFill>
              </a:rPr>
              <a:t>enclosed in the appropriate comment syntax for the file format. We also recommend</a:t>
            </a:r>
          </a:p>
          <a:p>
            <a:r>
              <a:rPr lang="en-US" sz="3700">
                <a:solidFill>
                  <a:srgbClr val="252525"/>
                </a:solidFill>
              </a:rPr>
              <a:t>that a file or class name and description of purpose be included on the same</a:t>
            </a:r>
          </a:p>
          <a:p>
            <a:r>
              <a:rPr lang="en-US" sz="3700">
                <a:solidFill>
                  <a:srgbClr val="252525"/>
                </a:solidFill>
              </a:rPr>
              <a:t>"printed page" as the copyright notice for easier identification within</a:t>
            </a:r>
          </a:p>
          <a:p>
            <a:r>
              <a:rPr lang="en-US" sz="3700">
                <a:solidFill>
                  <a:srgbClr val="252525"/>
                </a:solidFill>
              </a:rPr>
              <a:t>third-party archives.</a:t>
            </a:r>
          </a:p>
          <a:p>
            <a:r>
              <a:rPr lang="en-US" sz="5000"/>
              <a:t>  </a:t>
            </a:r>
          </a:p>
          <a:p>
            <a:r>
              <a:rPr lang="en-US" sz="3700">
                <a:solidFill>
                  <a:srgbClr val="252525"/>
                </a:solidFill>
              </a:rPr>
              <a:t>  Copyright [yyyy] [name of copyright owner] Licensed under the Apache License,</a:t>
            </a:r>
          </a:p>
          <a:p>
            <a:r>
              <a:rPr lang="en-US" sz="3700">
                <a:solidFill>
                  <a:srgbClr val="252525"/>
                </a:solidFill>
              </a:rPr>
              <a:t>  Version 2.0 (the "License"); you may not use this file except in compliance</a:t>
            </a:r>
          </a:p>
          <a:p>
            <a:r>
              <a:rPr lang="en-US" sz="3700">
                <a:solidFill>
                  <a:srgbClr val="252525"/>
                </a:solidFill>
              </a:rPr>
              <a:t>  with the License. You may obtain a copy of the License at</a:t>
            </a:r>
          </a:p>
          <a:p>
            <a:r>
              <a:rPr lang="en-US" sz="3700">
                <a:solidFill>
                  <a:srgbClr val="252525"/>
                </a:solidFill>
              </a:rPr>
              <a:t>  </a:t>
            </a:r>
          </a:p>
        </p:txBody>
      </p:sp>
      <p:pic>
        <p:nvPicPr>
          <p:cNvPr name="Picture 166" id="166">
            <a:hlinkClick r:id="rId167"/>
          </p:cNvPr>
          <p:cNvPicPr>
            <a:picLocks noChangeAspect="true"/>
          </p:cNvPicPr>
          <p:nvPr/>
        </p:nvPicPr>
        <p:blipFill>
          <a:blip r:embed="rId166"/>
          <a:stretch>
            <a:fillRect/>
          </a:stretch>
        </p:blipFill>
        <p:spPr>
          <a:xfrm>
            <a:off x="6451600" y="7035800"/>
            <a:ext cx="10820400" cy="1714500"/>
          </a:xfrm>
          <a:prstGeom prst="rect">
            <a:avLst/>
          </a:prstGeom>
        </p:spPr>
      </p:pic>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8" id="168"/>
          <p:cNvPicPr>
            <a:picLocks noChangeAspect="true"/>
          </p:cNvPicPr>
          <p:nvPr/>
        </p:nvPicPr>
        <p:blipFill>
          <a:blip r:embed="rId168"/>
          <a:stretch>
            <a:fillRect/>
          </a:stretch>
        </p:blipFill>
        <p:spPr>
          <a:xfrm>
            <a:off x="0" y="127000"/>
            <a:ext cx="23749000" cy="16548100"/>
          </a:xfrm>
          <a:prstGeom prst="rect">
            <a:avLst/>
          </a:prstGeom>
        </p:spPr>
      </p:pic>
      <p:sp>
        <p:nvSpPr>
          <p:cNvPr name="TextBox 168" id="16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Unless required by applicable law</a:t>
            </a:r>
          </a:p>
          <a:p>
            <a:r>
              <a:rPr lang="en-US" sz="3700">
                <a:solidFill>
                  <a:srgbClr val="252525"/>
                </a:solidFill>
              </a:rPr>
              <a:t>  or agreed to in writing, software distributed under the License is</a:t>
            </a:r>
          </a:p>
          <a:p>
            <a:r>
              <a:rPr lang="en-US" sz="3700">
                <a:solidFill>
                  <a:srgbClr val="252525"/>
                </a:solidFill>
              </a:rPr>
              <a:t>  distributed on an "AS IS" BASIS, WITHOUT WARRANTIES OR CONDITIONS OF ANY</a:t>
            </a:r>
          </a:p>
          <a:p>
            <a:r>
              <a:rPr lang="en-US" sz="3700">
                <a:solidFill>
                  <a:srgbClr val="252525"/>
                </a:solidFill>
              </a:rPr>
              <a:t>  KIND, either express or implied. See the License for the specific language</a:t>
            </a:r>
          </a:p>
          <a:p>
            <a:r>
              <a:rPr lang="en-US" sz="3700">
                <a:solidFill>
                  <a:srgbClr val="252525"/>
                </a:solidFill>
              </a:rPr>
              <a:t>  governing permissions and limitations under the License.</a:t>
            </a:r>
          </a:p>
          <a:p>
            <a:r>
              <a:rPr lang="en-US" sz="5000"/>
              <a:t>  </a:t>
            </a:r>
          </a:p>
          <a:p>
            <a:r>
              <a:rPr lang="en-US" sz="3700">
                <a:solidFill>
                  <a:srgbClr val="252525"/>
                </a:solidFill>
              </a:rPr>
              <a:t>---</a:t>
            </a:r>
          </a:p>
          <a:p>
            <a:r>
              <a:rPr lang="en-US" sz="5000"/>
              <a:t>  </a:t>
            </a:r>
          </a:p>
          <a:p>
            <a:r>
              <a:rPr lang="en-US" sz="3700">
                <a:solidFill>
                  <a:srgbClr val="252525"/>
                </a:solidFill>
              </a:rPr>
              <a:t>Apple MIT License</a:t>
            </a:r>
          </a:p>
          <a:p>
            <a:r>
              <a:rPr lang="en-US" sz="3700">
                <a:solidFill>
                  <a:srgbClr val="252525"/>
                </a:solidFill>
              </a:rPr>
              <a:t>(Reachability, UIImageEffects - Blurring and Tinting an Image 1.1)</a:t>
            </a:r>
          </a:p>
          <a:p>
            <a:r>
              <a:rPr lang="en-US" sz="5000"/>
              <a:t>  </a:t>
            </a:r>
          </a:p>
          <a:p>
            <a:r>
              <a:rPr lang="en-US" sz="3700">
                <a:solidFill>
                  <a:srgbClr val="252525"/>
                </a:solidFill>
              </a:rPr>
              <a:t>Disclaimer: IMPORTANT: This Apple software is supplied to you by Apple Computer,</a:t>
            </a:r>
          </a:p>
          <a:p>
            <a:r>
              <a:rPr lang="en-US" sz="3700">
                <a:solidFill>
                  <a:srgbClr val="252525"/>
                </a:solidFill>
              </a:rPr>
              <a:t>Inc.</a:t>
            </a:r>
          </a:p>
          <a:p>
            <a:r>
              <a:rPr lang="en-US" sz="3700">
                <a:solidFill>
                  <a:srgbClr val="252525"/>
                </a:solidFill>
              </a:rPr>
              <a:t>===================================</a:t>
            </a:r>
          </a:p>
        </p:txBody>
      </p:sp>
    </p:spTree>
  </p:cSld>
  <p:clrMapOvr>
    <a:masterClrMapping/>
  </p:clrMapOvr>
</p:sld>
</file>

<file path=ppt/slides/slide7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0" id="170"/>
          <p:cNvPicPr>
            <a:picLocks noChangeAspect="true"/>
          </p:cNvPicPr>
          <p:nvPr/>
        </p:nvPicPr>
        <p:blipFill>
          <a:blip r:embed="rId170"/>
          <a:stretch>
            <a:fillRect/>
          </a:stretch>
        </p:blipFill>
        <p:spPr>
          <a:xfrm>
            <a:off x="0" y="127000"/>
            <a:ext cx="23749000" cy="16548100"/>
          </a:xfrm>
          <a:prstGeom prst="rect">
            <a:avLst/>
          </a:prstGeom>
        </p:spPr>
      </p:pic>
      <p:sp>
        <p:nvSpPr>
          <p:cNvPr name="TextBox 170" id="17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t>
            </a:r>
          </a:p>
          <a:p>
            <a:r>
              <a:rPr lang="en-US" sz="5000"/>
              <a:t>  </a:t>
            </a:r>
          </a:p>
          <a:p>
            <a:r>
              <a:rPr lang="en-US" sz="3700">
                <a:solidFill>
                  <a:srgbClr val="252525"/>
                </a:solidFill>
              </a:rPr>
              <a:t>  ("Apple") in consideration of your agreement to the following terms, and your</a:t>
            </a:r>
          </a:p>
          <a:p>
            <a:r>
              <a:rPr lang="en-US" sz="3700">
                <a:solidFill>
                  <a:srgbClr val="252525"/>
                </a:solidFill>
              </a:rPr>
              <a:t>  use, installation, modification or redistribution of this Apple software</a:t>
            </a:r>
          </a:p>
          <a:p>
            <a:r>
              <a:rPr lang="en-US" sz="3700">
                <a:solidFill>
                  <a:srgbClr val="252525"/>
                </a:solidFill>
              </a:rPr>
              <a:t>  constitutes acceptance of these terms. If you do not agree with these terms,</a:t>
            </a:r>
          </a:p>
          <a:p>
            <a:r>
              <a:rPr lang="en-US" sz="3700">
                <a:solidFill>
                  <a:srgbClr val="252525"/>
                </a:solidFill>
              </a:rPr>
              <a:t>  please do not use, install, modify or redistribute this Apple software.</a:t>
            </a:r>
          </a:p>
          <a:p>
            <a:r>
              <a:rPr lang="en-US" sz="5000"/>
              <a:t>  </a:t>
            </a:r>
          </a:p>
          <a:p>
            <a:r>
              <a:rPr lang="en-US" sz="3700">
                <a:solidFill>
                  <a:srgbClr val="252525"/>
                </a:solidFill>
              </a:rPr>
              <a:t>  In consideration of your agreement to abide by the following terms, and</a:t>
            </a:r>
          </a:p>
          <a:p>
            <a:r>
              <a:rPr lang="en-US" sz="3700">
                <a:solidFill>
                  <a:srgbClr val="252525"/>
                </a:solidFill>
              </a:rPr>
              <a:t>  subject to these terms, Apple grants you a personal, non-exclusive license,</a:t>
            </a:r>
          </a:p>
          <a:p>
            <a:r>
              <a:rPr lang="en-US" sz="3700">
                <a:solidFill>
                  <a:srgbClr val="252525"/>
                </a:solidFill>
              </a:rPr>
              <a:t>  under Apple's copyrights in this original Apple software (the "Apple</a:t>
            </a:r>
          </a:p>
          <a:p>
            <a:r>
              <a:rPr lang="en-US" sz="3700">
                <a:solidFill>
                  <a:srgbClr val="252525"/>
                </a:solidFill>
              </a:rPr>
              <a:t>  Software"), to use, reproduce, modify and redistribute the Apple Software,</a:t>
            </a:r>
          </a:p>
          <a:p>
            <a:r>
              <a:rPr lang="en-US" sz="3700">
                <a:solidFill>
                  <a:srgbClr val="252525"/>
                </a:solidFill>
              </a:rPr>
              <a:t>  with or without modifications, in source </a:t>
            </a:r>
          </a:p>
        </p:txBody>
      </p:sp>
    </p:spTree>
  </p:cSld>
  <p:clrMapOvr>
    <a:masterClrMapping/>
  </p:clrMapOvr>
</p:sld>
</file>

<file path=ppt/slides/slide7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2" id="172"/>
          <p:cNvPicPr>
            <a:picLocks noChangeAspect="true"/>
          </p:cNvPicPr>
          <p:nvPr/>
        </p:nvPicPr>
        <p:blipFill>
          <a:blip r:embed="rId172"/>
          <a:stretch>
            <a:fillRect/>
          </a:stretch>
        </p:blipFill>
        <p:spPr>
          <a:xfrm>
            <a:off x="0" y="127000"/>
            <a:ext cx="23749000" cy="16548100"/>
          </a:xfrm>
          <a:prstGeom prst="rect">
            <a:avLst/>
          </a:prstGeom>
        </p:spPr>
      </p:pic>
      <p:sp>
        <p:nvSpPr>
          <p:cNvPr name="TextBox 172" id="17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and/or binary forms; provided that</a:t>
            </a:r>
          </a:p>
          <a:p>
            <a:r>
              <a:rPr lang="en-US" sz="3700">
                <a:solidFill>
                  <a:srgbClr val="252525"/>
                </a:solidFill>
              </a:rPr>
              <a:t>  if you redistribute the Apple Software in its entirety and without</a:t>
            </a:r>
          </a:p>
          <a:p>
            <a:r>
              <a:rPr lang="en-US" sz="3700">
                <a:solidFill>
                  <a:srgbClr val="252525"/>
                </a:solidFill>
              </a:rPr>
              <a:t>  modifications, you must retain this notice and the following text and</a:t>
            </a:r>
          </a:p>
          <a:p>
            <a:r>
              <a:rPr lang="en-US" sz="3700">
                <a:solidFill>
                  <a:srgbClr val="252525"/>
                </a:solidFill>
              </a:rPr>
              <a:t>  disclaimers in all such redistributions of the Apple Software. Neither the</a:t>
            </a:r>
          </a:p>
          <a:p>
            <a:r>
              <a:rPr lang="en-US" sz="3700">
                <a:solidFill>
                  <a:srgbClr val="252525"/>
                </a:solidFill>
              </a:rPr>
              <a:t>  name, trademarks, service marks or logos of Apple Computer, Inc. may be used</a:t>
            </a:r>
          </a:p>
          <a:p>
            <a:r>
              <a:rPr lang="en-US" sz="3700">
                <a:solidFill>
                  <a:srgbClr val="252525"/>
                </a:solidFill>
              </a:rPr>
              <a:t>  to endorse or promote products derived from the Apple Software without</a:t>
            </a:r>
          </a:p>
          <a:p>
            <a:r>
              <a:rPr lang="en-US" sz="3700">
                <a:solidFill>
                  <a:srgbClr val="252525"/>
                </a:solidFill>
              </a:rPr>
              <a:t>  specific prior written permission from Apple. Except as expressly stated in</a:t>
            </a:r>
          </a:p>
          <a:p>
            <a:r>
              <a:rPr lang="en-US" sz="3700">
                <a:solidFill>
                  <a:srgbClr val="252525"/>
                </a:solidFill>
              </a:rPr>
              <a:t>  this notice, no other rights or licenses, express or implied, are granted by</a:t>
            </a:r>
          </a:p>
          <a:p>
            <a:r>
              <a:rPr lang="en-US" sz="3700">
                <a:solidFill>
                  <a:srgbClr val="252525"/>
                </a:solidFill>
              </a:rPr>
              <a:t>  Apple herein, including but not limited to any patent rights that may be</a:t>
            </a:r>
          </a:p>
          <a:p>
            <a:r>
              <a:rPr lang="en-US" sz="3700">
                <a:solidFill>
                  <a:srgbClr val="252525"/>
                </a:solidFill>
              </a:rPr>
              <a:t>  infringed by your derivative works or by other works in which the Apple</a:t>
            </a:r>
          </a:p>
          <a:p>
            <a:r>
              <a:rPr lang="en-US" sz="3700">
                <a:solidFill>
                  <a:srgbClr val="252525"/>
                </a:solidFill>
              </a:rPr>
              <a:t>  Software may be incorporated.</a:t>
            </a:r>
          </a:p>
        </p:txBody>
      </p:sp>
    </p:spTree>
  </p:cSld>
  <p:clrMapOvr>
    <a:masterClrMapping/>
  </p:clrMapOvr>
</p:sld>
</file>

<file path=ppt/slides/slide7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4" id="174"/>
          <p:cNvPicPr>
            <a:picLocks noChangeAspect="true"/>
          </p:cNvPicPr>
          <p:nvPr/>
        </p:nvPicPr>
        <p:blipFill>
          <a:blip r:embed="rId174"/>
          <a:stretch>
            <a:fillRect/>
          </a:stretch>
        </p:blipFill>
        <p:spPr>
          <a:xfrm>
            <a:off x="0" y="127000"/>
            <a:ext cx="23749000" cy="16548100"/>
          </a:xfrm>
          <a:prstGeom prst="rect">
            <a:avLst/>
          </a:prstGeom>
        </p:spPr>
      </p:pic>
      <p:sp>
        <p:nvSpPr>
          <p:cNvPr name="TextBox 174" id="17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The Apple Software is provided by Apple on an "AS IS" basis. APPLE MAKES NO</a:t>
            </a:r>
          </a:p>
          <a:p>
            <a:r>
              <a:rPr lang="en-US" sz="3700">
                <a:solidFill>
                  <a:srgbClr val="252525"/>
                </a:solidFill>
              </a:rPr>
              <a:t>  WARRANTIES, EXPRESS OR IMPLIED, INCLUDING WITHOUT LIMITATION THE IMPLIED</a:t>
            </a:r>
          </a:p>
          <a:p>
            <a:r>
              <a:rPr lang="en-US" sz="3700">
                <a:solidFill>
                  <a:srgbClr val="252525"/>
                </a:solidFill>
              </a:rPr>
              <a:t>  WARRANTIES OF NON-INFRINGEMENT, MERCHANTABILITY AND FITNESS FOR A PARTICULAR</a:t>
            </a:r>
          </a:p>
          <a:p>
            <a:r>
              <a:rPr lang="en-US" sz="3700">
                <a:solidFill>
                  <a:srgbClr val="252525"/>
                </a:solidFill>
              </a:rPr>
              <a:t>  PURPOSE, REGARDING THE APPLE SOFTWARE OR ITS USE AND OPERATION ALONE OR IN</a:t>
            </a:r>
          </a:p>
          <a:p>
            <a:r>
              <a:rPr lang="en-US" sz="3700">
                <a:solidFill>
                  <a:srgbClr val="252525"/>
                </a:solidFill>
              </a:rPr>
              <a:t>  COMBINATION WITH YOUR PRODUCTS.</a:t>
            </a:r>
          </a:p>
          <a:p>
            <a:r>
              <a:rPr lang="en-US" sz="5000"/>
              <a:t>  </a:t>
            </a:r>
          </a:p>
          <a:p>
            <a:r>
              <a:rPr lang="en-US" sz="3700">
                <a:solidFill>
                  <a:srgbClr val="252525"/>
                </a:solidFill>
              </a:rPr>
              <a:t>  IN NO EVENT SHALL APPLE BE LIABLE FOR ANY SPECIAL, INDIRECT, INCIDENTAL OR</a:t>
            </a:r>
          </a:p>
          <a:p>
            <a:r>
              <a:rPr lang="en-US" sz="3700">
                <a:solidFill>
                  <a:srgbClr val="252525"/>
                </a:solidFill>
              </a:rPr>
              <a:t>  CONSEQUENTIAL DAMAGES (INCLUDING, BUT NOT LIMITED TO, PROCUREMENT OF</a:t>
            </a:r>
          </a:p>
          <a:p>
            <a:r>
              <a:rPr lang="en-US" sz="3700">
                <a:solidFill>
                  <a:srgbClr val="252525"/>
                </a:solidFill>
              </a:rPr>
              <a:t>  SUBSTITUTE GOODS OR SERVICES; LOSS OF USE, DATA, OR PROFITS; OR BUSINESS</a:t>
            </a:r>
          </a:p>
        </p:txBody>
      </p:sp>
    </p:spTree>
  </p:cSld>
  <p:clrMapOvr>
    <a:masterClrMapping/>
  </p:clrMapOvr>
</p:sld>
</file>

<file path=ppt/slides/slide8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6" id="176"/>
          <p:cNvPicPr>
            <a:picLocks noChangeAspect="true"/>
          </p:cNvPicPr>
          <p:nvPr/>
        </p:nvPicPr>
        <p:blipFill>
          <a:blip r:embed="rId176"/>
          <a:stretch>
            <a:fillRect/>
          </a:stretch>
        </p:blipFill>
        <p:spPr>
          <a:xfrm>
            <a:off x="0" y="127000"/>
            <a:ext cx="23749000" cy="16548100"/>
          </a:xfrm>
          <a:prstGeom prst="rect">
            <a:avLst/>
          </a:prstGeom>
        </p:spPr>
      </p:pic>
      <p:sp>
        <p:nvSpPr>
          <p:cNvPr name="TextBox 176" id="17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INTERRUPTION) ARISING IN ANY WAY OUT OF THE USE, REPRODUCTION, MODIFICATION</a:t>
            </a:r>
          </a:p>
          <a:p>
            <a:r>
              <a:rPr lang="en-US" sz="3700">
                <a:solidFill>
                  <a:srgbClr val="252525"/>
                </a:solidFill>
              </a:rPr>
              <a:t>  AND/OR DISTRIBUTION OF THE APPLE SOFTWARE, HOWEVER CAUSED AND WHETHER UNDER</a:t>
            </a:r>
          </a:p>
          <a:p>
            <a:r>
              <a:rPr lang="en-US" sz="3700">
                <a:solidFill>
                  <a:srgbClr val="252525"/>
                </a:solidFill>
              </a:rPr>
              <a:t>  THEORY OF CONTRACT, TORT (INCLUDING NEGLIGENCE), STRICT LIABILITY OR</a:t>
            </a:r>
          </a:p>
          <a:p>
            <a:r>
              <a:rPr lang="en-US" sz="3700">
                <a:solidFill>
                  <a:srgbClr val="252525"/>
                </a:solidFill>
              </a:rPr>
              <a:t>  OTHERWISE, EVEN IF APPLE HAS BEEN ADVISED OF THE POSSIBILITY OF SUCH DAMAGE.</a:t>
            </a:r>
          </a:p>
          <a:p>
            <a:r>
              <a:rPr lang="en-US" sz="5000"/>
              <a:t>  </a:t>
            </a:r>
          </a:p>
          <a:p>
            <a:r>
              <a:rPr lang="en-US" sz="3700">
                <a:solidFill>
                  <a:srgbClr val="252525"/>
                </a:solidFill>
              </a:rPr>
              <a:t>---</a:t>
            </a:r>
          </a:p>
          <a:p>
            <a:r>
              <a:rPr lang="en-US" sz="5000"/>
              <a:t>  </a:t>
            </a:r>
          </a:p>
          <a:p>
            <a:r>
              <a:rPr lang="en-US" sz="3700">
                <a:solidFill>
                  <a:srgbClr val="252525"/>
                </a:solidFill>
              </a:rPr>
              <a:t>Apple Public Source License 1.2</a:t>
            </a:r>
          </a:p>
          <a:p>
            <a:r>
              <a:rPr lang="en-US" sz="3700">
                <a:solidFill>
                  <a:srgbClr val="252525"/>
                </a:solidFill>
              </a:rPr>
              <a:t>(AppleJavaExtensions 1.4)</a:t>
            </a:r>
          </a:p>
          <a:p>
            <a:r>
              <a:rPr lang="en-US" sz="5000"/>
              <a:t>  </a:t>
            </a:r>
          </a:p>
          <a:p>
            <a:r>
              <a:rPr lang="en-US" sz="3700">
                <a:solidFill>
                  <a:srgbClr val="252525"/>
                </a:solidFill>
              </a:rPr>
              <a:t>Apple Public Source License Ver. 1.2</a:t>
            </a:r>
          </a:p>
          <a:p>
            <a:r>
              <a:rPr lang="en-US" sz="3700">
                <a:solidFill>
                  <a:srgbClr val="252525"/>
                </a:solidFill>
              </a:rPr>
              <a:t>====================================</a:t>
            </a:r>
          </a:p>
        </p:txBody>
      </p:sp>
    </p:spTree>
  </p:cSld>
  <p:clrMapOvr>
    <a:masterClrMapping/>
  </p:clrMapOvr>
</p:sld>
</file>

<file path=ppt/slides/slide8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8" id="178"/>
          <p:cNvPicPr>
            <a:picLocks noChangeAspect="true"/>
          </p:cNvPicPr>
          <p:nvPr/>
        </p:nvPicPr>
        <p:blipFill>
          <a:blip r:embed="rId178"/>
          <a:stretch>
            <a:fillRect/>
          </a:stretch>
        </p:blipFill>
        <p:spPr>
          <a:xfrm>
            <a:off x="0" y="127000"/>
            <a:ext cx="23749000" cy="16548100"/>
          </a:xfrm>
          <a:prstGeom prst="rect">
            <a:avLst/>
          </a:prstGeom>
        </p:spPr>
      </p:pic>
      <p:sp>
        <p:nvSpPr>
          <p:cNvPr name="TextBox 178" id="179"/>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1. General; Definitions. This License applies to any program or other work which</a:t>
            </a:r>
          </a:p>
          <a:p>
            <a:r>
              <a:rPr lang="en-US" sz="3700">
                <a:solidFill>
                  <a:srgbClr val="252525"/>
                </a:solidFill>
              </a:rPr>
              <a:t>Apple Computer, Inc. ("Apple") makes publicly available and which contains a</a:t>
            </a:r>
          </a:p>
          <a:p>
            <a:r>
              <a:rPr lang="en-US" sz="3700">
                <a:solidFill>
                  <a:srgbClr val="252525"/>
                </a:solidFill>
              </a:rPr>
              <a:t>notice placed by Apple identifying such program or work as "Original Code" and</a:t>
            </a:r>
          </a:p>
          <a:p>
            <a:r>
              <a:rPr lang="en-US" sz="3700">
                <a:solidFill>
                  <a:srgbClr val="252525"/>
                </a:solidFill>
              </a:rPr>
              <a:t>stating that it is subject to the terms of this Apple Public Source License</a:t>
            </a:r>
          </a:p>
          <a:p>
            <a:r>
              <a:rPr lang="en-US" sz="3700">
                <a:solidFill>
                  <a:srgbClr val="252525"/>
                </a:solidFill>
              </a:rPr>
              <a:t>version 1.2 (or subsequent version thereof) ("License"). As used in this License:</a:t>
            </a:r>
          </a:p>
          <a:p>
            <a:r>
              <a:rPr lang="en-US" sz="5000"/>
              <a:t>  </a:t>
            </a:r>
          </a:p>
          <a:p>
            <a:r>
              <a:rPr lang="en-US" sz="3700">
                <a:solidFill>
                  <a:srgbClr val="252525"/>
                </a:solidFill>
              </a:rPr>
              <a:t>1.1 "Applicable Patent Rights" mean: (a) in the case where Apple is the grantor</a:t>
            </a:r>
          </a:p>
          <a:p>
            <a:r>
              <a:rPr lang="en-US" sz="3700">
                <a:solidFill>
                  <a:srgbClr val="252525"/>
                </a:solidFill>
              </a:rPr>
              <a:t>of rights, (i) claims of patents that are now or hereafter acquired, owned by or</a:t>
            </a:r>
          </a:p>
          <a:p>
            <a:r>
              <a:rPr lang="en-US" sz="3700">
                <a:solidFill>
                  <a:srgbClr val="252525"/>
                </a:solidFill>
              </a:rPr>
              <a:t>assigned to Apple and (ii) that cover subject matter contained in the Original</a:t>
            </a:r>
          </a:p>
          <a:p>
            <a:r>
              <a:rPr lang="en-US" sz="3700">
                <a:solidFill>
                  <a:srgbClr val="252525"/>
                </a:solidFill>
              </a:rPr>
              <a:t>Code, but only to the extent necessary to use, reproduce and/or distribute the</a:t>
            </a:r>
          </a:p>
        </p:txBody>
      </p:sp>
    </p:spTree>
  </p:cSld>
  <p:clrMapOvr>
    <a:masterClrMapping/>
  </p:clrMapOvr>
</p:sld>
</file>

<file path=ppt/slides/slide8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0" id="180"/>
          <p:cNvPicPr>
            <a:picLocks noChangeAspect="true"/>
          </p:cNvPicPr>
          <p:nvPr/>
        </p:nvPicPr>
        <p:blipFill>
          <a:blip r:embed="rId180"/>
          <a:stretch>
            <a:fillRect/>
          </a:stretch>
        </p:blipFill>
        <p:spPr>
          <a:xfrm>
            <a:off x="0" y="127000"/>
            <a:ext cx="23749000" cy="16548100"/>
          </a:xfrm>
          <a:prstGeom prst="rect">
            <a:avLst/>
          </a:prstGeom>
        </p:spPr>
      </p:pic>
      <p:sp>
        <p:nvSpPr>
          <p:cNvPr name="TextBox 180" id="18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Original Code without infringement; and (b) in the case where You are the grantor</a:t>
            </a:r>
          </a:p>
          <a:p>
            <a:r>
              <a:rPr lang="en-US" sz="3700">
                <a:solidFill>
                  <a:srgbClr val="252525"/>
                </a:solidFill>
              </a:rPr>
              <a:t>of rights, (i) claims of patents that are now or hereafter acquired, owned by or</a:t>
            </a:r>
          </a:p>
          <a:p>
            <a:r>
              <a:rPr lang="en-US" sz="3700">
                <a:solidFill>
                  <a:srgbClr val="252525"/>
                </a:solidFill>
              </a:rPr>
              <a:t>assigned to You and (ii) that cover subject matter in Your Modifications, taken</a:t>
            </a:r>
          </a:p>
          <a:p>
            <a:r>
              <a:rPr lang="en-US" sz="3700">
                <a:solidFill>
                  <a:srgbClr val="252525"/>
                </a:solidFill>
              </a:rPr>
              <a:t>alone or in combination with Original Code.</a:t>
            </a:r>
          </a:p>
          <a:p>
            <a:r>
              <a:rPr lang="en-US" sz="5000"/>
              <a:t>  </a:t>
            </a:r>
          </a:p>
          <a:p>
            <a:r>
              <a:rPr lang="en-US" sz="3700">
                <a:solidFill>
                  <a:srgbClr val="252525"/>
                </a:solidFill>
              </a:rPr>
              <a:t>1.2 "Contributor" means any person or entity that creates or contributes to the</a:t>
            </a:r>
          </a:p>
          <a:p>
            <a:r>
              <a:rPr lang="en-US" sz="3700">
                <a:solidFill>
                  <a:srgbClr val="252525"/>
                </a:solidFill>
              </a:rPr>
              <a:t>creation of Modifications.</a:t>
            </a:r>
          </a:p>
          <a:p>
            <a:r>
              <a:rPr lang="en-US" sz="5000"/>
              <a:t>  </a:t>
            </a:r>
          </a:p>
          <a:p>
            <a:r>
              <a:rPr lang="en-US" sz="3700">
                <a:solidFill>
                  <a:srgbClr val="252525"/>
                </a:solidFill>
              </a:rPr>
              <a:t>1.3 "Covered Code" means the Original Code, Modifications, the combination of</a:t>
            </a:r>
          </a:p>
          <a:p>
            <a:r>
              <a:rPr lang="en-US" sz="3700">
                <a:solidFill>
                  <a:srgbClr val="252525"/>
                </a:solidFill>
              </a:rPr>
              <a:t>Original Code and any Modifications, and/or any respective portions thereof.</a:t>
            </a:r>
          </a:p>
          <a:p>
            <a:r>
              <a:rPr lang="en-US" sz="5000"/>
              <a:t>  </a:t>
            </a:r>
          </a:p>
          <a:p>
            <a:r>
              <a:rPr lang="en-US" sz="3700">
                <a:solidFill>
                  <a:srgbClr val="252525"/>
                </a:solidFill>
              </a:rPr>
              <a:t>1.4 "Deploy" means to use, sublicense or distribute Covered Code other than for</a:t>
            </a:r>
          </a:p>
          <a:p>
            <a:r>
              <a:rPr lang="en-US" sz="3700">
                <a:solidFill>
                  <a:srgbClr val="252525"/>
                </a:solidFill>
              </a:rPr>
              <a:t>Your internal research and development (R&amp;D) and/or Personal Use, and includes</a:t>
            </a:r>
          </a:p>
        </p:txBody>
      </p:sp>
    </p:spTree>
  </p:cSld>
  <p:clrMapOvr>
    <a:masterClrMapping/>
  </p:clrMapOvr>
</p:sld>
</file>

<file path=ppt/slides/slide8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2" id="182"/>
          <p:cNvPicPr>
            <a:picLocks noChangeAspect="true"/>
          </p:cNvPicPr>
          <p:nvPr/>
        </p:nvPicPr>
        <p:blipFill>
          <a:blip r:embed="rId182"/>
          <a:stretch>
            <a:fillRect/>
          </a:stretch>
        </p:blipFill>
        <p:spPr>
          <a:xfrm>
            <a:off x="0" y="127000"/>
            <a:ext cx="23749000" cy="16548100"/>
          </a:xfrm>
          <a:prstGeom prst="rect">
            <a:avLst/>
          </a:prstGeom>
        </p:spPr>
      </p:pic>
      <p:sp>
        <p:nvSpPr>
          <p:cNvPr name="TextBox 182" id="18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without limitation, any and all internal use or distribution of Covered Code</a:t>
            </a:r>
          </a:p>
          <a:p>
            <a:r>
              <a:rPr lang="en-US" sz="3700">
                <a:solidFill>
                  <a:srgbClr val="252525"/>
                </a:solidFill>
              </a:rPr>
              <a:t>within Your business or organization except for R&amp;D use and/or Personal Use, as</a:t>
            </a:r>
          </a:p>
          <a:p>
            <a:r>
              <a:rPr lang="en-US" sz="3700">
                <a:solidFill>
                  <a:srgbClr val="252525"/>
                </a:solidFill>
              </a:rPr>
              <a:t>well as direct or indirect sublicensing or distribution of Covered Code by You to</a:t>
            </a:r>
          </a:p>
          <a:p>
            <a:r>
              <a:rPr lang="en-US" sz="3700">
                <a:solidFill>
                  <a:srgbClr val="252525"/>
                </a:solidFill>
              </a:rPr>
              <a:t>any third party in any form or manner.</a:t>
            </a:r>
          </a:p>
          <a:p>
            <a:r>
              <a:rPr lang="en-US" sz="5000"/>
              <a:t>  </a:t>
            </a:r>
          </a:p>
          <a:p>
            <a:r>
              <a:rPr lang="en-US" sz="3700">
                <a:solidFill>
                  <a:srgbClr val="252525"/>
                </a:solidFill>
              </a:rPr>
              <a:t>1.5 "Larger Work" means a work which combines Covered Code or portions thereof</a:t>
            </a:r>
          </a:p>
          <a:p>
            <a:r>
              <a:rPr lang="en-US" sz="3700">
                <a:solidFill>
                  <a:srgbClr val="252525"/>
                </a:solidFill>
              </a:rPr>
              <a:t>with code not governed by the terms of this License.</a:t>
            </a:r>
          </a:p>
          <a:p>
            <a:r>
              <a:rPr lang="en-US" sz="5000"/>
              <a:t>  </a:t>
            </a:r>
          </a:p>
          <a:p>
            <a:r>
              <a:rPr lang="en-US" sz="3700">
                <a:solidFill>
                  <a:srgbClr val="252525"/>
                </a:solidFill>
              </a:rPr>
              <a:t>1.6 "Modifications" mean any addition to, deletion from, and/or change to, the</a:t>
            </a:r>
          </a:p>
          <a:p>
            <a:r>
              <a:rPr lang="en-US" sz="3700">
                <a:solidFill>
                  <a:srgbClr val="252525"/>
                </a:solidFill>
              </a:rPr>
              <a:t>substance and/or structure of the Original Code, any previous Modifications, the</a:t>
            </a:r>
          </a:p>
          <a:p>
            <a:r>
              <a:rPr lang="en-US" sz="3700">
                <a:solidFill>
                  <a:srgbClr val="252525"/>
                </a:solidFill>
              </a:rPr>
              <a:t>combination of Original Code and any previous Modifications, and/or any</a:t>
            </a:r>
          </a:p>
        </p:txBody>
      </p:sp>
    </p:spTree>
  </p:cSld>
  <p:clrMapOvr>
    <a:masterClrMapping/>
  </p:clrMapOvr>
</p:sld>
</file>

<file path=ppt/slides/slide8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4" id="184"/>
          <p:cNvPicPr>
            <a:picLocks noChangeAspect="true"/>
          </p:cNvPicPr>
          <p:nvPr/>
        </p:nvPicPr>
        <p:blipFill>
          <a:blip r:embed="rId184"/>
          <a:stretch>
            <a:fillRect/>
          </a:stretch>
        </p:blipFill>
        <p:spPr>
          <a:xfrm>
            <a:off x="0" y="127000"/>
            <a:ext cx="23749000" cy="16548100"/>
          </a:xfrm>
          <a:prstGeom prst="rect">
            <a:avLst/>
          </a:prstGeom>
        </p:spPr>
      </p:pic>
      <p:sp>
        <p:nvSpPr>
          <p:cNvPr name="TextBox 184" id="18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respective portions thereof. When code is released as a series of files, a</a:t>
            </a:r>
          </a:p>
          <a:p>
            <a:r>
              <a:rPr lang="en-US" sz="3700">
                <a:solidFill>
                  <a:srgbClr val="252525"/>
                </a:solidFill>
              </a:rPr>
              <a:t>Modification is: (a) any addition to or deletion from the contents of a file</a:t>
            </a:r>
          </a:p>
          <a:p>
            <a:r>
              <a:rPr lang="en-US" sz="3700">
                <a:solidFill>
                  <a:srgbClr val="252525"/>
                </a:solidFill>
              </a:rPr>
              <a:t>containing Covered Code; and/or (b) any new file or other representation of</a:t>
            </a:r>
          </a:p>
          <a:p>
            <a:r>
              <a:rPr lang="en-US" sz="3700">
                <a:solidFill>
                  <a:srgbClr val="252525"/>
                </a:solidFill>
              </a:rPr>
              <a:t>computer program statements that contains any part of Covered Code.</a:t>
            </a:r>
          </a:p>
          <a:p>
            <a:r>
              <a:rPr lang="en-US" sz="5000"/>
              <a:t>  </a:t>
            </a:r>
          </a:p>
          <a:p>
            <a:r>
              <a:rPr lang="en-US" sz="3700">
                <a:solidFill>
                  <a:srgbClr val="252525"/>
                </a:solidFill>
              </a:rPr>
              <a:t>1.7 "Original Code" means (a) the Source Code of a program or other work as</a:t>
            </a:r>
          </a:p>
          <a:p>
            <a:r>
              <a:rPr lang="en-US" sz="3700">
                <a:solidFill>
                  <a:srgbClr val="252525"/>
                </a:solidFill>
              </a:rPr>
              <a:t>originally made available by Apple under this License, including the Source Code</a:t>
            </a:r>
          </a:p>
          <a:p>
            <a:r>
              <a:rPr lang="en-US" sz="3700">
                <a:solidFill>
                  <a:srgbClr val="252525"/>
                </a:solidFill>
              </a:rPr>
              <a:t>of any updates or upgrades to such programs or works made available by Apple</a:t>
            </a:r>
          </a:p>
          <a:p>
            <a:r>
              <a:rPr lang="en-US" sz="3700">
                <a:solidFill>
                  <a:srgbClr val="252525"/>
                </a:solidFill>
              </a:rPr>
              <a:t>under this License, and that has been expressly identified by Apple as such in</a:t>
            </a:r>
          </a:p>
          <a:p>
            <a:r>
              <a:rPr lang="en-US" sz="3700">
                <a:solidFill>
                  <a:srgbClr val="252525"/>
                </a:solidFill>
              </a:rPr>
              <a:t>the header file(s) of such work; and (b) the object code compiled from such</a:t>
            </a:r>
          </a:p>
          <a:p>
            <a:r>
              <a:rPr lang="en-US" sz="3700">
                <a:solidFill>
                  <a:srgbClr val="252525"/>
                </a:solidFill>
              </a:rPr>
              <a:t>Source Code and originally made available </a:t>
            </a:r>
          </a:p>
        </p:txBody>
      </p:sp>
    </p:spTree>
  </p:cSld>
  <p:clrMapOvr>
    <a:masterClrMapping/>
  </p:clrMapOvr>
</p:sld>
</file>

<file path=ppt/slides/slide8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6" id="186"/>
          <p:cNvPicPr>
            <a:picLocks noChangeAspect="true"/>
          </p:cNvPicPr>
          <p:nvPr/>
        </p:nvPicPr>
        <p:blipFill>
          <a:blip r:embed="rId186"/>
          <a:stretch>
            <a:fillRect/>
          </a:stretch>
        </p:blipFill>
        <p:spPr>
          <a:xfrm>
            <a:off x="0" y="127000"/>
            <a:ext cx="23749000" cy="16548100"/>
          </a:xfrm>
          <a:prstGeom prst="rect">
            <a:avLst/>
          </a:prstGeom>
        </p:spPr>
      </p:pic>
      <p:sp>
        <p:nvSpPr>
          <p:cNvPr name="TextBox 186" id="18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by Apple under this License.</a:t>
            </a:r>
          </a:p>
          <a:p>
            <a:r>
              <a:rPr lang="en-US" sz="5000"/>
              <a:t>  </a:t>
            </a:r>
          </a:p>
          <a:p>
            <a:r>
              <a:rPr lang="en-US" sz="3700">
                <a:solidFill>
                  <a:srgbClr val="252525"/>
                </a:solidFill>
              </a:rPr>
              <a:t>1.8 "Personal Use" means use of Covered Code by an individual solely for his or</a:t>
            </a:r>
          </a:p>
          <a:p>
            <a:r>
              <a:rPr lang="en-US" sz="3700">
                <a:solidFill>
                  <a:srgbClr val="252525"/>
                </a:solidFill>
              </a:rPr>
              <a:t>her personal, private and non-commercial purposes. An individual's use of Covered</a:t>
            </a:r>
          </a:p>
          <a:p>
            <a:r>
              <a:rPr lang="en-US" sz="3700">
                <a:solidFill>
                  <a:srgbClr val="252525"/>
                </a:solidFill>
              </a:rPr>
              <a:t>Code in his or her capacity as an officer, employee, member, independent</a:t>
            </a:r>
          </a:p>
          <a:p>
            <a:r>
              <a:rPr lang="en-US" sz="3700">
                <a:solidFill>
                  <a:srgbClr val="252525"/>
                </a:solidFill>
              </a:rPr>
              <a:t>contractor or agent of a corporation, business or organization (commercial or</a:t>
            </a:r>
          </a:p>
          <a:p>
            <a:r>
              <a:rPr lang="en-US" sz="3700">
                <a:solidFill>
                  <a:srgbClr val="252525"/>
                </a:solidFill>
              </a:rPr>
              <a:t>non-commercial) does not qualify as Personal Use.</a:t>
            </a:r>
          </a:p>
          <a:p>
            <a:r>
              <a:rPr lang="en-US" sz="5000"/>
              <a:t>  </a:t>
            </a:r>
          </a:p>
          <a:p>
            <a:r>
              <a:rPr lang="en-US" sz="3700">
                <a:solidFill>
                  <a:srgbClr val="252525"/>
                </a:solidFill>
              </a:rPr>
              <a:t>1.9 "Source Code" means the human readable form of a program or other work that</a:t>
            </a:r>
          </a:p>
          <a:p>
            <a:r>
              <a:rPr lang="en-US" sz="3700">
                <a:solidFill>
                  <a:srgbClr val="252525"/>
                </a:solidFill>
              </a:rPr>
              <a:t>is suitable for making modifications to it, including all modules it contains,</a:t>
            </a:r>
          </a:p>
          <a:p>
            <a:r>
              <a:rPr lang="en-US" sz="3700">
                <a:solidFill>
                  <a:srgbClr val="252525"/>
                </a:solidFill>
              </a:rPr>
              <a:t>plus any associated interface definition files, scripts used to control</a:t>
            </a:r>
          </a:p>
          <a:p>
            <a:r>
              <a:rPr lang="en-US" sz="3700">
                <a:solidFill>
                  <a:srgbClr val="252525"/>
                </a:solidFill>
              </a:rPr>
              <a:t>compilation and installation of an </a:t>
            </a:r>
          </a:p>
        </p:txBody>
      </p:sp>
    </p:spTree>
  </p:cSld>
  <p:clrMapOvr>
    <a:masterClrMapping/>
  </p:clrMapOvr>
</p:sld>
</file>

<file path=ppt/slides/slide8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8" id="188"/>
          <p:cNvPicPr>
            <a:picLocks noChangeAspect="true"/>
          </p:cNvPicPr>
          <p:nvPr/>
        </p:nvPicPr>
        <p:blipFill>
          <a:blip r:embed="rId188"/>
          <a:stretch>
            <a:fillRect/>
          </a:stretch>
        </p:blipFill>
        <p:spPr>
          <a:xfrm>
            <a:off x="0" y="127000"/>
            <a:ext cx="23749000" cy="16548100"/>
          </a:xfrm>
          <a:prstGeom prst="rect">
            <a:avLst/>
          </a:prstGeom>
        </p:spPr>
      </p:pic>
      <p:sp>
        <p:nvSpPr>
          <p:cNvPr name="TextBox 188" id="18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executable (object code).</a:t>
            </a:r>
          </a:p>
          <a:p>
            <a:r>
              <a:rPr lang="en-US" sz="5000"/>
              <a:t>  </a:t>
            </a:r>
          </a:p>
          <a:p>
            <a:r>
              <a:rPr lang="en-US" sz="3700">
                <a:solidFill>
                  <a:srgbClr val="252525"/>
                </a:solidFill>
              </a:rPr>
              <a:t>1.10 "You" or "Your" means an individual or a legal entity exercising rights</a:t>
            </a:r>
          </a:p>
          <a:p>
            <a:r>
              <a:rPr lang="en-US" sz="3700">
                <a:solidFill>
                  <a:srgbClr val="252525"/>
                </a:solidFill>
              </a:rPr>
              <a:t>under this License. For legal entities, "You" or "Your" includes any entity which</a:t>
            </a:r>
          </a:p>
          <a:p>
            <a:r>
              <a:rPr lang="en-US" sz="3700">
                <a:solidFill>
                  <a:srgbClr val="252525"/>
                </a:solidFill>
              </a:rPr>
              <a:t>controls, is controlled by, or is under common control with, You, where "control"</a:t>
            </a:r>
          </a:p>
          <a:p>
            <a:r>
              <a:rPr lang="en-US" sz="3700">
                <a:solidFill>
                  <a:srgbClr val="252525"/>
                </a:solidFill>
              </a:rPr>
              <a:t>means (a) the power, direct or indirect, to cause the direction or management of</a:t>
            </a:r>
          </a:p>
          <a:p>
            <a:r>
              <a:rPr lang="en-US" sz="3700">
                <a:solidFill>
                  <a:srgbClr val="252525"/>
                </a:solidFill>
              </a:rPr>
              <a:t>such entity, whether by contract or otherwise, or (b) ownership of fifty percent</a:t>
            </a:r>
          </a:p>
          <a:p>
            <a:r>
              <a:rPr lang="en-US" sz="3700">
                <a:solidFill>
                  <a:srgbClr val="252525"/>
                </a:solidFill>
              </a:rPr>
              <a:t>(50%) or more of the outstanding shares or beneficial ownership of such entity.</a:t>
            </a:r>
          </a:p>
          <a:p>
            <a:r>
              <a:rPr lang="en-US" sz="5000"/>
              <a:t>  </a:t>
            </a:r>
          </a:p>
          <a:p>
            <a:r>
              <a:rPr lang="en-US" sz="3700">
                <a:solidFill>
                  <a:srgbClr val="252525"/>
                </a:solidFill>
              </a:rPr>
              <a:t>2. Permitted Uses; Conditions &amp; Restrictions.Subject to the terms and conditions</a:t>
            </a:r>
          </a:p>
          <a:p>
            <a:r>
              <a:rPr lang="en-US" sz="3700">
                <a:solidFill>
                  <a:srgbClr val="252525"/>
                </a:solidFill>
              </a:rPr>
              <a:t>of this License, Apple hereby grants You, effective on the date You accept this</a:t>
            </a:r>
          </a:p>
          <a:p>
            <a:r>
              <a:rPr lang="en-US" sz="3700">
                <a:solidFill>
                  <a:srgbClr val="252525"/>
                </a:solidFill>
              </a:rPr>
              <a:t>License and download the Original Code, a </a:t>
            </a:r>
          </a:p>
        </p:txBody>
      </p:sp>
    </p:spTree>
  </p:cSld>
  <p:clrMapOvr>
    <a:masterClrMapping/>
  </p:clrMapOvr>
</p:sld>
</file>

<file path=ppt/slides/slide8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0" id="190"/>
          <p:cNvPicPr>
            <a:picLocks noChangeAspect="true"/>
          </p:cNvPicPr>
          <p:nvPr/>
        </p:nvPicPr>
        <p:blipFill>
          <a:blip r:embed="rId190"/>
          <a:stretch>
            <a:fillRect/>
          </a:stretch>
        </p:blipFill>
        <p:spPr>
          <a:xfrm>
            <a:off x="0" y="127000"/>
            <a:ext cx="23749000" cy="16548100"/>
          </a:xfrm>
          <a:prstGeom prst="rect">
            <a:avLst/>
          </a:prstGeom>
        </p:spPr>
      </p:pic>
      <p:sp>
        <p:nvSpPr>
          <p:cNvPr name="TextBox 190" id="19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world-wide, royalty-free, non-exclusive</a:t>
            </a:r>
          </a:p>
          <a:p>
            <a:r>
              <a:rPr lang="en-US" sz="3700">
                <a:solidFill>
                  <a:srgbClr val="252525"/>
                </a:solidFill>
              </a:rPr>
              <a:t>license, to the extent of Apple's Applicable Patent Rights and copyrights</a:t>
            </a:r>
          </a:p>
          <a:p>
            <a:r>
              <a:rPr lang="en-US" sz="3700">
                <a:solidFill>
                  <a:srgbClr val="252525"/>
                </a:solidFill>
              </a:rPr>
              <a:t>covering the Original Code, to do the following:</a:t>
            </a:r>
          </a:p>
          <a:p>
            <a:r>
              <a:rPr lang="en-US" sz="5000"/>
              <a:t>  </a:t>
            </a:r>
          </a:p>
          <a:p>
            <a:r>
              <a:rPr lang="en-US" sz="3700">
                <a:solidFill>
                  <a:srgbClr val="252525"/>
                </a:solidFill>
              </a:rPr>
              <a:t>2.1 You may use, reproduce, display, perform, modify and distribute Original</a:t>
            </a:r>
          </a:p>
          <a:p>
            <a:r>
              <a:rPr lang="en-US" sz="3700">
                <a:solidFill>
                  <a:srgbClr val="252525"/>
                </a:solidFill>
              </a:rPr>
              <a:t>Code, with or without Modifications, solely for Your internal research and</a:t>
            </a:r>
          </a:p>
          <a:p>
            <a:r>
              <a:rPr lang="en-US" sz="3700">
                <a:solidFill>
                  <a:srgbClr val="252525"/>
                </a:solidFill>
              </a:rPr>
              <a:t>development and/or Personal Use, provided that in each instance:</a:t>
            </a:r>
          </a:p>
          <a:p>
            <a:r>
              <a:rPr lang="en-US" sz="5000"/>
              <a:t>  </a:t>
            </a:r>
          </a:p>
          <a:p>
            <a:r>
              <a:rPr lang="en-US" sz="3700">
                <a:solidFill>
                  <a:srgbClr val="252525"/>
                </a:solidFill>
              </a:rPr>
              <a:t>(a) You must retain and reproduce in all copies of Original Code the copyright</a:t>
            </a:r>
          </a:p>
          <a:p>
            <a:r>
              <a:rPr lang="en-US" sz="3700">
                <a:solidFill>
                  <a:srgbClr val="252525"/>
                </a:solidFill>
              </a:rPr>
              <a:t>and other proprietary notices and disclaimers of Apple as they appear in the</a:t>
            </a:r>
          </a:p>
          <a:p>
            <a:r>
              <a:rPr lang="en-US" sz="3700">
                <a:solidFill>
                  <a:srgbClr val="252525"/>
                </a:solidFill>
              </a:rPr>
              <a:t>Original Code, and keep intact all notices in the Original Code that refer to</a:t>
            </a:r>
          </a:p>
          <a:p>
            <a:r>
              <a:rPr lang="en-US" sz="3700">
                <a:solidFill>
                  <a:srgbClr val="252525"/>
                </a:solidFill>
              </a:rPr>
              <a:t>this License; and</a:t>
            </a:r>
          </a:p>
        </p:txBody>
      </p:sp>
    </p:spTree>
  </p:cSld>
  <p:clrMapOvr>
    <a:masterClrMapping/>
  </p:clrMapOvr>
</p:sld>
</file>

<file path=ppt/slides/slide8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2" id="192"/>
          <p:cNvPicPr>
            <a:picLocks noChangeAspect="true"/>
          </p:cNvPicPr>
          <p:nvPr/>
        </p:nvPicPr>
        <p:blipFill>
          <a:blip r:embed="rId192"/>
          <a:stretch>
            <a:fillRect/>
          </a:stretch>
        </p:blipFill>
        <p:spPr>
          <a:xfrm>
            <a:off x="0" y="127000"/>
            <a:ext cx="23749000" cy="16548100"/>
          </a:xfrm>
          <a:prstGeom prst="rect">
            <a:avLst/>
          </a:prstGeom>
        </p:spPr>
      </p:pic>
      <p:sp>
        <p:nvSpPr>
          <p:cNvPr name="TextBox 192" id="19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(b) You must include a copy of this License with every copy of Source Code of</a:t>
            </a:r>
          </a:p>
          <a:p>
            <a:r>
              <a:rPr lang="en-US" sz="3700">
                <a:solidFill>
                  <a:srgbClr val="252525"/>
                </a:solidFill>
              </a:rPr>
              <a:t>Covered Code and documentation You distribute, and You may not offer or impose</a:t>
            </a:r>
          </a:p>
          <a:p>
            <a:r>
              <a:rPr lang="en-US" sz="3700">
                <a:solidFill>
                  <a:srgbClr val="252525"/>
                </a:solidFill>
              </a:rPr>
              <a:t>any terms on such Source Code that alter or restrict this License or the</a:t>
            </a:r>
          </a:p>
          <a:p>
            <a:r>
              <a:rPr lang="en-US" sz="3700">
                <a:solidFill>
                  <a:srgbClr val="252525"/>
                </a:solidFill>
              </a:rPr>
              <a:t>recipients' rights hereunder, except as permitted under Section 6.</a:t>
            </a:r>
          </a:p>
          <a:p>
            <a:r>
              <a:rPr lang="en-US" sz="5000"/>
              <a:t>  </a:t>
            </a:r>
          </a:p>
          <a:p>
            <a:r>
              <a:rPr lang="en-US" sz="3700">
                <a:solidFill>
                  <a:srgbClr val="252525"/>
                </a:solidFill>
              </a:rPr>
              <a:t>2.2 You may use, reproduce, display, perform, modify and Deploy Covered Code,</a:t>
            </a:r>
          </a:p>
          <a:p>
            <a:r>
              <a:rPr lang="en-US" sz="3700">
                <a:solidFill>
                  <a:srgbClr val="252525"/>
                </a:solidFill>
              </a:rPr>
              <a:t>provided that in each instance:</a:t>
            </a:r>
          </a:p>
          <a:p>
            <a:r>
              <a:rPr lang="en-US" sz="5000"/>
              <a:t>  </a:t>
            </a:r>
          </a:p>
          <a:p>
            <a:r>
              <a:rPr lang="en-US" sz="3700">
                <a:solidFill>
                  <a:srgbClr val="252525"/>
                </a:solidFill>
              </a:rPr>
              <a:t>(a) You must satisfy all the conditions of Section 2.1 with respect to the Source</a:t>
            </a:r>
          </a:p>
          <a:p>
            <a:r>
              <a:rPr lang="en-US" sz="3700">
                <a:solidFill>
                  <a:srgbClr val="252525"/>
                </a:solidFill>
              </a:rPr>
              <a:t>Code of the Covered Code;</a:t>
            </a:r>
          </a:p>
          <a:p>
            <a:r>
              <a:rPr lang="en-US" sz="5000"/>
              <a:t>  </a:t>
            </a:r>
          </a:p>
          <a:p>
            <a:r>
              <a:rPr lang="en-US" sz="3700">
                <a:solidFill>
                  <a:srgbClr val="252525"/>
                </a:solidFill>
              </a:rPr>
              <a:t>(b) You must duplicate, to the extent it does not already exist, the notice in</a:t>
            </a:r>
          </a:p>
          <a:p>
            <a:r>
              <a:rPr lang="en-US" sz="3700">
                <a:solidFill>
                  <a:srgbClr val="252525"/>
                </a:solidFill>
              </a:rPr>
              <a:t>Exhibit A in each file of the Source Code of all Your Modifications, and cause</a:t>
            </a:r>
          </a:p>
        </p:txBody>
      </p:sp>
    </p:spTree>
  </p:cSld>
  <p:clrMapOvr>
    <a:masterClrMapping/>
  </p:clrMapOvr>
</p:sld>
</file>

<file path=ppt/slides/slide8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4" id="194"/>
          <p:cNvPicPr>
            <a:picLocks noChangeAspect="true"/>
          </p:cNvPicPr>
          <p:nvPr/>
        </p:nvPicPr>
        <p:blipFill>
          <a:blip r:embed="rId194"/>
          <a:stretch>
            <a:fillRect/>
          </a:stretch>
        </p:blipFill>
        <p:spPr>
          <a:xfrm>
            <a:off x="0" y="127000"/>
            <a:ext cx="23749000" cy="16548100"/>
          </a:xfrm>
          <a:prstGeom prst="rect">
            <a:avLst/>
          </a:prstGeom>
        </p:spPr>
      </p:pic>
      <p:sp>
        <p:nvSpPr>
          <p:cNvPr name="TextBox 194" id="19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the modified files to carry prominent notices stating that You changed the files</a:t>
            </a:r>
          </a:p>
          <a:p>
            <a:r>
              <a:rPr lang="en-US" sz="3700">
                <a:solidFill>
                  <a:srgbClr val="252525"/>
                </a:solidFill>
              </a:rPr>
              <a:t>and the date of any change;</a:t>
            </a:r>
          </a:p>
          <a:p>
            <a:r>
              <a:rPr lang="en-US" sz="5000"/>
              <a:t>  </a:t>
            </a:r>
          </a:p>
          <a:p>
            <a:r>
              <a:rPr lang="en-US" sz="3700">
                <a:solidFill>
                  <a:srgbClr val="252525"/>
                </a:solidFill>
              </a:rPr>
              <a:t>(c) You must make Source Code of all Your Deployed Modifications publicly</a:t>
            </a:r>
          </a:p>
          <a:p>
            <a:r>
              <a:rPr lang="en-US" sz="3700">
                <a:solidFill>
                  <a:srgbClr val="252525"/>
                </a:solidFill>
              </a:rPr>
              <a:t>available under the terms of this License, including the license grants set forth</a:t>
            </a:r>
          </a:p>
          <a:p>
            <a:r>
              <a:rPr lang="en-US" sz="3700">
                <a:solidFill>
                  <a:srgbClr val="252525"/>
                </a:solidFill>
              </a:rPr>
              <a:t>in Section 3 below, for as long as you Deploy the Covered Code or twelve (12)</a:t>
            </a:r>
          </a:p>
          <a:p>
            <a:r>
              <a:rPr lang="en-US" sz="3700">
                <a:solidFill>
                  <a:srgbClr val="252525"/>
                </a:solidFill>
              </a:rPr>
              <a:t>months from the date of initial Deployment, whichever is longer. You should</a:t>
            </a:r>
          </a:p>
          <a:p>
            <a:r>
              <a:rPr lang="en-US" sz="3700">
                <a:solidFill>
                  <a:srgbClr val="252525"/>
                </a:solidFill>
              </a:rPr>
              <a:t>preferably distribute the Source Code of Your Deployed Modifications</a:t>
            </a:r>
          </a:p>
          <a:p>
            <a:r>
              <a:rPr lang="en-US" sz="3700">
                <a:solidFill>
                  <a:srgbClr val="252525"/>
                </a:solidFill>
              </a:rPr>
              <a:t>electronically (e.g. download from a web site); and</a:t>
            </a:r>
          </a:p>
          <a:p>
            <a:r>
              <a:rPr lang="en-US" sz="5000"/>
              <a:t>  </a:t>
            </a:r>
          </a:p>
          <a:p>
            <a:r>
              <a:rPr lang="en-US" sz="3700">
                <a:solidFill>
                  <a:srgbClr val="252525"/>
                </a:solidFill>
              </a:rPr>
              <a:t>(d) if You Deploy Covered Code in object code, executable form only, You must</a:t>
            </a:r>
          </a:p>
          <a:p>
            <a:r>
              <a:rPr lang="en-US" sz="3700">
                <a:solidFill>
                  <a:srgbClr val="252525"/>
                </a:solidFill>
              </a:rPr>
              <a:t>include a prominent notice, in the code </a:t>
            </a:r>
          </a:p>
        </p:txBody>
      </p:sp>
    </p:spTree>
  </p:cSld>
  <p:clrMapOvr>
    <a:masterClrMapping/>
  </p:clrMapOvr>
</p:sld>
</file>

<file path=ppt/slides/slide9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6" id="196"/>
          <p:cNvPicPr>
            <a:picLocks noChangeAspect="true"/>
          </p:cNvPicPr>
          <p:nvPr/>
        </p:nvPicPr>
        <p:blipFill>
          <a:blip r:embed="rId196"/>
          <a:stretch>
            <a:fillRect/>
          </a:stretch>
        </p:blipFill>
        <p:spPr>
          <a:xfrm>
            <a:off x="0" y="127000"/>
            <a:ext cx="23749000" cy="16548100"/>
          </a:xfrm>
          <a:prstGeom prst="rect">
            <a:avLst/>
          </a:prstGeom>
        </p:spPr>
      </p:pic>
      <p:sp>
        <p:nvSpPr>
          <p:cNvPr name="TextBox 196" id="19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itself as well as in related</a:t>
            </a:r>
          </a:p>
          <a:p>
            <a:r>
              <a:rPr lang="en-US" sz="3700">
                <a:solidFill>
                  <a:srgbClr val="252525"/>
                </a:solidFill>
              </a:rPr>
              <a:t>documentation, stating that Source Code of the Covered Code is available under</a:t>
            </a:r>
          </a:p>
          <a:p>
            <a:r>
              <a:rPr lang="en-US" sz="3700">
                <a:solidFill>
                  <a:srgbClr val="252525"/>
                </a:solidFill>
              </a:rPr>
              <a:t>the terms of this License with information on how and where to obtain such Source</a:t>
            </a:r>
          </a:p>
          <a:p>
            <a:r>
              <a:rPr lang="en-US" sz="3700">
                <a:solidFill>
                  <a:srgbClr val="252525"/>
                </a:solidFill>
              </a:rPr>
              <a:t>Code.</a:t>
            </a:r>
          </a:p>
          <a:p>
            <a:r>
              <a:rPr lang="en-US" sz="5000"/>
              <a:t>  </a:t>
            </a:r>
          </a:p>
          <a:p>
            <a:r>
              <a:rPr lang="en-US" sz="3700">
                <a:solidFill>
                  <a:srgbClr val="252525"/>
                </a:solidFill>
              </a:rPr>
              <a:t>2.3 You expressly acknowledge and agree that although Apple and each Contributor</a:t>
            </a:r>
          </a:p>
          <a:p>
            <a:r>
              <a:rPr lang="en-US" sz="3700">
                <a:solidFill>
                  <a:srgbClr val="252525"/>
                </a:solidFill>
              </a:rPr>
              <a:t>grants the licenses to their respective portions of the Covered Code set forth</a:t>
            </a:r>
          </a:p>
          <a:p>
            <a:r>
              <a:rPr lang="en-US" sz="3700">
                <a:solidFill>
                  <a:srgbClr val="252525"/>
                </a:solidFill>
              </a:rPr>
              <a:t>herein, no assurances are provided by Apple or any Contributor that the Covered</a:t>
            </a:r>
          </a:p>
          <a:p>
            <a:r>
              <a:rPr lang="en-US" sz="3700">
                <a:solidFill>
                  <a:srgbClr val="252525"/>
                </a:solidFill>
              </a:rPr>
              <a:t>Code does not infringe the patent or other intellectual property rights of any</a:t>
            </a:r>
          </a:p>
          <a:p>
            <a:r>
              <a:rPr lang="en-US" sz="3700">
                <a:solidFill>
                  <a:srgbClr val="252525"/>
                </a:solidFill>
              </a:rPr>
              <a:t>other entity. Apple and each Contributor disclaim any liability to You for claims</a:t>
            </a:r>
          </a:p>
          <a:p>
            <a:r>
              <a:rPr lang="en-US" sz="3700">
                <a:solidFill>
                  <a:srgbClr val="252525"/>
                </a:solidFill>
              </a:rPr>
              <a:t>brought by any other entity based on infringement of intellectual property rights</a:t>
            </a:r>
          </a:p>
          <a:p>
            <a:r>
              <a:rPr lang="en-US" sz="3700">
                <a:solidFill>
                  <a:srgbClr val="252525"/>
                </a:solidFill>
              </a:rPr>
              <a:t>or otherwise. As a condition to exercising the rights and licenses granted</a:t>
            </a:r>
          </a:p>
        </p:txBody>
      </p:sp>
    </p:spTree>
  </p:cSld>
  <p:clrMapOvr>
    <a:masterClrMapping/>
  </p:clrMapOvr>
</p:sld>
</file>

<file path=ppt/slides/slide9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8" id="198"/>
          <p:cNvPicPr>
            <a:picLocks noChangeAspect="true"/>
          </p:cNvPicPr>
          <p:nvPr/>
        </p:nvPicPr>
        <p:blipFill>
          <a:blip r:embed="rId198"/>
          <a:stretch>
            <a:fillRect/>
          </a:stretch>
        </p:blipFill>
        <p:spPr>
          <a:xfrm>
            <a:off x="0" y="127000"/>
            <a:ext cx="23749000" cy="16548100"/>
          </a:xfrm>
          <a:prstGeom prst="rect">
            <a:avLst/>
          </a:prstGeom>
        </p:spPr>
      </p:pic>
      <p:sp>
        <p:nvSpPr>
          <p:cNvPr name="TextBox 198" id="19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hereunder, You hereby assume sole responsibility to secure any other intellectual</a:t>
            </a:r>
          </a:p>
          <a:p>
            <a:r>
              <a:rPr lang="en-US" sz="3700">
                <a:solidFill>
                  <a:srgbClr val="252525"/>
                </a:solidFill>
              </a:rPr>
              <a:t>property rights needed, if any. For example, if a third party patent license is</a:t>
            </a:r>
          </a:p>
          <a:p>
            <a:r>
              <a:rPr lang="en-US" sz="3700">
                <a:solidFill>
                  <a:srgbClr val="252525"/>
                </a:solidFill>
              </a:rPr>
              <a:t>required to allow You to distribute the Covered Code, it is Your responsibility</a:t>
            </a:r>
          </a:p>
          <a:p>
            <a:r>
              <a:rPr lang="en-US" sz="3700">
                <a:solidFill>
                  <a:srgbClr val="252525"/>
                </a:solidFill>
              </a:rPr>
              <a:t>to acquire that license before distributing the Covered Code.</a:t>
            </a:r>
          </a:p>
          <a:p>
            <a:r>
              <a:rPr lang="en-US" sz="5000"/>
              <a:t>  </a:t>
            </a:r>
          </a:p>
          <a:p>
            <a:r>
              <a:rPr lang="en-US" sz="3700">
                <a:solidFill>
                  <a:srgbClr val="252525"/>
                </a:solidFill>
              </a:rPr>
              <a:t>3. Your Grants. In consideration of, and as a condition to, the licenses granted</a:t>
            </a:r>
          </a:p>
          <a:p>
            <a:r>
              <a:rPr lang="en-US" sz="3700">
                <a:solidFill>
                  <a:srgbClr val="252525"/>
                </a:solidFill>
              </a:rPr>
              <a:t>to You under this License:</a:t>
            </a:r>
          </a:p>
          <a:p>
            <a:r>
              <a:rPr lang="en-US" sz="5000"/>
              <a:t>  </a:t>
            </a:r>
          </a:p>
          <a:p>
            <a:r>
              <a:rPr lang="en-US" sz="3700">
                <a:solidFill>
                  <a:srgbClr val="252525"/>
                </a:solidFill>
              </a:rPr>
              <a:t>(a) You hereby grant to Apple and all third parties a non-exclusive, royalty-free</a:t>
            </a:r>
          </a:p>
          <a:p>
            <a:r>
              <a:rPr lang="en-US" sz="3700">
                <a:solidFill>
                  <a:srgbClr val="252525"/>
                </a:solidFill>
              </a:rPr>
              <a:t>license, under Your Applicable Patent Rights and other intellectual property</a:t>
            </a:r>
          </a:p>
          <a:p>
            <a:r>
              <a:rPr lang="en-US" sz="3700">
                <a:solidFill>
                  <a:srgbClr val="252525"/>
                </a:solidFill>
              </a:rPr>
              <a:t>rights (other than patent) owned or controlled by You, to use, reproduce,</a:t>
            </a:r>
          </a:p>
          <a:p>
            <a:r>
              <a:rPr lang="en-US" sz="3700">
                <a:solidFill>
                  <a:srgbClr val="252525"/>
                </a:solidFill>
              </a:rPr>
              <a:t>display, perform, modify, distribute and </a:t>
            </a:r>
          </a:p>
        </p:txBody>
      </p:sp>
    </p:spTree>
  </p:cSld>
  <p:clrMapOvr>
    <a:masterClrMapping/>
  </p:clrMapOvr>
</p:sld>
</file>

<file path=ppt/slides/slide9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0" id="200"/>
          <p:cNvPicPr>
            <a:picLocks noChangeAspect="true"/>
          </p:cNvPicPr>
          <p:nvPr/>
        </p:nvPicPr>
        <p:blipFill>
          <a:blip r:embed="rId200"/>
          <a:stretch>
            <a:fillRect/>
          </a:stretch>
        </p:blipFill>
        <p:spPr>
          <a:xfrm>
            <a:off x="0" y="127000"/>
            <a:ext cx="23749000" cy="16548100"/>
          </a:xfrm>
          <a:prstGeom prst="rect">
            <a:avLst/>
          </a:prstGeom>
        </p:spPr>
      </p:pic>
      <p:sp>
        <p:nvSpPr>
          <p:cNvPr name="TextBox 200" id="20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Deploy Your Modifications of the same</a:t>
            </a:r>
          </a:p>
          <a:p>
            <a:r>
              <a:rPr lang="en-US" sz="3700">
                <a:solidFill>
                  <a:srgbClr val="252525"/>
                </a:solidFill>
              </a:rPr>
              <a:t>scope and extent as Apple's licenses under Sections 2.1 and 2.2; and</a:t>
            </a:r>
          </a:p>
          <a:p>
            <a:r>
              <a:rPr lang="en-US" sz="5000"/>
              <a:t>  </a:t>
            </a:r>
          </a:p>
          <a:p>
            <a:r>
              <a:rPr lang="en-US" sz="3700">
                <a:solidFill>
                  <a:srgbClr val="252525"/>
                </a:solidFill>
              </a:rPr>
              <a:t>(b) You hereby grant to Apple and its subsidiaries a non-exclusive, worldwide,</a:t>
            </a:r>
          </a:p>
          <a:p>
            <a:r>
              <a:rPr lang="en-US" sz="3700">
                <a:solidFill>
                  <a:srgbClr val="252525"/>
                </a:solidFill>
              </a:rPr>
              <a:t>royalty-free, perpetual and irrevocable license, under Your Applicable Patent</a:t>
            </a:r>
          </a:p>
          <a:p>
            <a:r>
              <a:rPr lang="en-US" sz="3700">
                <a:solidFill>
                  <a:srgbClr val="252525"/>
                </a:solidFill>
              </a:rPr>
              <a:t>Rights and other intellectual property rights (other than patent) owned or</a:t>
            </a:r>
          </a:p>
          <a:p>
            <a:r>
              <a:rPr lang="en-US" sz="3700">
                <a:solidFill>
                  <a:srgbClr val="252525"/>
                </a:solidFill>
              </a:rPr>
              <a:t>controlled by You, to use, reproduce, display, perform, modify or have modified</a:t>
            </a:r>
          </a:p>
          <a:p>
            <a:r>
              <a:rPr lang="en-US" sz="3700">
                <a:solidFill>
                  <a:srgbClr val="252525"/>
                </a:solidFill>
              </a:rPr>
              <a:t>(for Apple and/or its subsidiaries), sublicense and distribute Your</a:t>
            </a:r>
          </a:p>
          <a:p>
            <a:r>
              <a:rPr lang="en-US" sz="3700">
                <a:solidFill>
                  <a:srgbClr val="252525"/>
                </a:solidFill>
              </a:rPr>
              <a:t>Modifications, in any form, through multiple tiers of distribution.</a:t>
            </a:r>
          </a:p>
          <a:p>
            <a:r>
              <a:rPr lang="en-US" sz="5000"/>
              <a:t>  </a:t>
            </a:r>
          </a:p>
          <a:p>
            <a:r>
              <a:rPr lang="en-US" sz="3700">
                <a:solidFill>
                  <a:srgbClr val="252525"/>
                </a:solidFill>
              </a:rPr>
              <a:t>4. Larger Works. You may create a Larger Work by combining Covered Code with</a:t>
            </a:r>
          </a:p>
          <a:p>
            <a:r>
              <a:rPr lang="en-US" sz="3700">
                <a:solidFill>
                  <a:srgbClr val="252525"/>
                </a:solidFill>
              </a:rPr>
              <a:t>other code not governed by the terms of this License and distribute the Larger</a:t>
            </a:r>
          </a:p>
        </p:txBody>
      </p:sp>
    </p:spTree>
  </p:cSld>
  <p:clrMapOvr>
    <a:masterClrMapping/>
  </p:clrMapOvr>
</p:sld>
</file>

<file path=ppt/slides/slide9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2" id="202"/>
          <p:cNvPicPr>
            <a:picLocks noChangeAspect="true"/>
          </p:cNvPicPr>
          <p:nvPr/>
        </p:nvPicPr>
        <p:blipFill>
          <a:blip r:embed="rId202"/>
          <a:stretch>
            <a:fillRect/>
          </a:stretch>
        </p:blipFill>
        <p:spPr>
          <a:xfrm>
            <a:off x="0" y="127000"/>
            <a:ext cx="23749000" cy="16548100"/>
          </a:xfrm>
          <a:prstGeom prst="rect">
            <a:avLst/>
          </a:prstGeom>
        </p:spPr>
      </p:pic>
      <p:sp>
        <p:nvSpPr>
          <p:cNvPr name="TextBox 202" id="20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Work as a single product. In each such instance, You must make sure the</a:t>
            </a:r>
          </a:p>
          <a:p>
            <a:r>
              <a:rPr lang="en-US" sz="3700">
                <a:solidFill>
                  <a:srgbClr val="252525"/>
                </a:solidFill>
              </a:rPr>
              <a:t>requirements of this License are fulfilled for the Covered Code or any portion</a:t>
            </a:r>
          </a:p>
          <a:p>
            <a:r>
              <a:rPr lang="en-US" sz="3700">
                <a:solidFill>
                  <a:srgbClr val="252525"/>
                </a:solidFill>
              </a:rPr>
              <a:t>thereof.</a:t>
            </a:r>
          </a:p>
          <a:p>
            <a:r>
              <a:rPr lang="en-US" sz="5000"/>
              <a:t>  </a:t>
            </a:r>
          </a:p>
          <a:p>
            <a:r>
              <a:rPr lang="en-US" sz="3700">
                <a:solidFill>
                  <a:srgbClr val="252525"/>
                </a:solidFill>
              </a:rPr>
              <a:t>5. Limitations on Patent License. Except as expressly stated in Section 2, no</a:t>
            </a:r>
          </a:p>
          <a:p>
            <a:r>
              <a:rPr lang="en-US" sz="3700">
                <a:solidFill>
                  <a:srgbClr val="252525"/>
                </a:solidFill>
              </a:rPr>
              <a:t>other patent rights, express or implied, are granted by Apple herein.</a:t>
            </a:r>
          </a:p>
          <a:p>
            <a:r>
              <a:rPr lang="en-US" sz="3700">
                <a:solidFill>
                  <a:srgbClr val="252525"/>
                </a:solidFill>
              </a:rPr>
              <a:t>Modifications and/or Larger Works may require additional patent licenses from</a:t>
            </a:r>
          </a:p>
          <a:p>
            <a:r>
              <a:rPr lang="en-US" sz="3700">
                <a:solidFill>
                  <a:srgbClr val="252525"/>
                </a:solidFill>
              </a:rPr>
              <a:t>Apple which Apple may grant in its sole discretion.</a:t>
            </a:r>
          </a:p>
          <a:p>
            <a:r>
              <a:rPr lang="en-US" sz="5000"/>
              <a:t>  </a:t>
            </a:r>
          </a:p>
          <a:p>
            <a:r>
              <a:rPr lang="en-US" sz="3700">
                <a:solidFill>
                  <a:srgbClr val="252525"/>
                </a:solidFill>
              </a:rPr>
              <a:t>6. Additional Terms. You may choose to offer, and to charge a fee for, warranty,</a:t>
            </a:r>
          </a:p>
          <a:p>
            <a:r>
              <a:rPr lang="en-US" sz="3700">
                <a:solidFill>
                  <a:srgbClr val="252525"/>
                </a:solidFill>
              </a:rPr>
              <a:t>support, indemnity or liability obligations and/or other rights consistent with</a:t>
            </a:r>
          </a:p>
          <a:p>
            <a:r>
              <a:rPr lang="en-US" sz="3700">
                <a:solidFill>
                  <a:srgbClr val="252525"/>
                </a:solidFill>
              </a:rPr>
              <a:t>the scope of the license granted herein ("Additional Terms") to one or more</a:t>
            </a:r>
          </a:p>
        </p:txBody>
      </p:sp>
    </p:spTree>
  </p:cSld>
  <p:clrMapOvr>
    <a:masterClrMapping/>
  </p:clrMapOvr>
</p:sld>
</file>

<file path=ppt/slides/slide9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4" id="204"/>
          <p:cNvPicPr>
            <a:picLocks noChangeAspect="true"/>
          </p:cNvPicPr>
          <p:nvPr/>
        </p:nvPicPr>
        <p:blipFill>
          <a:blip r:embed="rId204"/>
          <a:stretch>
            <a:fillRect/>
          </a:stretch>
        </p:blipFill>
        <p:spPr>
          <a:xfrm>
            <a:off x="0" y="127000"/>
            <a:ext cx="23749000" cy="16548100"/>
          </a:xfrm>
          <a:prstGeom prst="rect">
            <a:avLst/>
          </a:prstGeom>
        </p:spPr>
      </p:pic>
      <p:sp>
        <p:nvSpPr>
          <p:cNvPr name="TextBox 204" id="20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recipients of Covered Code. However, You may do so only on Your own behalf and as</a:t>
            </a:r>
          </a:p>
          <a:p>
            <a:r>
              <a:rPr lang="en-US" sz="3700">
                <a:solidFill>
                  <a:srgbClr val="252525"/>
                </a:solidFill>
              </a:rPr>
              <a:t>Your sole responsibility, and not on behalf of Apple or any Contributor. You must</a:t>
            </a:r>
          </a:p>
          <a:p>
            <a:r>
              <a:rPr lang="en-US" sz="3700">
                <a:solidFill>
                  <a:srgbClr val="252525"/>
                </a:solidFill>
              </a:rPr>
              <a:t>obtain the recipient's agreement that any such Additional Terms are offered by</a:t>
            </a:r>
          </a:p>
          <a:p>
            <a:r>
              <a:rPr lang="en-US" sz="3700">
                <a:solidFill>
                  <a:srgbClr val="252525"/>
                </a:solidFill>
              </a:rPr>
              <a:t>You alone, and You hereby agree to indemnify, defend and hold Apple and every</a:t>
            </a:r>
          </a:p>
          <a:p>
            <a:r>
              <a:rPr lang="en-US" sz="3700">
                <a:solidFill>
                  <a:srgbClr val="252525"/>
                </a:solidFill>
              </a:rPr>
              <a:t>Contributor harmless for any liability incurred by or claims asserted against</a:t>
            </a:r>
          </a:p>
          <a:p>
            <a:r>
              <a:rPr lang="en-US" sz="3700">
                <a:solidFill>
                  <a:srgbClr val="252525"/>
                </a:solidFill>
              </a:rPr>
              <a:t>Apple or such Contributor by reason of any such Additional Terms.</a:t>
            </a:r>
          </a:p>
          <a:p>
            <a:r>
              <a:rPr lang="en-US" sz="5000"/>
              <a:t>  </a:t>
            </a:r>
          </a:p>
          <a:p>
            <a:r>
              <a:rPr lang="en-US" sz="3700">
                <a:solidFill>
                  <a:srgbClr val="252525"/>
                </a:solidFill>
              </a:rPr>
              <a:t>7. Versions of the License. Apple may publish revised and/or new versions of this</a:t>
            </a:r>
          </a:p>
          <a:p>
            <a:r>
              <a:rPr lang="en-US" sz="3700">
                <a:solidFill>
                  <a:srgbClr val="252525"/>
                </a:solidFill>
              </a:rPr>
              <a:t>License from time to time. Each version will be given a distinguishing version</a:t>
            </a:r>
          </a:p>
          <a:p>
            <a:r>
              <a:rPr lang="en-US" sz="3700">
                <a:solidFill>
                  <a:srgbClr val="252525"/>
                </a:solidFill>
              </a:rPr>
              <a:t>number. Once Original Code has been published under a particular version of this</a:t>
            </a:r>
          </a:p>
          <a:p>
            <a:r>
              <a:rPr lang="en-US" sz="3700">
                <a:solidFill>
                  <a:srgbClr val="252525"/>
                </a:solidFill>
              </a:rPr>
              <a:t>License, You may continue to use it under the terms of that version. You may also</a:t>
            </a:r>
          </a:p>
        </p:txBody>
      </p:sp>
    </p:spTree>
  </p:cSld>
  <p:clrMapOvr>
    <a:masterClrMapping/>
  </p:clrMapOvr>
</p:sld>
</file>

<file path=ppt/slides/slide9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6" id="206"/>
          <p:cNvPicPr>
            <a:picLocks noChangeAspect="true"/>
          </p:cNvPicPr>
          <p:nvPr/>
        </p:nvPicPr>
        <p:blipFill>
          <a:blip r:embed="rId206"/>
          <a:stretch>
            <a:fillRect/>
          </a:stretch>
        </p:blipFill>
        <p:spPr>
          <a:xfrm>
            <a:off x="0" y="127000"/>
            <a:ext cx="23749000" cy="16548100"/>
          </a:xfrm>
          <a:prstGeom prst="rect">
            <a:avLst/>
          </a:prstGeom>
        </p:spPr>
      </p:pic>
      <p:sp>
        <p:nvSpPr>
          <p:cNvPr name="TextBox 206" id="20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choose to use such Original Code under the terms of any subsequent version of</a:t>
            </a:r>
          </a:p>
          <a:p>
            <a:r>
              <a:rPr lang="en-US" sz="3700">
                <a:solidFill>
                  <a:srgbClr val="252525"/>
                </a:solidFill>
              </a:rPr>
              <a:t>this License published by Apple. No one other than Apple has the right to modify</a:t>
            </a:r>
          </a:p>
          <a:p>
            <a:r>
              <a:rPr lang="en-US" sz="3700">
                <a:solidFill>
                  <a:srgbClr val="252525"/>
                </a:solidFill>
              </a:rPr>
              <a:t>the terms applicable to Covered Code created under this License.</a:t>
            </a:r>
          </a:p>
          <a:p>
            <a:r>
              <a:rPr lang="en-US" sz="5000"/>
              <a:t>  </a:t>
            </a:r>
          </a:p>
          <a:p>
            <a:r>
              <a:rPr lang="en-US" sz="3700">
                <a:solidFill>
                  <a:srgbClr val="252525"/>
                </a:solidFill>
              </a:rPr>
              <a:t>8. NO WARRANTY OR SUPPORT. The Covered Code may contain in whole or in part</a:t>
            </a:r>
          </a:p>
          <a:p>
            <a:r>
              <a:rPr lang="en-US" sz="3700">
                <a:solidFill>
                  <a:srgbClr val="252525"/>
                </a:solidFill>
              </a:rPr>
              <a:t>pre-release, untested, or not fully tested works. The Covered Code may contain</a:t>
            </a:r>
          </a:p>
          <a:p>
            <a:r>
              <a:rPr lang="en-US" sz="3700">
                <a:solidFill>
                  <a:srgbClr val="252525"/>
                </a:solidFill>
              </a:rPr>
              <a:t>errors that could cause failures or loss of data, and may be incomplete or</a:t>
            </a:r>
          </a:p>
          <a:p>
            <a:r>
              <a:rPr lang="en-US" sz="3700">
                <a:solidFill>
                  <a:srgbClr val="252525"/>
                </a:solidFill>
              </a:rPr>
              <a:t>contain inaccuracies. You expressly acknowledge and agree that use of the Covered</a:t>
            </a:r>
          </a:p>
          <a:p>
            <a:r>
              <a:rPr lang="en-US" sz="3700">
                <a:solidFill>
                  <a:srgbClr val="252525"/>
                </a:solidFill>
              </a:rPr>
              <a:t>Code, or any portion thereof, is at Your sole and entire risk. THE COVERED CODE</a:t>
            </a:r>
          </a:p>
          <a:p>
            <a:r>
              <a:rPr lang="en-US" sz="3700">
                <a:solidFill>
                  <a:srgbClr val="252525"/>
                </a:solidFill>
              </a:rPr>
              <a:t>IS PROVIDED "AS IS" AND WITHOUT WARRANTY, UPGRADES OR SUPPORT OF </a:t>
            </a:r>
          </a:p>
        </p:txBody>
      </p:sp>
    </p:spTree>
  </p:cSld>
  <p:clrMapOvr>
    <a:masterClrMapping/>
  </p:clrMapOvr>
</p:sld>
</file>

<file path=ppt/slides/slide9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8" id="208"/>
          <p:cNvPicPr>
            <a:picLocks noChangeAspect="true"/>
          </p:cNvPicPr>
          <p:nvPr/>
        </p:nvPicPr>
        <p:blipFill>
          <a:blip r:embed="rId208"/>
          <a:stretch>
            <a:fillRect/>
          </a:stretch>
        </p:blipFill>
        <p:spPr>
          <a:xfrm>
            <a:off x="0" y="127000"/>
            <a:ext cx="23749000" cy="16548100"/>
          </a:xfrm>
          <a:prstGeom prst="rect">
            <a:avLst/>
          </a:prstGeom>
        </p:spPr>
      </p:pic>
      <p:sp>
        <p:nvSpPr>
          <p:cNvPr name="TextBox 208" id="20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ANY KIND AND</a:t>
            </a:r>
          </a:p>
          <a:p>
            <a:r>
              <a:rPr lang="en-US" sz="3700">
                <a:solidFill>
                  <a:srgbClr val="252525"/>
                </a:solidFill>
              </a:rPr>
              <a:t>APPLE AND APPLE'S LICENSOR(S) (COLLECTIVELY REFERRED TO AS "APPLE" FOR THE</a:t>
            </a:r>
          </a:p>
          <a:p>
            <a:r>
              <a:rPr lang="en-US" sz="3700">
                <a:solidFill>
                  <a:srgbClr val="252525"/>
                </a:solidFill>
              </a:rPr>
              <a:t>PURPOSES OF SECTIONS 8 AND 9) AND ALL CONTRIBUTORS EXPRESSLY DISCLAIM ALL</a:t>
            </a:r>
          </a:p>
          <a:p>
            <a:r>
              <a:rPr lang="en-US" sz="3700">
                <a:solidFill>
                  <a:srgbClr val="252525"/>
                </a:solidFill>
              </a:rPr>
              <a:t>WARRANTIES AND/OR CONDITIONS, EXPRESS OR IMPLIED, INCLUDING, BUT NOT LIMITED TO,</a:t>
            </a:r>
          </a:p>
          <a:p>
            <a:r>
              <a:rPr lang="en-US" sz="3700">
                <a:solidFill>
                  <a:srgbClr val="252525"/>
                </a:solidFill>
              </a:rPr>
              <a:t>THE IMPLIED WARRANTIES AND/OR CONDITIONS OF MERCHANTABILITY, OF SATISFACTORY</a:t>
            </a:r>
          </a:p>
          <a:p>
            <a:r>
              <a:rPr lang="en-US" sz="3700">
                <a:solidFill>
                  <a:srgbClr val="252525"/>
                </a:solidFill>
              </a:rPr>
              <a:t>QUALITY, OF FITNESS FOR A PARTICULAR PURPOSE, OF ACCURACY, OF QUIET ENJOYMENT,</a:t>
            </a:r>
          </a:p>
          <a:p>
            <a:r>
              <a:rPr lang="en-US" sz="3700">
                <a:solidFill>
                  <a:srgbClr val="252525"/>
                </a:solidFill>
              </a:rPr>
              <a:t>AND NONINFRINGEMENT OF THIRD PARTY RIGHTS. APPLE AND EACH CONTRIBUTOR DOES NOT</a:t>
            </a:r>
          </a:p>
          <a:p>
            <a:r>
              <a:rPr lang="en-US" sz="3700">
                <a:solidFill>
                  <a:srgbClr val="252525"/>
                </a:solidFill>
              </a:rPr>
              <a:t>WARRANT AGAINST INTERFERENCE WITH YOUR ENJOYMENT OF THE COVERED </a:t>
            </a:r>
          </a:p>
        </p:txBody>
      </p:sp>
    </p:spTree>
  </p:cSld>
  <p:clrMapOvr>
    <a:masterClrMapping/>
  </p:clrMapOvr>
</p:sld>
</file>

<file path=ppt/slides/slide9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0" id="210"/>
          <p:cNvPicPr>
            <a:picLocks noChangeAspect="true"/>
          </p:cNvPicPr>
          <p:nvPr/>
        </p:nvPicPr>
        <p:blipFill>
          <a:blip r:embed="rId210"/>
          <a:stretch>
            <a:fillRect/>
          </a:stretch>
        </p:blipFill>
        <p:spPr>
          <a:xfrm>
            <a:off x="0" y="127000"/>
            <a:ext cx="23749000" cy="16548100"/>
          </a:xfrm>
          <a:prstGeom prst="rect">
            <a:avLst/>
          </a:prstGeom>
        </p:spPr>
      </p:pic>
      <p:sp>
        <p:nvSpPr>
          <p:cNvPr name="TextBox 210" id="21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CODE, THAT THE</a:t>
            </a:r>
          </a:p>
          <a:p>
            <a:r>
              <a:rPr lang="en-US" sz="3700">
                <a:solidFill>
                  <a:srgbClr val="252525"/>
                </a:solidFill>
              </a:rPr>
              <a:t>FUNCTIONS CONTAINED IN THE COVERED CODE WILL MEET YOUR REQUIREMENTS, THAT THE</a:t>
            </a:r>
          </a:p>
          <a:p>
            <a:r>
              <a:rPr lang="en-US" sz="3700">
                <a:solidFill>
                  <a:srgbClr val="252525"/>
                </a:solidFill>
              </a:rPr>
              <a:t>OPERATION OF THE COVERED CODE WILL BE UNINTERRUPTED OR ERROR-FREE, OR THAT</a:t>
            </a:r>
          </a:p>
          <a:p>
            <a:r>
              <a:rPr lang="en-US" sz="3700">
                <a:solidFill>
                  <a:srgbClr val="252525"/>
                </a:solidFill>
              </a:rPr>
              <a:t>DEFECTS IN THE COVERED CODE WILL BE CORRECTED. NO ORAL OR WRITTEN INFORMATION OR</a:t>
            </a:r>
          </a:p>
          <a:p>
            <a:r>
              <a:rPr lang="en-US" sz="3700">
                <a:solidFill>
                  <a:srgbClr val="252525"/>
                </a:solidFill>
              </a:rPr>
              <a:t>ADVICE GIVEN BY APPLE, AN APPLE AUTHORIZED REPRESENTATIVE OR ANY CONTRIBUTOR</a:t>
            </a:r>
          </a:p>
          <a:p>
            <a:r>
              <a:rPr lang="en-US" sz="3700">
                <a:solidFill>
                  <a:srgbClr val="252525"/>
                </a:solidFill>
              </a:rPr>
              <a:t>SHALL CREATE A WARRANTY. You acknowledge that the Covered Code is not intended</a:t>
            </a:r>
          </a:p>
          <a:p>
            <a:r>
              <a:rPr lang="en-US" sz="3700">
                <a:solidFill>
                  <a:srgbClr val="252525"/>
                </a:solidFill>
              </a:rPr>
              <a:t>for use in the operation of nuclear facilities, aircraft navigation,</a:t>
            </a:r>
          </a:p>
          <a:p>
            <a:r>
              <a:rPr lang="en-US" sz="3700">
                <a:solidFill>
                  <a:srgbClr val="252525"/>
                </a:solidFill>
              </a:rPr>
              <a:t>communication systems, or air traffic control machines in which case the failure</a:t>
            </a:r>
          </a:p>
          <a:p>
            <a:r>
              <a:rPr lang="en-US" sz="3700">
                <a:solidFill>
                  <a:srgbClr val="252525"/>
                </a:solidFill>
              </a:rPr>
              <a:t>of the Covered Code could lead to death, </a:t>
            </a:r>
          </a:p>
        </p:txBody>
      </p:sp>
    </p:spTree>
  </p:cSld>
  <p:clrMapOvr>
    <a:masterClrMapping/>
  </p:clrMapOvr>
</p:sld>
</file>

<file path=ppt/slides/slide9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2" id="212"/>
          <p:cNvPicPr>
            <a:picLocks noChangeAspect="true"/>
          </p:cNvPicPr>
          <p:nvPr/>
        </p:nvPicPr>
        <p:blipFill>
          <a:blip r:embed="rId212"/>
          <a:stretch>
            <a:fillRect/>
          </a:stretch>
        </p:blipFill>
        <p:spPr>
          <a:xfrm>
            <a:off x="0" y="127000"/>
            <a:ext cx="23749000" cy="16548100"/>
          </a:xfrm>
          <a:prstGeom prst="rect">
            <a:avLst/>
          </a:prstGeom>
        </p:spPr>
      </p:pic>
      <p:sp>
        <p:nvSpPr>
          <p:cNvPr name="TextBox 212" id="21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personal injury, or severe physical or</a:t>
            </a:r>
          </a:p>
          <a:p>
            <a:r>
              <a:rPr lang="en-US" sz="3700">
                <a:solidFill>
                  <a:srgbClr val="252525"/>
                </a:solidFill>
              </a:rPr>
              <a:t>environmental damage.</a:t>
            </a:r>
          </a:p>
          <a:p>
            <a:r>
              <a:rPr lang="en-US" sz="5000"/>
              <a:t>  </a:t>
            </a:r>
          </a:p>
          <a:p>
            <a:r>
              <a:rPr lang="en-US" sz="3700">
                <a:solidFill>
                  <a:srgbClr val="252525"/>
                </a:solidFill>
              </a:rPr>
              <a:t>9. LIMITATION OF LIABILITY. TO THE EXTENT NOT PROHIBITED BY LAW, IN NO EVENT</a:t>
            </a:r>
          </a:p>
          <a:p>
            <a:r>
              <a:rPr lang="en-US" sz="3700">
                <a:solidFill>
                  <a:srgbClr val="252525"/>
                </a:solidFill>
              </a:rPr>
              <a:t>SHALL APPLE OR ANY CONTRIBUTOR BE LIABLE FOR ANY INCIDENTAL, SPECIAL, INDIRECT OR</a:t>
            </a:r>
          </a:p>
          <a:p>
            <a:r>
              <a:rPr lang="en-US" sz="3700">
                <a:solidFill>
                  <a:srgbClr val="252525"/>
                </a:solidFill>
              </a:rPr>
              <a:t>CONSEQUENTIAL DAMAGES ARISING OUT OF OR RELATING TO THIS LICENSE OR YOUR USE OR</a:t>
            </a:r>
          </a:p>
          <a:p>
            <a:r>
              <a:rPr lang="en-US" sz="3700">
                <a:solidFill>
                  <a:srgbClr val="252525"/>
                </a:solidFill>
              </a:rPr>
              <a:t>INABILITY TO USE THE COVERED CODE, OR ANY PORTION THEREOF, WHETHER UNDER A THEORY</a:t>
            </a:r>
          </a:p>
          <a:p>
            <a:r>
              <a:rPr lang="en-US" sz="3700">
                <a:solidFill>
                  <a:srgbClr val="252525"/>
                </a:solidFill>
              </a:rPr>
              <a:t>OF CONTRACT, WARRANTY, TORT (INCLUDING NEGLIGENCE), PRODUCTS LIABILITY OR</a:t>
            </a:r>
          </a:p>
          <a:p>
            <a:r>
              <a:rPr lang="en-US" sz="3700">
                <a:solidFill>
                  <a:srgbClr val="252525"/>
                </a:solidFill>
              </a:rPr>
              <a:t>OTHERWISE, EVEN IF APPLE OR SUCH CONTRIBUTOR HAS BEEN ADVISED OF THE POSSIBILITY</a:t>
            </a:r>
          </a:p>
        </p:txBody>
      </p:sp>
    </p:spTree>
  </p:cSld>
  <p:clrMapOvr>
    <a:masterClrMapping/>
  </p:clrMapOvr>
</p:sld>
</file>

<file path=ppt/slides/slide9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4" id="214"/>
          <p:cNvPicPr>
            <a:picLocks noChangeAspect="true"/>
          </p:cNvPicPr>
          <p:nvPr/>
        </p:nvPicPr>
        <p:blipFill>
          <a:blip r:embed="rId214"/>
          <a:stretch>
            <a:fillRect/>
          </a:stretch>
        </p:blipFill>
        <p:spPr>
          <a:xfrm>
            <a:off x="0" y="127000"/>
            <a:ext cx="23749000" cy="16548100"/>
          </a:xfrm>
          <a:prstGeom prst="rect">
            <a:avLst/>
          </a:prstGeom>
        </p:spPr>
      </p:pic>
      <p:sp>
        <p:nvSpPr>
          <p:cNvPr name="TextBox 214" id="21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OF SUCH DAMAGES AND NOTWITHSTANDING THE FAILURE OF ESSENTIAL PURPOSE OF ANY</a:t>
            </a:r>
          </a:p>
          <a:p>
            <a:r>
              <a:rPr lang="en-US" sz="3700">
                <a:solidFill>
                  <a:srgbClr val="252525"/>
                </a:solidFill>
              </a:rPr>
              <a:t>REMEDY. SOME JURISDICTIONS DO NOT ALLOW THE LIMITATION OF LIABILITY OF INCIDENTAL</a:t>
            </a:r>
          </a:p>
          <a:p>
            <a:r>
              <a:rPr lang="en-US" sz="3700">
                <a:solidFill>
                  <a:srgbClr val="252525"/>
                </a:solidFill>
              </a:rPr>
              <a:t>OR CONSEQUENTIAL DAMAGES, SO THIS LIMITATION MAY NOT APPLY TO YOU. In no event</a:t>
            </a:r>
          </a:p>
          <a:p>
            <a:r>
              <a:rPr lang="en-US" sz="3700">
                <a:solidFill>
                  <a:srgbClr val="252525"/>
                </a:solidFill>
              </a:rPr>
              <a:t>shall Apple's total liability to You for all damages (other than as may be</a:t>
            </a:r>
          </a:p>
          <a:p>
            <a:r>
              <a:rPr lang="en-US" sz="3700">
                <a:solidFill>
                  <a:srgbClr val="252525"/>
                </a:solidFill>
              </a:rPr>
              <a:t>required by applicable law) under this License exceed the amount of fifty dollars</a:t>
            </a:r>
          </a:p>
          <a:p>
            <a:r>
              <a:rPr lang="en-US" sz="3700">
                <a:solidFill>
                  <a:srgbClr val="252525"/>
                </a:solidFill>
              </a:rPr>
              <a:t>($50.00).</a:t>
            </a:r>
          </a:p>
          <a:p>
            <a:r>
              <a:rPr lang="en-US" sz="5000"/>
              <a:t>  </a:t>
            </a:r>
          </a:p>
          <a:p>
            <a:r>
              <a:rPr lang="en-US" sz="3700">
                <a:solidFill>
                  <a:srgbClr val="252525"/>
                </a:solidFill>
              </a:rPr>
              <a:t>10. Trademarks. This License does not grant any rights to use the trademarks or</a:t>
            </a:r>
          </a:p>
          <a:p>
            <a:r>
              <a:rPr lang="en-US" sz="3700">
                <a:solidFill>
                  <a:srgbClr val="252525"/>
                </a:solidFill>
              </a:rPr>
              <a:t>trade names "Apple", "Apple Computer", "Mac OS X", "Mac OS X Server",</a:t>
            </a:r>
          </a:p>
          <a:p>
            <a:r>
              <a:rPr lang="en-US" sz="3700">
                <a:solidFill>
                  <a:srgbClr val="252525"/>
                </a:solidFill>
              </a:rPr>
              <a:t>"QuickTime", "QuickTime Streaming Server" or any other trademarks or trade </a:t>
            </a:r>
          </a:p>
        </p:txBody>
      </p:sp>
    </p:spTree>
  </p:cSld>
  <p:clrMapOvr>
    <a:masterClrMapping/>
  </p:clrMapOvr>
</p:sld>
</file>

<file path=ppt/slides/slide10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6" id="216"/>
          <p:cNvPicPr>
            <a:picLocks noChangeAspect="true"/>
          </p:cNvPicPr>
          <p:nvPr/>
        </p:nvPicPr>
        <p:blipFill>
          <a:blip r:embed="rId216"/>
          <a:stretch>
            <a:fillRect/>
          </a:stretch>
        </p:blipFill>
        <p:spPr>
          <a:xfrm>
            <a:off x="0" y="127000"/>
            <a:ext cx="23749000" cy="16548100"/>
          </a:xfrm>
          <a:prstGeom prst="rect">
            <a:avLst/>
          </a:prstGeom>
        </p:spPr>
      </p:pic>
      <p:sp>
        <p:nvSpPr>
          <p:cNvPr name="TextBox 216" id="21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names</a:t>
            </a:r>
          </a:p>
          <a:p>
            <a:r>
              <a:rPr lang="en-US" sz="3700">
                <a:solidFill>
                  <a:srgbClr val="252525"/>
                </a:solidFill>
              </a:rPr>
              <a:t>belonging to Apple (collectively "Apple Marks") or to any trademark or trade name</a:t>
            </a:r>
          </a:p>
          <a:p>
            <a:r>
              <a:rPr lang="en-US" sz="3700">
                <a:solidFill>
                  <a:srgbClr val="252525"/>
                </a:solidFill>
              </a:rPr>
              <a:t>belonging to any Contributor. No Apple Marks may be used to endorse or promote</a:t>
            </a:r>
          </a:p>
          <a:p>
            <a:r>
              <a:rPr lang="en-US" sz="3700">
                <a:solidFill>
                  <a:srgbClr val="252525"/>
                </a:solidFill>
              </a:rPr>
              <a:t>products derived from the Original Code other than as permitted by and in strict</a:t>
            </a:r>
          </a:p>
          <a:p>
            <a:r>
              <a:rPr lang="en-US" sz="3700">
                <a:solidFill>
                  <a:srgbClr val="252525"/>
                </a:solidFill>
              </a:rPr>
              <a:t>compliance at all times with Apple's third party trademark usage guidelines which</a:t>
            </a:r>
          </a:p>
          <a:p>
            <a:r>
              <a:rPr lang="en-US" sz="3700">
                <a:solidFill>
                  <a:srgbClr val="252525"/>
                </a:solidFill>
              </a:rPr>
              <a:t>are posted at</a:t>
            </a:r>
          </a:p>
          <a:p>
            <a:r>
              <a:rPr lang="en-US" sz="3700">
                <a:solidFill>
                  <a:srgbClr val="252525"/>
                </a:solidFill>
              </a:rPr>
              <a:t>eudora="autourl"&gt;</a:t>
            </a:r>
            <a:r>
              <a:rPr lang="en-US" sz="3700">
                <a:solidFill>
                  <a:srgbClr val="252525"/>
                </a:solidFill>
              </a:rPr>
              <a:t>.</a:t>
            </a:r>
          </a:p>
          <a:p>
            <a:r>
              <a:rPr lang="en-US" sz="5000"/>
              <a:t>  </a:t>
            </a:r>
          </a:p>
          <a:p>
            <a:r>
              <a:rPr lang="en-US" sz="3700">
                <a:solidFill>
                  <a:srgbClr val="252525"/>
                </a:solidFill>
              </a:rPr>
              <a:t>11. Ownership. Subject to the licenses granted under this License, each</a:t>
            </a:r>
          </a:p>
          <a:p>
            <a:r>
              <a:rPr lang="en-US" sz="3700">
                <a:solidFill>
                  <a:srgbClr val="252525"/>
                </a:solidFill>
              </a:rPr>
              <a:t>Contributor retains all rights, title and interest in and to any Modifications</a:t>
            </a:r>
          </a:p>
          <a:p>
            <a:r>
              <a:rPr lang="en-US" sz="3700">
                <a:solidFill>
                  <a:srgbClr val="252525"/>
                </a:solidFill>
              </a:rPr>
              <a:t>made by such Contributor. Apple retains all </a:t>
            </a:r>
          </a:p>
        </p:txBody>
      </p:sp>
      <p:pic>
        <p:nvPicPr>
          <p:cNvPr name="Picture 218" id="218">
            <a:hlinkClick r:id="rId219"/>
          </p:cNvPr>
          <p:cNvPicPr>
            <a:picLocks noChangeAspect="true"/>
          </p:cNvPicPr>
          <p:nvPr/>
        </p:nvPicPr>
        <p:blipFill>
          <a:blip r:embed="rId218"/>
          <a:stretch>
            <a:fillRect/>
          </a:stretch>
        </p:blipFill>
        <p:spPr>
          <a:xfrm>
            <a:off x="6451600" y="317500"/>
            <a:ext cx="10820400" cy="1714500"/>
          </a:xfrm>
          <a:prstGeom prst="rect">
            <a:avLst/>
          </a:prstGeom>
        </p:spPr>
      </p:pic>
    </p:spTree>
  </p:cSld>
  <p:clrMapOvr>
    <a:masterClrMapping/>
  </p:clrMapOvr>
</p:sld>
</file>

<file path=ppt/slides/slide10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0" id="220"/>
          <p:cNvPicPr>
            <a:picLocks noChangeAspect="true"/>
          </p:cNvPicPr>
          <p:nvPr/>
        </p:nvPicPr>
        <p:blipFill>
          <a:blip r:embed="rId220"/>
          <a:stretch>
            <a:fillRect/>
          </a:stretch>
        </p:blipFill>
        <p:spPr>
          <a:xfrm>
            <a:off x="0" y="127000"/>
            <a:ext cx="23749000" cy="16548100"/>
          </a:xfrm>
          <a:prstGeom prst="rect">
            <a:avLst/>
          </a:prstGeom>
        </p:spPr>
      </p:pic>
      <p:sp>
        <p:nvSpPr>
          <p:cNvPr name="TextBox 220" id="22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rights, title and interest in and to</a:t>
            </a:r>
          </a:p>
          <a:p>
            <a:r>
              <a:rPr lang="en-US" sz="3700">
                <a:solidFill>
                  <a:srgbClr val="252525"/>
                </a:solidFill>
              </a:rPr>
              <a:t>the Original Code and any Modifications made by or on behalf of Apple ("Apple</a:t>
            </a:r>
          </a:p>
          <a:p>
            <a:r>
              <a:rPr lang="en-US" sz="3700">
                <a:solidFill>
                  <a:srgbClr val="252525"/>
                </a:solidFill>
              </a:rPr>
              <a:t>Modifications"), and such Apple Modifications will not be automatically subject</a:t>
            </a:r>
          </a:p>
          <a:p>
            <a:r>
              <a:rPr lang="en-US" sz="3700">
                <a:solidFill>
                  <a:srgbClr val="252525"/>
                </a:solidFill>
              </a:rPr>
              <a:t>to this License. Apple may, at its sole discretion, choose to license such Apple</a:t>
            </a:r>
          </a:p>
          <a:p>
            <a:r>
              <a:rPr lang="en-US" sz="3700">
                <a:solidFill>
                  <a:srgbClr val="252525"/>
                </a:solidFill>
              </a:rPr>
              <a:t>Modifications under this License, or on different terms from those contained in</a:t>
            </a:r>
          </a:p>
          <a:p>
            <a:r>
              <a:rPr lang="en-US" sz="3700">
                <a:solidFill>
                  <a:srgbClr val="252525"/>
                </a:solidFill>
              </a:rPr>
              <a:t>this License or may choose not to license them at all.</a:t>
            </a:r>
          </a:p>
          <a:p>
            <a:r>
              <a:rPr lang="en-US" sz="5000"/>
              <a:t>  </a:t>
            </a:r>
          </a:p>
          <a:p>
            <a:r>
              <a:rPr lang="en-US" sz="3700">
                <a:solidFill>
                  <a:srgbClr val="252525"/>
                </a:solidFill>
              </a:rPr>
              <a:t>12. Termination.</a:t>
            </a:r>
          </a:p>
          <a:p>
            <a:r>
              <a:rPr lang="en-US" sz="5000"/>
              <a:t>  </a:t>
            </a:r>
          </a:p>
          <a:p>
            <a:r>
              <a:rPr lang="en-US" sz="3700">
                <a:solidFill>
                  <a:srgbClr val="252525"/>
                </a:solidFill>
              </a:rPr>
              <a:t>12.1 Termination. This License and the rights granted hereunder will terminate:</a:t>
            </a:r>
          </a:p>
          <a:p>
            <a:r>
              <a:rPr lang="en-US" sz="5000"/>
              <a:t>  </a:t>
            </a:r>
          </a:p>
          <a:p>
            <a:r>
              <a:rPr lang="en-US" sz="3700">
                <a:solidFill>
                  <a:srgbClr val="252525"/>
                </a:solidFill>
              </a:rPr>
              <a:t>(a) automatically without notice from Apple if You fail to comply with any</a:t>
            </a:r>
          </a:p>
          <a:p>
            <a:r>
              <a:rPr lang="en-US" sz="3700">
                <a:solidFill>
                  <a:srgbClr val="252525"/>
                </a:solidFill>
              </a:rPr>
              <a:t>term(s) of this License and fail to cure </a:t>
            </a:r>
          </a:p>
        </p:txBody>
      </p:sp>
    </p:spTree>
  </p:cSld>
  <p:clrMapOvr>
    <a:masterClrMapping/>
  </p:clrMapOvr>
</p:sld>
</file>

<file path=ppt/slides/slide10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2" id="222"/>
          <p:cNvPicPr>
            <a:picLocks noChangeAspect="true"/>
          </p:cNvPicPr>
          <p:nvPr/>
        </p:nvPicPr>
        <p:blipFill>
          <a:blip r:embed="rId222"/>
          <a:stretch>
            <a:fillRect/>
          </a:stretch>
        </p:blipFill>
        <p:spPr>
          <a:xfrm>
            <a:off x="0" y="127000"/>
            <a:ext cx="23749000" cy="16548100"/>
          </a:xfrm>
          <a:prstGeom prst="rect">
            <a:avLst/>
          </a:prstGeom>
        </p:spPr>
      </p:pic>
      <p:sp>
        <p:nvSpPr>
          <p:cNvPr name="TextBox 222" id="22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such breach within 30 days of becoming</a:t>
            </a:r>
          </a:p>
          <a:p>
            <a:r>
              <a:rPr lang="en-US" sz="3700">
                <a:solidFill>
                  <a:srgbClr val="252525"/>
                </a:solidFill>
              </a:rPr>
              <a:t>aware of such breach;</a:t>
            </a:r>
          </a:p>
          <a:p>
            <a:r>
              <a:rPr lang="en-US" sz="5000"/>
              <a:t>  </a:t>
            </a:r>
          </a:p>
          <a:p>
            <a:r>
              <a:rPr lang="en-US" sz="3700">
                <a:solidFill>
                  <a:srgbClr val="252525"/>
                </a:solidFill>
              </a:rPr>
              <a:t>(b) immediately in the event of the circumstances described in Section 13.5(b);</a:t>
            </a:r>
          </a:p>
          <a:p>
            <a:r>
              <a:rPr lang="en-US" sz="3700">
                <a:solidFill>
                  <a:srgbClr val="252525"/>
                </a:solidFill>
              </a:rPr>
              <a:t>or</a:t>
            </a:r>
          </a:p>
          <a:p>
            <a:r>
              <a:rPr lang="en-US" sz="5000"/>
              <a:t>  </a:t>
            </a:r>
          </a:p>
          <a:p>
            <a:r>
              <a:rPr lang="en-US" sz="3700">
                <a:solidFill>
                  <a:srgbClr val="252525"/>
                </a:solidFill>
              </a:rPr>
              <a:t>(c) automatically without notice from Apple if You, at any time during the term</a:t>
            </a:r>
          </a:p>
          <a:p>
            <a:r>
              <a:rPr lang="en-US" sz="3700">
                <a:solidFill>
                  <a:srgbClr val="252525"/>
                </a:solidFill>
              </a:rPr>
              <a:t>of this License, commence an action for patent infringement against Apple.</a:t>
            </a:r>
          </a:p>
          <a:p>
            <a:r>
              <a:rPr lang="en-US" sz="5000"/>
              <a:t>  </a:t>
            </a:r>
          </a:p>
          <a:p>
            <a:r>
              <a:rPr lang="en-US" sz="3700">
                <a:solidFill>
                  <a:srgbClr val="252525"/>
                </a:solidFill>
              </a:rPr>
              <a:t>12.2 Effect of Termination. Upon termination, You agree to immediately stop any</a:t>
            </a:r>
          </a:p>
          <a:p>
            <a:r>
              <a:rPr lang="en-US" sz="3700">
                <a:solidFill>
                  <a:srgbClr val="252525"/>
                </a:solidFill>
              </a:rPr>
              <a:t>further use, reproduction, modification, sublicensing and distribution of the</a:t>
            </a:r>
          </a:p>
          <a:p>
            <a:r>
              <a:rPr lang="en-US" sz="3700">
                <a:solidFill>
                  <a:srgbClr val="252525"/>
                </a:solidFill>
              </a:rPr>
              <a:t>Covered Code and to destroy all copies of the Covered Code that are in your</a:t>
            </a:r>
          </a:p>
          <a:p>
            <a:r>
              <a:rPr lang="en-US" sz="3700">
                <a:solidFill>
                  <a:srgbClr val="252525"/>
                </a:solidFill>
              </a:rPr>
              <a:t>possession or control. All sublicenses to </a:t>
            </a:r>
          </a:p>
        </p:txBody>
      </p:sp>
    </p:spTree>
  </p:cSld>
  <p:clrMapOvr>
    <a:masterClrMapping/>
  </p:clrMapOvr>
</p:sld>
</file>

<file path=ppt/slides/slide10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4" id="224"/>
          <p:cNvPicPr>
            <a:picLocks noChangeAspect="true"/>
          </p:cNvPicPr>
          <p:nvPr/>
        </p:nvPicPr>
        <p:blipFill>
          <a:blip r:embed="rId224"/>
          <a:stretch>
            <a:fillRect/>
          </a:stretch>
        </p:blipFill>
        <p:spPr>
          <a:xfrm>
            <a:off x="0" y="127000"/>
            <a:ext cx="23749000" cy="16548100"/>
          </a:xfrm>
          <a:prstGeom prst="rect">
            <a:avLst/>
          </a:prstGeom>
        </p:spPr>
      </p:pic>
      <p:sp>
        <p:nvSpPr>
          <p:cNvPr name="TextBox 224" id="22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the Covered Code which have been</a:t>
            </a:r>
          </a:p>
          <a:p>
            <a:r>
              <a:rPr lang="en-US" sz="3700">
                <a:solidFill>
                  <a:srgbClr val="252525"/>
                </a:solidFill>
              </a:rPr>
              <a:t>properly granted prior to termination shall survive any termination of this</a:t>
            </a:r>
          </a:p>
          <a:p>
            <a:r>
              <a:rPr lang="en-US" sz="3700">
                <a:solidFill>
                  <a:srgbClr val="252525"/>
                </a:solidFill>
              </a:rPr>
              <a:t>License. Provisions which, by their nature, should remain in effect beyond the</a:t>
            </a:r>
          </a:p>
          <a:p>
            <a:r>
              <a:rPr lang="en-US" sz="3700">
                <a:solidFill>
                  <a:srgbClr val="252525"/>
                </a:solidFill>
              </a:rPr>
              <a:t>termination of this License shall survive, including but not limited to Sections</a:t>
            </a:r>
          </a:p>
          <a:p>
            <a:r>
              <a:rPr lang="en-US" sz="3700">
                <a:solidFill>
                  <a:srgbClr val="252525"/>
                </a:solidFill>
              </a:rPr>
              <a:t>3, 5, 8, 9, 10, 11, 12.2 and 13. No party will be liable to any other for</a:t>
            </a:r>
          </a:p>
          <a:p>
            <a:r>
              <a:rPr lang="en-US" sz="3700">
                <a:solidFill>
                  <a:srgbClr val="252525"/>
                </a:solidFill>
              </a:rPr>
              <a:t>compensation, indemnity or damages of any sort solely as a result of terminating</a:t>
            </a:r>
          </a:p>
          <a:p>
            <a:r>
              <a:rPr lang="en-US" sz="3700">
                <a:solidFill>
                  <a:srgbClr val="252525"/>
                </a:solidFill>
              </a:rPr>
              <a:t>this License in accordance with its terms, and termination of this License will</a:t>
            </a:r>
          </a:p>
          <a:p>
            <a:r>
              <a:rPr lang="en-US" sz="3700">
                <a:solidFill>
                  <a:srgbClr val="252525"/>
                </a:solidFill>
              </a:rPr>
              <a:t>be without prejudice to any other right or remedy of any party.</a:t>
            </a:r>
          </a:p>
          <a:p>
            <a:r>
              <a:rPr lang="en-US" sz="5000"/>
              <a:t>  </a:t>
            </a:r>
          </a:p>
          <a:p>
            <a:r>
              <a:rPr lang="en-US" sz="3700">
                <a:solidFill>
                  <a:srgbClr val="252525"/>
                </a:solidFill>
              </a:rPr>
              <a:t>13. Miscellaneous.</a:t>
            </a:r>
          </a:p>
          <a:p>
            <a:r>
              <a:rPr lang="en-US" sz="5000"/>
              <a:t>  </a:t>
            </a:r>
          </a:p>
          <a:p>
            <a:r>
              <a:rPr lang="en-US" sz="3700">
                <a:solidFill>
                  <a:srgbClr val="252525"/>
                </a:solidFill>
              </a:rPr>
              <a:t>13.1 Government End Users. The Covered Code is a "commercial item" as defined in</a:t>
            </a:r>
          </a:p>
          <a:p>
            <a:r>
              <a:rPr lang="en-US" sz="3700">
                <a:solidFill>
                  <a:srgbClr val="252525"/>
                </a:solidFill>
              </a:rPr>
              <a:t>FAR 2.101. Government software and </a:t>
            </a:r>
          </a:p>
        </p:txBody>
      </p:sp>
    </p:spTree>
  </p:cSld>
  <p:clrMapOvr>
    <a:masterClrMapping/>
  </p:clrMapOvr>
</p:sld>
</file>

<file path=ppt/slides/slide10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6" id="226"/>
          <p:cNvPicPr>
            <a:picLocks noChangeAspect="true"/>
          </p:cNvPicPr>
          <p:nvPr/>
        </p:nvPicPr>
        <p:blipFill>
          <a:blip r:embed="rId226"/>
          <a:stretch>
            <a:fillRect/>
          </a:stretch>
        </p:blipFill>
        <p:spPr>
          <a:xfrm>
            <a:off x="0" y="127000"/>
            <a:ext cx="23749000" cy="16548100"/>
          </a:xfrm>
          <a:prstGeom prst="rect">
            <a:avLst/>
          </a:prstGeom>
        </p:spPr>
      </p:pic>
      <p:sp>
        <p:nvSpPr>
          <p:cNvPr name="TextBox 226" id="22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technical data rights in the Covered Code</a:t>
            </a:r>
          </a:p>
          <a:p>
            <a:r>
              <a:rPr lang="en-US" sz="3700">
                <a:solidFill>
                  <a:srgbClr val="252525"/>
                </a:solidFill>
              </a:rPr>
              <a:t>include only those rights customarily provided to the public as defined in this</a:t>
            </a:r>
          </a:p>
          <a:p>
            <a:r>
              <a:rPr lang="en-US" sz="3700">
                <a:solidFill>
                  <a:srgbClr val="252525"/>
                </a:solidFill>
              </a:rPr>
              <a:t>License. This customary commercial license in technical data and software is</a:t>
            </a:r>
          </a:p>
          <a:p>
            <a:r>
              <a:rPr lang="en-US" sz="3700">
                <a:solidFill>
                  <a:srgbClr val="252525"/>
                </a:solidFill>
              </a:rPr>
              <a:t>provided in accordance with FAR 12.211 (Technical Data) and 12.212 (Computer</a:t>
            </a:r>
          </a:p>
          <a:p>
            <a:r>
              <a:rPr lang="en-US" sz="3700">
                <a:solidFill>
                  <a:srgbClr val="252525"/>
                </a:solidFill>
              </a:rPr>
              <a:t>Software) and, for Department of Defense purchases, DFAR 252.227-7015 (Technical</a:t>
            </a:r>
          </a:p>
          <a:p>
            <a:r>
              <a:rPr lang="en-US" sz="3700">
                <a:solidFill>
                  <a:srgbClr val="252525"/>
                </a:solidFill>
              </a:rPr>
              <a:t>Data -- Commercial Items) and 227.7202-3 (Rights in Commercial Computer Software</a:t>
            </a:r>
          </a:p>
          <a:p>
            <a:r>
              <a:rPr lang="en-US" sz="3700">
                <a:solidFill>
                  <a:srgbClr val="252525"/>
                </a:solidFill>
              </a:rPr>
              <a:t>or Computer Software Documentation). Accordingly, all U.S. Government End Users</a:t>
            </a:r>
          </a:p>
          <a:p>
            <a:r>
              <a:rPr lang="en-US" sz="3700">
                <a:solidFill>
                  <a:srgbClr val="252525"/>
                </a:solidFill>
              </a:rPr>
              <a:t>acquire Covered Code with only those rights set forth herein.</a:t>
            </a:r>
          </a:p>
          <a:p>
            <a:r>
              <a:rPr lang="en-US" sz="5000"/>
              <a:t>  </a:t>
            </a:r>
          </a:p>
          <a:p>
            <a:r>
              <a:rPr lang="en-US" sz="3700">
                <a:solidFill>
                  <a:srgbClr val="252525"/>
                </a:solidFill>
              </a:rPr>
              <a:t>13.2 Relationship of Parties. This License will not be construed as creating an</a:t>
            </a:r>
          </a:p>
          <a:p>
            <a:r>
              <a:rPr lang="en-US" sz="3700">
                <a:solidFill>
                  <a:srgbClr val="252525"/>
                </a:solidFill>
              </a:rPr>
              <a:t>agency, partnership, joint venture or any other form of legal association between</a:t>
            </a:r>
          </a:p>
          <a:p>
            <a:r>
              <a:rPr lang="en-US" sz="3700">
                <a:solidFill>
                  <a:srgbClr val="252525"/>
                </a:solidFill>
              </a:rPr>
              <a:t>or amongYou, Apple or any Contributor, </a:t>
            </a:r>
          </a:p>
        </p:txBody>
      </p:sp>
    </p:spTree>
  </p:cSld>
  <p:clrMapOvr>
    <a:masterClrMapping/>
  </p:clrMapOvr>
</p:sld>
</file>

<file path=ppt/slides/slide10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8" id="228"/>
          <p:cNvPicPr>
            <a:picLocks noChangeAspect="true"/>
          </p:cNvPicPr>
          <p:nvPr/>
        </p:nvPicPr>
        <p:blipFill>
          <a:blip r:embed="rId228"/>
          <a:stretch>
            <a:fillRect/>
          </a:stretch>
        </p:blipFill>
        <p:spPr>
          <a:xfrm>
            <a:off x="0" y="127000"/>
            <a:ext cx="23749000" cy="16548100"/>
          </a:xfrm>
          <a:prstGeom prst="rect">
            <a:avLst/>
          </a:prstGeom>
        </p:spPr>
      </p:pic>
      <p:sp>
        <p:nvSpPr>
          <p:cNvPr name="TextBox 228" id="22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and You will not represent to the</a:t>
            </a:r>
          </a:p>
          <a:p>
            <a:r>
              <a:rPr lang="en-US" sz="3700">
                <a:solidFill>
                  <a:srgbClr val="252525"/>
                </a:solidFill>
              </a:rPr>
              <a:t>contrary, whether expressly, by implication, appearance or otherwise.</a:t>
            </a:r>
          </a:p>
          <a:p>
            <a:r>
              <a:rPr lang="en-US" sz="5000"/>
              <a:t>  </a:t>
            </a:r>
          </a:p>
          <a:p>
            <a:r>
              <a:rPr lang="en-US" sz="3700">
                <a:solidFill>
                  <a:srgbClr val="252525"/>
                </a:solidFill>
              </a:rPr>
              <a:t>13.3 Independent Development. Nothing in this License will impair Apple's right</a:t>
            </a:r>
          </a:p>
          <a:p>
            <a:r>
              <a:rPr lang="en-US" sz="3700">
                <a:solidFill>
                  <a:srgbClr val="252525"/>
                </a:solidFill>
              </a:rPr>
              <a:t>to acquire, license, develop, have others develop for it, market and/or</a:t>
            </a:r>
          </a:p>
          <a:p>
            <a:r>
              <a:rPr lang="en-US" sz="3700">
                <a:solidFill>
                  <a:srgbClr val="252525"/>
                </a:solidFill>
              </a:rPr>
              <a:t>distribute technology or products that perform the same or similar functions as,</a:t>
            </a:r>
          </a:p>
          <a:p>
            <a:r>
              <a:rPr lang="en-US" sz="3700">
                <a:solidFill>
                  <a:srgbClr val="252525"/>
                </a:solidFill>
              </a:rPr>
              <a:t>or otherwise compete with, Modifications, Larger Works, technology or products</a:t>
            </a:r>
          </a:p>
          <a:p>
            <a:r>
              <a:rPr lang="en-US" sz="3700">
                <a:solidFill>
                  <a:srgbClr val="252525"/>
                </a:solidFill>
              </a:rPr>
              <a:t>that You may develop, produce, market or distribute.</a:t>
            </a:r>
          </a:p>
          <a:p>
            <a:r>
              <a:rPr lang="en-US" sz="5000"/>
              <a:t>  </a:t>
            </a:r>
          </a:p>
          <a:p>
            <a:r>
              <a:rPr lang="en-US" sz="3700">
                <a:solidFill>
                  <a:srgbClr val="252525"/>
                </a:solidFill>
              </a:rPr>
              <a:t>13.4 Waiver; Construction. Failure by Apple or any Contributor to enforce any</a:t>
            </a:r>
          </a:p>
          <a:p>
            <a:r>
              <a:rPr lang="en-US" sz="3700">
                <a:solidFill>
                  <a:srgbClr val="252525"/>
                </a:solidFill>
              </a:rPr>
              <a:t>provision of this License will not be deemed a waiver of future enforcement of</a:t>
            </a:r>
          </a:p>
          <a:p>
            <a:r>
              <a:rPr lang="en-US" sz="3700">
                <a:solidFill>
                  <a:srgbClr val="252525"/>
                </a:solidFill>
              </a:rPr>
              <a:t>that or any other provision. Any law or regulation which provides that the</a:t>
            </a:r>
          </a:p>
        </p:txBody>
      </p:sp>
    </p:spTree>
  </p:cSld>
  <p:clrMapOvr>
    <a:masterClrMapping/>
  </p:clrMapOvr>
</p:sld>
</file>

<file path=ppt/slides/slide10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30" id="230"/>
          <p:cNvPicPr>
            <a:picLocks noChangeAspect="true"/>
          </p:cNvPicPr>
          <p:nvPr/>
        </p:nvPicPr>
        <p:blipFill>
          <a:blip r:embed="rId230"/>
          <a:stretch>
            <a:fillRect/>
          </a:stretch>
        </p:blipFill>
        <p:spPr>
          <a:xfrm>
            <a:off x="0" y="127000"/>
            <a:ext cx="23749000" cy="16548100"/>
          </a:xfrm>
          <a:prstGeom prst="rect">
            <a:avLst/>
          </a:prstGeom>
        </p:spPr>
      </p:pic>
      <p:sp>
        <p:nvSpPr>
          <p:cNvPr name="TextBox 230" id="23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language of a contract shall be construed against the drafter will not apply to</a:t>
            </a:r>
          </a:p>
          <a:p>
            <a:r>
              <a:rPr lang="en-US" sz="3700">
                <a:solidFill>
                  <a:srgbClr val="252525"/>
                </a:solidFill>
              </a:rPr>
              <a:t>this License.</a:t>
            </a:r>
          </a:p>
          <a:p>
            <a:r>
              <a:rPr lang="en-US" sz="5000"/>
              <a:t>  </a:t>
            </a:r>
          </a:p>
          <a:p>
            <a:r>
              <a:rPr lang="en-US" sz="3700">
                <a:solidFill>
                  <a:srgbClr val="252525"/>
                </a:solidFill>
              </a:rPr>
              <a:t>13.5 Severability. (a) If for any reason a court of competent jurisdiction finds</a:t>
            </a:r>
          </a:p>
          <a:p>
            <a:r>
              <a:rPr lang="en-US" sz="3700">
                <a:solidFill>
                  <a:srgbClr val="252525"/>
                </a:solidFill>
              </a:rPr>
              <a:t>any provision of this License, or portion thereof, to be unenforceable, that</a:t>
            </a:r>
          </a:p>
          <a:p>
            <a:r>
              <a:rPr lang="en-US" sz="3700">
                <a:solidFill>
                  <a:srgbClr val="252525"/>
                </a:solidFill>
              </a:rPr>
              <a:t>provision of the License will be enforced to the maximum extent permissible so as</a:t>
            </a:r>
          </a:p>
          <a:p>
            <a:r>
              <a:rPr lang="en-US" sz="3700">
                <a:solidFill>
                  <a:srgbClr val="252525"/>
                </a:solidFill>
              </a:rPr>
              <a:t>to effect the economic benefits and intent of the parties, and the remainder of</a:t>
            </a:r>
          </a:p>
          <a:p>
            <a:r>
              <a:rPr lang="en-US" sz="3700">
                <a:solidFill>
                  <a:srgbClr val="252525"/>
                </a:solidFill>
              </a:rPr>
              <a:t>this License will continue in full force and effect. (b) Notwithstanding the</a:t>
            </a:r>
          </a:p>
          <a:p>
            <a:r>
              <a:rPr lang="en-US" sz="3700">
                <a:solidFill>
                  <a:srgbClr val="252525"/>
                </a:solidFill>
              </a:rPr>
              <a:t>foregoing, if applicable law prohibits or restricts You from fully and/or</a:t>
            </a:r>
          </a:p>
          <a:p>
            <a:r>
              <a:rPr lang="en-US" sz="3700">
                <a:solidFill>
                  <a:srgbClr val="252525"/>
                </a:solidFill>
              </a:rPr>
              <a:t>specifically complying with Sections 2 and/or 3 or prevents the enforceability of</a:t>
            </a:r>
          </a:p>
          <a:p>
            <a:r>
              <a:rPr lang="en-US" sz="3700">
                <a:solidFill>
                  <a:srgbClr val="252525"/>
                </a:solidFill>
              </a:rPr>
              <a:t>either of those Sections, this License will immediately terminate and You must</a:t>
            </a:r>
          </a:p>
          <a:p>
            <a:r>
              <a:rPr lang="en-US" sz="3700">
                <a:solidFill>
                  <a:srgbClr val="252525"/>
                </a:solidFill>
              </a:rPr>
              <a:t>immediately discontinue any use of the </a:t>
            </a:r>
          </a:p>
        </p:txBody>
      </p:sp>
    </p:spTree>
  </p:cSld>
  <p:clrMapOvr>
    <a:masterClrMapping/>
  </p:clrMapOvr>
</p:sld>
</file>

<file path=ppt/slides/slide10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32" id="232"/>
          <p:cNvPicPr>
            <a:picLocks noChangeAspect="true"/>
          </p:cNvPicPr>
          <p:nvPr/>
        </p:nvPicPr>
        <p:blipFill>
          <a:blip r:embed="rId232"/>
          <a:stretch>
            <a:fillRect/>
          </a:stretch>
        </p:blipFill>
        <p:spPr>
          <a:xfrm>
            <a:off x="0" y="127000"/>
            <a:ext cx="23749000" cy="16548100"/>
          </a:xfrm>
          <a:prstGeom prst="rect">
            <a:avLst/>
          </a:prstGeom>
        </p:spPr>
      </p:pic>
      <p:sp>
        <p:nvSpPr>
          <p:cNvPr name="TextBox 232" id="23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Covered Code and destroy all copies of it</a:t>
            </a:r>
          </a:p>
          <a:p>
            <a:r>
              <a:rPr lang="en-US" sz="3700">
                <a:solidFill>
                  <a:srgbClr val="252525"/>
                </a:solidFill>
              </a:rPr>
              <a:t>that are in your possession or control.</a:t>
            </a:r>
          </a:p>
          <a:p>
            <a:r>
              <a:rPr lang="en-US" sz="5000"/>
              <a:t>  </a:t>
            </a:r>
          </a:p>
          <a:p>
            <a:r>
              <a:rPr lang="en-US" sz="3700">
                <a:solidFill>
                  <a:srgbClr val="252525"/>
                </a:solidFill>
              </a:rPr>
              <a:t>13.6 Dispute Resolution. Any litigation or other dispute resolution between You</a:t>
            </a:r>
          </a:p>
          <a:p>
            <a:r>
              <a:rPr lang="en-US" sz="3700">
                <a:solidFill>
                  <a:srgbClr val="252525"/>
                </a:solidFill>
              </a:rPr>
              <a:t>and Apple relating to this License shall take place in the Northern District of</a:t>
            </a:r>
          </a:p>
          <a:p>
            <a:r>
              <a:rPr lang="en-US" sz="3700">
                <a:solidFill>
                  <a:srgbClr val="252525"/>
                </a:solidFill>
              </a:rPr>
              <a:t>California, and You and Apple hereby consent to the personal jurisdiction of, and</a:t>
            </a:r>
          </a:p>
          <a:p>
            <a:r>
              <a:rPr lang="en-US" sz="3700">
                <a:solidFill>
                  <a:srgbClr val="252525"/>
                </a:solidFill>
              </a:rPr>
              <a:t>venue in, the state and federal courts within that District with respect to this</a:t>
            </a:r>
          </a:p>
          <a:p>
            <a:r>
              <a:rPr lang="en-US" sz="3700">
                <a:solidFill>
                  <a:srgbClr val="252525"/>
                </a:solidFill>
              </a:rPr>
              <a:t>License. The application of the United Nations Convention on Contracts for the</a:t>
            </a:r>
          </a:p>
          <a:p>
            <a:r>
              <a:rPr lang="en-US" sz="3700">
                <a:solidFill>
                  <a:srgbClr val="252525"/>
                </a:solidFill>
              </a:rPr>
              <a:t>International Sale of Goods is expressly excluded.</a:t>
            </a:r>
          </a:p>
          <a:p>
            <a:r>
              <a:rPr lang="en-US" sz="5000"/>
              <a:t>  </a:t>
            </a:r>
          </a:p>
          <a:p>
            <a:r>
              <a:rPr lang="en-US" sz="3700">
                <a:solidFill>
                  <a:srgbClr val="252525"/>
                </a:solidFill>
              </a:rPr>
              <a:t>13.7 Entire Agreement; Governing Law. This License constitutes the entire</a:t>
            </a:r>
          </a:p>
          <a:p>
            <a:r>
              <a:rPr lang="en-US" sz="3700">
                <a:solidFill>
                  <a:srgbClr val="252525"/>
                </a:solidFill>
              </a:rPr>
              <a:t>agreement between the parties with respect to the subject matter hereof. This</a:t>
            </a:r>
          </a:p>
          <a:p>
            <a:r>
              <a:rPr lang="en-US" sz="3700">
                <a:solidFill>
                  <a:srgbClr val="252525"/>
                </a:solidFill>
              </a:rPr>
              <a:t>License shall be governed by the laws of </a:t>
            </a:r>
          </a:p>
        </p:txBody>
      </p:sp>
    </p:spTree>
  </p:cSld>
  <p:clrMapOvr>
    <a:masterClrMapping/>
  </p:clrMapOvr>
</p:sld>
</file>

<file path=ppt/slides/slide10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34" id="234"/>
          <p:cNvPicPr>
            <a:picLocks noChangeAspect="true"/>
          </p:cNvPicPr>
          <p:nvPr/>
        </p:nvPicPr>
        <p:blipFill>
          <a:blip r:embed="rId234"/>
          <a:stretch>
            <a:fillRect/>
          </a:stretch>
        </p:blipFill>
        <p:spPr>
          <a:xfrm>
            <a:off x="0" y="127000"/>
            <a:ext cx="23749000" cy="16548100"/>
          </a:xfrm>
          <a:prstGeom prst="rect">
            <a:avLst/>
          </a:prstGeom>
        </p:spPr>
      </p:pic>
      <p:sp>
        <p:nvSpPr>
          <p:cNvPr name="TextBox 234" id="23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the United States and the State of</a:t>
            </a:r>
          </a:p>
          <a:p>
            <a:r>
              <a:rPr lang="en-US" sz="3700">
                <a:solidFill>
                  <a:srgbClr val="252525"/>
                </a:solidFill>
              </a:rPr>
              <a:t>California, except that body of California law concerning conflicts of law.</a:t>
            </a:r>
          </a:p>
          <a:p>
            <a:r>
              <a:rPr lang="en-US" sz="5000"/>
              <a:t>  </a:t>
            </a:r>
          </a:p>
          <a:p>
            <a:r>
              <a:rPr lang="en-US" sz="3700">
                <a:solidFill>
                  <a:srgbClr val="252525"/>
                </a:solidFill>
              </a:rPr>
              <a:t>Where You are located in the province of Quebec, Canada, the following clause</a:t>
            </a:r>
          </a:p>
          <a:p>
            <a:r>
              <a:rPr lang="en-US" sz="3700">
                <a:solidFill>
                  <a:srgbClr val="252525"/>
                </a:solidFill>
              </a:rPr>
              <a:t>applies: The parties hereby confirm that they have requested that this License</a:t>
            </a:r>
          </a:p>
          <a:p>
            <a:r>
              <a:rPr lang="en-US" sz="3700">
                <a:solidFill>
                  <a:srgbClr val="252525"/>
                </a:solidFill>
              </a:rPr>
              <a:t>and all related documents be drafted in English. Les parties ont exigé que le</a:t>
            </a:r>
          </a:p>
          <a:p>
            <a:r>
              <a:rPr lang="en-US" sz="3700">
                <a:solidFill>
                  <a:srgbClr val="252525"/>
                </a:solidFill>
              </a:rPr>
              <a:t>présent contrat et tous les documents connexes soient rédigés en anglais.</a:t>
            </a:r>
          </a:p>
          <a:p>
            <a:r>
              <a:rPr lang="en-US" sz="5000"/>
              <a:t>  </a:t>
            </a:r>
          </a:p>
          <a:p>
            <a:r>
              <a:rPr lang="en-US" sz="3700">
                <a:solidFill>
                  <a:srgbClr val="252525"/>
                </a:solidFill>
              </a:rPr>
              <a:t>EXHIBIT A.</a:t>
            </a:r>
          </a:p>
          <a:p>
            <a:r>
              <a:rPr lang="en-US" sz="5000"/>
              <a:t>  </a:t>
            </a:r>
          </a:p>
          <a:p>
            <a:r>
              <a:rPr lang="en-US" sz="3700">
                <a:solidFill>
                  <a:srgbClr val="252525"/>
                </a:solidFill>
              </a:rPr>
              <a:t>"Portions Copyright (c) 1999-2001 Apple Computer, Inc. All Rights Reserved.</a:t>
            </a:r>
          </a:p>
          <a:p>
            <a:r>
              <a:rPr lang="en-US" sz="5000"/>
              <a:t>  </a:t>
            </a:r>
          </a:p>
          <a:p>
            <a:r>
              <a:rPr lang="en-US" sz="3700">
                <a:solidFill>
                  <a:srgbClr val="252525"/>
                </a:solidFill>
              </a:rPr>
              <a:t>This file contains Original Code and/or Modifications of Original Code as defined</a:t>
            </a:r>
          </a:p>
          <a:p>
            <a:r>
              <a:rPr lang="en-US" sz="3700">
                <a:solidFill>
                  <a:srgbClr val="252525"/>
                </a:solidFill>
              </a:rPr>
              <a:t>in and that are subject to the Apple Public </a:t>
            </a:r>
          </a:p>
        </p:txBody>
      </p:sp>
    </p:spTree>
  </p:cSld>
  <p:clrMapOvr>
    <a:masterClrMapping/>
  </p:clrMapOvr>
</p:sld>
</file>

<file path=ppt/slides/slide10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36" id="236"/>
          <p:cNvPicPr>
            <a:picLocks noChangeAspect="true"/>
          </p:cNvPicPr>
          <p:nvPr/>
        </p:nvPicPr>
        <p:blipFill>
          <a:blip r:embed="rId236"/>
          <a:stretch>
            <a:fillRect/>
          </a:stretch>
        </p:blipFill>
        <p:spPr>
          <a:xfrm>
            <a:off x="0" y="127000"/>
            <a:ext cx="23749000" cy="16548100"/>
          </a:xfrm>
          <a:prstGeom prst="rect">
            <a:avLst/>
          </a:prstGeom>
        </p:spPr>
      </p:pic>
      <p:sp>
        <p:nvSpPr>
          <p:cNvPr name="TextBox 236" id="23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Source License Version 1.2 (the</a:t>
            </a:r>
          </a:p>
          <a:p>
            <a:r>
              <a:rPr lang="en-US" sz="3700">
                <a:solidFill>
                  <a:srgbClr val="252525"/>
                </a:solidFill>
              </a:rPr>
              <a:t>'License'). You may not use this file except in compliance with the License.</a:t>
            </a:r>
          </a:p>
          <a:p>
            <a:r>
              <a:rPr lang="en-US" sz="3700">
                <a:solidFill>
                  <a:srgbClr val="252525"/>
                </a:solidFill>
              </a:rPr>
              <a:t>Please obtain a copy of the License at </a:t>
            </a:r>
            <a:r>
              <a:rPr lang="en-US" sz="3700">
                <a:solidFill>
                  <a:srgbClr val="252525"/>
                </a:solidFill>
              </a:rPr>
              <a:t> and read</a:t>
            </a:r>
          </a:p>
          <a:p>
            <a:r>
              <a:rPr lang="en-US" sz="3700">
                <a:solidFill>
                  <a:srgbClr val="252525"/>
                </a:solidFill>
              </a:rPr>
              <a:t>it before using this file.</a:t>
            </a:r>
          </a:p>
          <a:p>
            <a:r>
              <a:rPr lang="en-US" sz="5000"/>
              <a:t>  </a:t>
            </a:r>
          </a:p>
          <a:p>
            <a:r>
              <a:rPr lang="en-US" sz="3700">
                <a:solidFill>
                  <a:srgbClr val="252525"/>
                </a:solidFill>
              </a:rPr>
              <a:t>The Original Code and all software distributed under the License are distributed</a:t>
            </a:r>
          </a:p>
          <a:p>
            <a:r>
              <a:rPr lang="en-US" sz="3700">
                <a:solidFill>
                  <a:srgbClr val="252525"/>
                </a:solidFill>
              </a:rPr>
              <a:t>on an 'AS IS' basis, WITHOUT WARRANTY OF ANY KIND, EITHER EXPRESS OR IMPLIED, AND</a:t>
            </a:r>
          </a:p>
          <a:p>
            <a:r>
              <a:rPr lang="en-US" sz="3700">
                <a:solidFill>
                  <a:srgbClr val="252525"/>
                </a:solidFill>
              </a:rPr>
              <a:t>APPLE HEREBY DISCLAIMS ALL SUCH WARRANTIES, INCLUDING WITHOUT LIMITATION, ANY</a:t>
            </a:r>
          </a:p>
          <a:p>
            <a:r>
              <a:rPr lang="en-US" sz="3700">
                <a:solidFill>
                  <a:srgbClr val="252525"/>
                </a:solidFill>
              </a:rPr>
              <a:t>WARRANTIES OF MERCHANTABILITY, FITNESS FOR A PARTICULAR PURPOSE, </a:t>
            </a:r>
          </a:p>
        </p:txBody>
      </p:sp>
      <p:pic>
        <p:nvPicPr>
          <p:cNvPr name="Picture 238" id="238">
            <a:hlinkClick r:id="rId239"/>
          </p:cNvPr>
          <p:cNvPicPr>
            <a:picLocks noChangeAspect="true"/>
          </p:cNvPicPr>
          <p:nvPr/>
        </p:nvPicPr>
        <p:blipFill>
          <a:blip r:embed="rId238"/>
          <a:stretch>
            <a:fillRect/>
          </a:stretch>
        </p:blipFill>
        <p:spPr>
          <a:xfrm>
            <a:off x="6451600" y="5562600"/>
            <a:ext cx="10820400" cy="1714500"/>
          </a:xfrm>
          <a:prstGeom prst="rect">
            <a:avLst/>
          </a:prstGeom>
        </p:spPr>
      </p:pic>
    </p:spTree>
  </p:cSld>
  <p:clrMapOvr>
    <a:masterClrMapping/>
  </p:clrMapOvr>
</p:sld>
</file>

<file path=ppt/slides/slide1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0" id="240"/>
          <p:cNvPicPr>
            <a:picLocks noChangeAspect="true"/>
          </p:cNvPicPr>
          <p:nvPr/>
        </p:nvPicPr>
        <p:blipFill>
          <a:blip r:embed="rId240"/>
          <a:stretch>
            <a:fillRect/>
          </a:stretch>
        </p:blipFill>
        <p:spPr>
          <a:xfrm>
            <a:off x="0" y="127000"/>
            <a:ext cx="23749000" cy="16548100"/>
          </a:xfrm>
          <a:prstGeom prst="rect">
            <a:avLst/>
          </a:prstGeom>
        </p:spPr>
      </p:pic>
      <p:sp>
        <p:nvSpPr>
          <p:cNvPr name="TextBox 240" id="24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QUIET ENJOYMENT</a:t>
            </a:r>
          </a:p>
          <a:p>
            <a:r>
              <a:rPr lang="en-US" sz="3700">
                <a:solidFill>
                  <a:srgbClr val="252525"/>
                </a:solidFill>
              </a:rPr>
              <a:t>OR NON-INFRINGEMENT. Please see the License for the specific language governing</a:t>
            </a:r>
          </a:p>
          <a:p>
            <a:r>
              <a:rPr lang="en-US" sz="3700">
                <a:solidFill>
                  <a:srgbClr val="252525"/>
                </a:solidFill>
              </a:rPr>
              <a:t>rights and limitations under the License</a:t>
            </a:r>
          </a:p>
          <a:p>
            <a:r>
              <a:rPr lang="en-US" sz="3700">
                <a:solidFill>
                  <a:srgbClr val="252525"/>
                </a:solidFill>
              </a:rPr>
              <a:t> </a:t>
            </a:r>
          </a:p>
          <a:p>
            <a:r>
              <a:rPr lang="en-US" sz="5000"/>
              <a:t>  </a:t>
            </a:r>
          </a:p>
          <a:p>
            <a:r>
              <a:rPr lang="en-US" sz="3700">
                <a:solidFill>
                  <a:srgbClr val="252525"/>
                </a:solidFill>
              </a:rPr>
              <a:t>---</a:t>
            </a:r>
          </a:p>
          <a:p>
            <a:r>
              <a:rPr lang="en-US" sz="5000"/>
              <a:t>  </a:t>
            </a:r>
          </a:p>
          <a:p>
            <a:r>
              <a:rPr lang="en-US" sz="3700">
                <a:solidFill>
                  <a:srgbClr val="252525"/>
                </a:solidFill>
              </a:rPr>
              <a:t>Artistic License 1.0</a:t>
            </a:r>
          </a:p>
          <a:p>
            <a:r>
              <a:rPr lang="en-US" sz="3700">
                <a:solidFill>
                  <a:srgbClr val="252525"/>
                </a:solidFill>
              </a:rPr>
              <a:t>(Text::Template 1.46)</a:t>
            </a:r>
          </a:p>
          <a:p>
            <a:r>
              <a:rPr lang="en-US" sz="5000"/>
              <a:t>  </a:t>
            </a:r>
          </a:p>
          <a:p>
            <a:r>
              <a:rPr lang="en-US" sz="3700">
                <a:solidFill>
                  <a:srgbClr val="252525"/>
                </a:solidFill>
              </a:rPr>
              <a:t>The Artistic License</a:t>
            </a:r>
          </a:p>
          <a:p>
            <a:r>
              <a:rPr lang="en-US" sz="3700">
                <a:solidFill>
                  <a:srgbClr val="252525"/>
                </a:solidFill>
              </a:rPr>
              <a:t>====================</a:t>
            </a:r>
          </a:p>
          <a:p>
            <a:r>
              <a:rPr lang="en-US" sz="5000"/>
              <a:t>  </a:t>
            </a:r>
          </a:p>
          <a:p>
            <a:r>
              <a:rPr lang="en-US" sz="3700">
                <a:solidFill>
                  <a:srgbClr val="252525"/>
                </a:solidFill>
              </a:rPr>
              <a:t>Preamble</a:t>
            </a:r>
          </a:p>
          <a:p>
            <a:r>
              <a:rPr lang="en-US" sz="5000"/>
              <a:t>  </a:t>
            </a:r>
          </a:p>
          <a:p>
            <a:r>
              <a:rPr lang="en-US" sz="3700">
                <a:solidFill>
                  <a:srgbClr val="252525"/>
                </a:solidFill>
              </a:rPr>
              <a:t>The intent of this document is to state the conditions under which a Package may</a:t>
            </a:r>
          </a:p>
          <a:p>
            <a:r>
              <a:rPr lang="en-US" sz="3700">
                <a:solidFill>
                  <a:srgbClr val="252525"/>
                </a:solidFill>
              </a:rPr>
              <a:t>be copied, such that the Copyright Holder maintains some semblance of artistic</a:t>
            </a:r>
          </a:p>
        </p:txBody>
      </p:sp>
    </p:spTree>
  </p:cSld>
  <p:clrMapOvr>
    <a:masterClrMapping/>
  </p:clrMapOvr>
</p:sld>
</file>

<file path=ppt/slides/slide1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2" id="242"/>
          <p:cNvPicPr>
            <a:picLocks noChangeAspect="true"/>
          </p:cNvPicPr>
          <p:nvPr/>
        </p:nvPicPr>
        <p:blipFill>
          <a:blip r:embed="rId242"/>
          <a:stretch>
            <a:fillRect/>
          </a:stretch>
        </p:blipFill>
        <p:spPr>
          <a:xfrm>
            <a:off x="0" y="127000"/>
            <a:ext cx="23749000" cy="16548100"/>
          </a:xfrm>
          <a:prstGeom prst="rect">
            <a:avLst/>
          </a:prstGeom>
        </p:spPr>
      </p:pic>
      <p:sp>
        <p:nvSpPr>
          <p:cNvPr name="TextBox 242" id="24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control over the development of the package, while giving the users of the</a:t>
            </a:r>
          </a:p>
          <a:p>
            <a:r>
              <a:rPr lang="en-US" sz="3700">
                <a:solidFill>
                  <a:srgbClr val="252525"/>
                </a:solidFill>
              </a:rPr>
              <a:t>package the right to use and distribute the Package in a more-or-less customary</a:t>
            </a:r>
          </a:p>
          <a:p>
            <a:r>
              <a:rPr lang="en-US" sz="3700">
                <a:solidFill>
                  <a:srgbClr val="252525"/>
                </a:solidFill>
              </a:rPr>
              <a:t>fashion, plus the right to make reasonable modifications.</a:t>
            </a:r>
          </a:p>
          <a:p>
            <a:r>
              <a:rPr lang="en-US" sz="5000"/>
              <a:t>  </a:t>
            </a:r>
          </a:p>
          <a:p>
            <a:r>
              <a:rPr lang="en-US" sz="3700">
                <a:solidFill>
                  <a:srgbClr val="252525"/>
                </a:solidFill>
              </a:rPr>
              <a:t>Definitions:</a:t>
            </a:r>
          </a:p>
          <a:p>
            <a:r>
              <a:rPr lang="en-US" sz="5000"/>
              <a:t>  </a:t>
            </a:r>
          </a:p>
          <a:p>
            <a:r>
              <a:rPr lang="en-US" sz="3700">
                <a:solidFill>
                  <a:srgbClr val="252525"/>
                </a:solidFill>
              </a:rPr>
              <a:t>  * "Package" refers to the collection of files distributed by the Copyright</a:t>
            </a:r>
          </a:p>
          <a:p>
            <a:r>
              <a:rPr lang="en-US" sz="3700">
                <a:solidFill>
                  <a:srgbClr val="252525"/>
                </a:solidFill>
              </a:rPr>
              <a:t>    Holder, and derivatives of that collection of files created through textual</a:t>
            </a:r>
          </a:p>
          <a:p>
            <a:r>
              <a:rPr lang="en-US" sz="3700">
                <a:solidFill>
                  <a:srgbClr val="252525"/>
                </a:solidFill>
              </a:rPr>
              <a:t>    modification.</a:t>
            </a:r>
          </a:p>
          <a:p>
            <a:r>
              <a:rPr lang="en-US" sz="5000"/>
              <a:t>  </a:t>
            </a:r>
          </a:p>
          <a:p>
            <a:r>
              <a:rPr lang="en-US" sz="3700">
                <a:solidFill>
                  <a:srgbClr val="252525"/>
                </a:solidFill>
              </a:rPr>
              <a:t>  * "Standard Version" refers to such a Package if it has not been modified, or</a:t>
            </a:r>
          </a:p>
          <a:p>
            <a:r>
              <a:rPr lang="en-US" sz="3700">
                <a:solidFill>
                  <a:srgbClr val="252525"/>
                </a:solidFill>
              </a:rPr>
              <a:t>    has been modified in accordance with the wishes of the Copyright Holder.</a:t>
            </a:r>
          </a:p>
          <a:p>
            <a:r>
              <a:rPr lang="en-US" sz="5000"/>
              <a:t>  </a:t>
            </a:r>
          </a:p>
          <a:p>
            <a:r>
              <a:rPr lang="en-US" sz="3700">
                <a:solidFill>
                  <a:srgbClr val="252525"/>
                </a:solidFill>
              </a:rPr>
              <a:t>  * "Copyright Holder" is whoever is named </a:t>
            </a:r>
          </a:p>
        </p:txBody>
      </p:sp>
    </p:spTree>
  </p:cSld>
  <p:clrMapOvr>
    <a:masterClrMapping/>
  </p:clrMapOvr>
</p:sld>
</file>

<file path=ppt/slides/slide1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4" id="244"/>
          <p:cNvPicPr>
            <a:picLocks noChangeAspect="true"/>
          </p:cNvPicPr>
          <p:nvPr/>
        </p:nvPicPr>
        <p:blipFill>
          <a:blip r:embed="rId244"/>
          <a:stretch>
            <a:fillRect/>
          </a:stretch>
        </p:blipFill>
        <p:spPr>
          <a:xfrm>
            <a:off x="0" y="127000"/>
            <a:ext cx="23749000" cy="16548100"/>
          </a:xfrm>
          <a:prstGeom prst="rect">
            <a:avLst/>
          </a:prstGeom>
        </p:spPr>
      </p:pic>
      <p:sp>
        <p:nvSpPr>
          <p:cNvPr name="TextBox 244" id="24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in the copyright or copyrights for the</a:t>
            </a:r>
          </a:p>
          <a:p>
            <a:r>
              <a:rPr lang="en-US" sz="3700">
                <a:solidFill>
                  <a:srgbClr val="252525"/>
                </a:solidFill>
              </a:rPr>
              <a:t>    package.</a:t>
            </a:r>
          </a:p>
          <a:p>
            <a:r>
              <a:rPr lang="en-US" sz="5000"/>
              <a:t>  </a:t>
            </a:r>
          </a:p>
          <a:p>
            <a:r>
              <a:rPr lang="en-US" sz="3700">
                <a:solidFill>
                  <a:srgbClr val="252525"/>
                </a:solidFill>
              </a:rPr>
              <a:t>  * "You" is you, if you're thinking about copying or distributing this Package.</a:t>
            </a:r>
          </a:p>
          <a:p>
            <a:r>
              <a:rPr lang="en-US" sz="5000"/>
              <a:t>  </a:t>
            </a:r>
          </a:p>
          <a:p>
            <a:r>
              <a:rPr lang="en-US" sz="3700">
                <a:solidFill>
                  <a:srgbClr val="252525"/>
                </a:solidFill>
              </a:rPr>
              <a:t>  * "Reasonable copying fee" is whatever you can justify on the basis of media</a:t>
            </a:r>
          </a:p>
          <a:p>
            <a:r>
              <a:rPr lang="en-US" sz="3700">
                <a:solidFill>
                  <a:srgbClr val="252525"/>
                </a:solidFill>
              </a:rPr>
              <a:t>    cost, duplication charges, time of people involved, and so on. (You will not</a:t>
            </a:r>
          </a:p>
          <a:p>
            <a:r>
              <a:rPr lang="en-US" sz="3700">
                <a:solidFill>
                  <a:srgbClr val="252525"/>
                </a:solidFill>
              </a:rPr>
              <a:t>    be required to justify it to the Copyright Holder, but only to the computing</a:t>
            </a:r>
          </a:p>
          <a:p>
            <a:r>
              <a:rPr lang="en-US" sz="3700">
                <a:solidFill>
                  <a:srgbClr val="252525"/>
                </a:solidFill>
              </a:rPr>
              <a:t>    community at large as a market that must bear the fee.)</a:t>
            </a:r>
          </a:p>
          <a:p>
            <a:r>
              <a:rPr lang="en-US" sz="5000"/>
              <a:t>  </a:t>
            </a:r>
          </a:p>
          <a:p>
            <a:r>
              <a:rPr lang="en-US" sz="3700">
                <a:solidFill>
                  <a:srgbClr val="252525"/>
                </a:solidFill>
              </a:rPr>
              <a:t>  * "Freely Available" means that no fee is charged for the item itself, though</a:t>
            </a:r>
          </a:p>
          <a:p>
            <a:r>
              <a:rPr lang="en-US" sz="3700">
                <a:solidFill>
                  <a:srgbClr val="252525"/>
                </a:solidFill>
              </a:rPr>
              <a:t>    there may be fees involved in handling the item. It also means that</a:t>
            </a:r>
          </a:p>
          <a:p>
            <a:r>
              <a:rPr lang="en-US" sz="3700">
                <a:solidFill>
                  <a:srgbClr val="252525"/>
                </a:solidFill>
              </a:rPr>
              <a:t>    recipients of the item may redistribute it under the same conditions they</a:t>
            </a:r>
          </a:p>
        </p:txBody>
      </p:sp>
    </p:spTree>
  </p:cSld>
  <p:clrMapOvr>
    <a:masterClrMapping/>
  </p:clrMapOvr>
</p:sld>
</file>

<file path=ppt/slides/slide1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6" id="246"/>
          <p:cNvPicPr>
            <a:picLocks noChangeAspect="true"/>
          </p:cNvPicPr>
          <p:nvPr/>
        </p:nvPicPr>
        <p:blipFill>
          <a:blip r:embed="rId246"/>
          <a:stretch>
            <a:fillRect/>
          </a:stretch>
        </p:blipFill>
        <p:spPr>
          <a:xfrm>
            <a:off x="0" y="127000"/>
            <a:ext cx="23749000" cy="16548100"/>
          </a:xfrm>
          <a:prstGeom prst="rect">
            <a:avLst/>
          </a:prstGeom>
        </p:spPr>
      </p:pic>
      <p:sp>
        <p:nvSpPr>
          <p:cNvPr name="TextBox 246" id="24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received it.</a:t>
            </a:r>
          </a:p>
          <a:p>
            <a:r>
              <a:rPr lang="en-US" sz="5000"/>
              <a:t>  </a:t>
            </a:r>
          </a:p>
          <a:p>
            <a:r>
              <a:rPr lang="en-US" sz="5000"/>
              <a:t>  </a:t>
            </a:r>
          </a:p>
          <a:p>
            <a:r>
              <a:rPr lang="en-US" sz="3700">
                <a:solidFill>
                  <a:srgbClr val="252525"/>
                </a:solidFill>
              </a:rPr>
              <a:t>1. You may make and give away verbatim copies of the source form of the Standard</a:t>
            </a:r>
          </a:p>
          <a:p>
            <a:r>
              <a:rPr lang="en-US" sz="3700">
                <a:solidFill>
                  <a:srgbClr val="252525"/>
                </a:solidFill>
              </a:rPr>
              <a:t>Version of this Package without restriction, provided that you duplicate all of</a:t>
            </a:r>
          </a:p>
          <a:p>
            <a:r>
              <a:rPr lang="en-US" sz="3700">
                <a:solidFill>
                  <a:srgbClr val="252525"/>
                </a:solidFill>
              </a:rPr>
              <a:t>the original copyright notices and associated disclaimers.</a:t>
            </a:r>
          </a:p>
          <a:p>
            <a:r>
              <a:rPr lang="en-US" sz="5000"/>
              <a:t>  </a:t>
            </a:r>
          </a:p>
          <a:p>
            <a:r>
              <a:rPr lang="en-US" sz="3700">
                <a:solidFill>
                  <a:srgbClr val="252525"/>
                </a:solidFill>
              </a:rPr>
              <a:t>2. You may apply bug fixes, portability fixes and other modifications derived</a:t>
            </a:r>
          </a:p>
          <a:p>
            <a:r>
              <a:rPr lang="en-US" sz="3700">
                <a:solidFill>
                  <a:srgbClr val="252525"/>
                </a:solidFill>
              </a:rPr>
              <a:t>from the Public Domain or from the Copyright Holder. A Package modified in such a</a:t>
            </a:r>
          </a:p>
          <a:p>
            <a:r>
              <a:rPr lang="en-US" sz="3700">
                <a:solidFill>
                  <a:srgbClr val="252525"/>
                </a:solidFill>
              </a:rPr>
              <a:t>way shall still be considered the Standard Version.</a:t>
            </a:r>
          </a:p>
          <a:p>
            <a:r>
              <a:rPr lang="en-US" sz="5000"/>
              <a:t>  </a:t>
            </a:r>
          </a:p>
          <a:p>
            <a:r>
              <a:rPr lang="en-US" sz="3700">
                <a:solidFill>
                  <a:srgbClr val="252525"/>
                </a:solidFill>
              </a:rPr>
              <a:t>3. You may otherwise modify your copy of this Package in any way, provided that</a:t>
            </a:r>
          </a:p>
          <a:p>
            <a:r>
              <a:rPr lang="en-US" sz="3700">
                <a:solidFill>
                  <a:srgbClr val="252525"/>
                </a:solidFill>
              </a:rPr>
              <a:t>you insert a prominent notice in each </a:t>
            </a:r>
          </a:p>
        </p:txBody>
      </p:sp>
    </p:spTree>
  </p:cSld>
  <p:clrMapOvr>
    <a:masterClrMapping/>
  </p:clrMapOvr>
</p:sld>
</file>

<file path=ppt/slides/slide1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8" id="248"/>
          <p:cNvPicPr>
            <a:picLocks noChangeAspect="true"/>
          </p:cNvPicPr>
          <p:nvPr/>
        </p:nvPicPr>
        <p:blipFill>
          <a:blip r:embed="rId248"/>
          <a:stretch>
            <a:fillRect/>
          </a:stretch>
        </p:blipFill>
        <p:spPr>
          <a:xfrm>
            <a:off x="0" y="127000"/>
            <a:ext cx="23749000" cy="16548100"/>
          </a:xfrm>
          <a:prstGeom prst="rect">
            <a:avLst/>
          </a:prstGeom>
        </p:spPr>
      </p:pic>
      <p:sp>
        <p:nvSpPr>
          <p:cNvPr name="TextBox 248" id="24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changed file stating how and when you</a:t>
            </a:r>
          </a:p>
          <a:p>
            <a:r>
              <a:rPr lang="en-US" sz="3700">
                <a:solidFill>
                  <a:srgbClr val="252525"/>
                </a:solidFill>
              </a:rPr>
              <a:t>changed that file, and provided that you do at least ONE of the following:</a:t>
            </a:r>
          </a:p>
          <a:p>
            <a:r>
              <a:rPr lang="en-US" sz="5000"/>
              <a:t>  </a:t>
            </a:r>
          </a:p>
          <a:p>
            <a:r>
              <a:rPr lang="en-US" sz="3700">
                <a:solidFill>
                  <a:srgbClr val="252525"/>
                </a:solidFill>
              </a:rPr>
              <a:t>      a) place your modifications in the Public Domain or otherwise make them</a:t>
            </a:r>
          </a:p>
          <a:p>
            <a:r>
              <a:rPr lang="en-US" sz="3700">
                <a:solidFill>
                  <a:srgbClr val="252525"/>
                </a:solidFill>
              </a:rPr>
              <a:t>      Freely Available, such as by posting said modifications to Usenet or an</a:t>
            </a:r>
          </a:p>
          <a:p>
            <a:r>
              <a:rPr lang="en-US" sz="3700">
                <a:solidFill>
                  <a:srgbClr val="252525"/>
                </a:solidFill>
              </a:rPr>
              <a:t>      equivalent medium, or placing the modifications on a major archive site</a:t>
            </a:r>
          </a:p>
          <a:p>
            <a:r>
              <a:rPr lang="en-US" sz="3700">
                <a:solidFill>
                  <a:srgbClr val="252525"/>
                </a:solidFill>
              </a:rPr>
              <a:t>      such as ftp.uu.net, or by allowing the Copyright Holder to include your</a:t>
            </a:r>
          </a:p>
          <a:p>
            <a:r>
              <a:rPr lang="en-US" sz="3700">
                <a:solidFill>
                  <a:srgbClr val="252525"/>
                </a:solidFill>
              </a:rPr>
              <a:t>      modifications in the Standard Version of the Package.</a:t>
            </a:r>
          </a:p>
          <a:p>
            <a:r>
              <a:rPr lang="en-US" sz="5000"/>
              <a:t>  </a:t>
            </a:r>
          </a:p>
          <a:p>
            <a:r>
              <a:rPr lang="en-US" sz="3700">
                <a:solidFill>
                  <a:srgbClr val="252525"/>
                </a:solidFill>
              </a:rPr>
              <a:t>      b) use the modified Package only within your corporation or organization.</a:t>
            </a:r>
          </a:p>
          <a:p>
            <a:r>
              <a:rPr lang="en-US" sz="5000"/>
              <a:t>  </a:t>
            </a:r>
          </a:p>
          <a:p>
            <a:r>
              <a:rPr lang="en-US" sz="3700">
                <a:solidFill>
                  <a:srgbClr val="252525"/>
                </a:solidFill>
              </a:rPr>
              <a:t>      c) rename any non-standard executables so the names do not conflict with</a:t>
            </a:r>
          </a:p>
        </p:txBody>
      </p:sp>
    </p:spTree>
  </p:cSld>
  <p:clrMapOvr>
    <a:masterClrMapping/>
  </p:clrMapOvr>
</p:sld>
</file>

<file path=ppt/slides/slide1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50" id="250"/>
          <p:cNvPicPr>
            <a:picLocks noChangeAspect="true"/>
          </p:cNvPicPr>
          <p:nvPr/>
        </p:nvPicPr>
        <p:blipFill>
          <a:blip r:embed="rId250"/>
          <a:stretch>
            <a:fillRect/>
          </a:stretch>
        </p:blipFill>
        <p:spPr>
          <a:xfrm>
            <a:off x="0" y="127000"/>
            <a:ext cx="23749000" cy="16548100"/>
          </a:xfrm>
          <a:prstGeom prst="rect">
            <a:avLst/>
          </a:prstGeom>
        </p:spPr>
      </p:pic>
      <p:sp>
        <p:nvSpPr>
          <p:cNvPr name="TextBox 250" id="25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standard executables, which must also be provided, and provide a separate</a:t>
            </a:r>
          </a:p>
          <a:p>
            <a:r>
              <a:rPr lang="en-US" sz="3700">
                <a:solidFill>
                  <a:srgbClr val="252525"/>
                </a:solidFill>
              </a:rPr>
              <a:t>      manual page for each non-standard executable that clearly documents how it</a:t>
            </a:r>
          </a:p>
          <a:p>
            <a:r>
              <a:rPr lang="en-US" sz="3700">
                <a:solidFill>
                  <a:srgbClr val="252525"/>
                </a:solidFill>
              </a:rPr>
              <a:t>      differs from the Standard Version.</a:t>
            </a:r>
          </a:p>
          <a:p>
            <a:r>
              <a:rPr lang="en-US" sz="5000"/>
              <a:t>  </a:t>
            </a:r>
          </a:p>
          <a:p>
            <a:r>
              <a:rPr lang="en-US" sz="3700">
                <a:solidFill>
                  <a:srgbClr val="252525"/>
                </a:solidFill>
              </a:rPr>
              <a:t>      d) make other distribution arrangements with the Copyright Holder.</a:t>
            </a:r>
          </a:p>
          <a:p>
            <a:r>
              <a:rPr lang="en-US" sz="5000"/>
              <a:t>  </a:t>
            </a:r>
          </a:p>
          <a:p>
            <a:r>
              <a:rPr lang="en-US" sz="5000"/>
              <a:t>  </a:t>
            </a:r>
          </a:p>
          <a:p>
            <a:r>
              <a:rPr lang="en-US" sz="5000"/>
              <a:t>  </a:t>
            </a:r>
          </a:p>
          <a:p>
            <a:r>
              <a:rPr lang="en-US" sz="3700">
                <a:solidFill>
                  <a:srgbClr val="252525"/>
                </a:solidFill>
              </a:rPr>
              <a:t>4. You may distribute the programs of this Package in object code or executable</a:t>
            </a:r>
          </a:p>
          <a:p>
            <a:r>
              <a:rPr lang="en-US" sz="3700">
                <a:solidFill>
                  <a:srgbClr val="252525"/>
                </a:solidFill>
              </a:rPr>
              <a:t>form, provided that you do at least ONE of the following:</a:t>
            </a:r>
          </a:p>
          <a:p>
            <a:r>
              <a:rPr lang="en-US" sz="5000"/>
              <a:t>  </a:t>
            </a:r>
          </a:p>
          <a:p>
            <a:r>
              <a:rPr lang="en-US" sz="3700">
                <a:solidFill>
                  <a:srgbClr val="252525"/>
                </a:solidFill>
              </a:rPr>
              <a:t>      a) distribute a Standard Version of the executables and library files,</a:t>
            </a:r>
          </a:p>
          <a:p>
            <a:r>
              <a:rPr lang="en-US" sz="3700">
                <a:solidFill>
                  <a:srgbClr val="252525"/>
                </a:solidFill>
              </a:rPr>
              <a:t>      together with instructions (in the manual page or equivalent) on where to</a:t>
            </a:r>
          </a:p>
          <a:p>
            <a:r>
              <a:rPr lang="en-US" sz="3700">
                <a:solidFill>
                  <a:srgbClr val="252525"/>
                </a:solidFill>
              </a:rPr>
              <a:t>      get the Standard Version.</a:t>
            </a:r>
          </a:p>
        </p:txBody>
      </p:sp>
    </p:spTree>
  </p:cSld>
  <p:clrMapOvr>
    <a:masterClrMapping/>
  </p:clrMapOvr>
</p:sld>
</file>

<file path=ppt/slides/slide1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52" id="252"/>
          <p:cNvPicPr>
            <a:picLocks noChangeAspect="true"/>
          </p:cNvPicPr>
          <p:nvPr/>
        </p:nvPicPr>
        <p:blipFill>
          <a:blip r:embed="rId252"/>
          <a:stretch>
            <a:fillRect/>
          </a:stretch>
        </p:blipFill>
        <p:spPr>
          <a:xfrm>
            <a:off x="0" y="127000"/>
            <a:ext cx="23749000" cy="16548100"/>
          </a:xfrm>
          <a:prstGeom prst="rect">
            <a:avLst/>
          </a:prstGeom>
        </p:spPr>
      </p:pic>
      <p:sp>
        <p:nvSpPr>
          <p:cNvPr name="TextBox 252" id="253"/>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      b) accompany the distribution with the machine-readable source of the</a:t>
            </a:r>
          </a:p>
          <a:p>
            <a:r>
              <a:rPr lang="en-US" sz="3700">
                <a:solidFill>
                  <a:srgbClr val="252525"/>
                </a:solidFill>
              </a:rPr>
              <a:t>      Package with your modifications.</a:t>
            </a:r>
          </a:p>
          <a:p>
            <a:r>
              <a:rPr lang="en-US" sz="5000"/>
              <a:t>  </a:t>
            </a:r>
          </a:p>
          <a:p>
            <a:r>
              <a:rPr lang="en-US" sz="5000"/>
              <a:t>  </a:t>
            </a:r>
          </a:p>
          <a:p>
            <a:r>
              <a:rPr lang="en-US" sz="5000"/>
              <a:t>  </a:t>
            </a:r>
          </a:p>
          <a:p>
            <a:r>
              <a:rPr lang="en-US" sz="3700">
                <a:solidFill>
                  <a:srgbClr val="252525"/>
                </a:solidFill>
              </a:rPr>
              <a:t>      c) accompany any non-standard executables with their corresponding Standard</a:t>
            </a:r>
          </a:p>
          <a:p>
            <a:r>
              <a:rPr lang="en-US" sz="3700">
                <a:solidFill>
                  <a:srgbClr val="252525"/>
                </a:solidFill>
              </a:rPr>
              <a:t>      Version executables, giving the non-standard executables non-standard</a:t>
            </a:r>
          </a:p>
          <a:p>
            <a:r>
              <a:rPr lang="en-US" sz="3700">
                <a:solidFill>
                  <a:srgbClr val="252525"/>
                </a:solidFill>
              </a:rPr>
              <a:t>      names, and clearly documenting the differences in manual pages (or</a:t>
            </a:r>
          </a:p>
          <a:p>
            <a:r>
              <a:rPr lang="en-US" sz="3700">
                <a:solidFill>
                  <a:srgbClr val="252525"/>
                </a:solidFill>
              </a:rPr>
              <a:t>      equivalent), together with instructions on where to get the Standard</a:t>
            </a:r>
          </a:p>
          <a:p>
            <a:r>
              <a:rPr lang="en-US" sz="3700">
                <a:solidFill>
                  <a:srgbClr val="252525"/>
                </a:solidFill>
              </a:rPr>
              <a:t>      Version.</a:t>
            </a:r>
          </a:p>
          <a:p>
            <a:r>
              <a:rPr lang="en-US" sz="5000"/>
              <a:t>  </a:t>
            </a:r>
          </a:p>
          <a:p>
            <a:r>
              <a:rPr lang="en-US" sz="3700">
                <a:solidFill>
                  <a:srgbClr val="252525"/>
                </a:solidFill>
              </a:rPr>
              <a:t>      d) make other distribution arrangements with the Copyright Holder.</a:t>
            </a:r>
          </a:p>
        </p:txBody>
      </p:sp>
    </p:spTree>
  </p:cSld>
  <p:clrMapOvr>
    <a:masterClrMapping/>
  </p:clrMapOvr>
</p:sld>
</file>

<file path=ppt/slides/slide1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54" id="254"/>
          <p:cNvPicPr>
            <a:picLocks noChangeAspect="true"/>
          </p:cNvPicPr>
          <p:nvPr/>
        </p:nvPicPr>
        <p:blipFill>
          <a:blip r:embed="rId254"/>
          <a:stretch>
            <a:fillRect/>
          </a:stretch>
        </p:blipFill>
        <p:spPr>
          <a:xfrm>
            <a:off x="0" y="127000"/>
            <a:ext cx="23749000" cy="16548100"/>
          </a:xfrm>
          <a:prstGeom prst="rect">
            <a:avLst/>
          </a:prstGeom>
        </p:spPr>
      </p:pic>
      <p:sp>
        <p:nvSpPr>
          <p:cNvPr name="TextBox 254" id="25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5. You may charge a reasonable copying fee for any distribution of this Package.</a:t>
            </a:r>
          </a:p>
          <a:p>
            <a:r>
              <a:rPr lang="en-US" sz="3700">
                <a:solidFill>
                  <a:srgbClr val="252525"/>
                </a:solidFill>
              </a:rPr>
              <a:t>You may charge any fee you choose for support of this Package. You may not charge</a:t>
            </a:r>
          </a:p>
          <a:p>
            <a:r>
              <a:rPr lang="en-US" sz="3700">
                <a:solidFill>
                  <a:srgbClr val="252525"/>
                </a:solidFill>
              </a:rPr>
              <a:t>a fee for this Package itself. However, you may distribute this Package in</a:t>
            </a:r>
          </a:p>
          <a:p>
            <a:r>
              <a:rPr lang="en-US" sz="3700">
                <a:solidFill>
                  <a:srgbClr val="252525"/>
                </a:solidFill>
              </a:rPr>
              <a:t>aggregate with other (possibly commercial) programs as part of a larger (possibly</a:t>
            </a:r>
          </a:p>
          <a:p>
            <a:r>
              <a:rPr lang="en-US" sz="3700">
                <a:solidFill>
                  <a:srgbClr val="252525"/>
                </a:solidFill>
              </a:rPr>
              <a:t>commercial) software distribution provided that you do not advertise this Package</a:t>
            </a:r>
          </a:p>
          <a:p>
            <a:r>
              <a:rPr lang="en-US" sz="3700">
                <a:solidFill>
                  <a:srgbClr val="252525"/>
                </a:solidFill>
              </a:rPr>
              <a:t>as a product of your own.</a:t>
            </a:r>
          </a:p>
          <a:p>
            <a:r>
              <a:rPr lang="en-US" sz="5000"/>
              <a:t>  </a:t>
            </a:r>
          </a:p>
          <a:p>
            <a:r>
              <a:rPr lang="en-US" sz="3700">
                <a:solidFill>
                  <a:srgbClr val="252525"/>
                </a:solidFill>
              </a:rPr>
              <a:t>6. The scripts and library files supplied as input to or produced as output from</a:t>
            </a:r>
          </a:p>
          <a:p>
            <a:r>
              <a:rPr lang="en-US" sz="3700">
                <a:solidFill>
                  <a:srgbClr val="252525"/>
                </a:solidFill>
              </a:rPr>
              <a:t>the programs of this Package do not automatically fall under the copyright of</a:t>
            </a:r>
          </a:p>
          <a:p>
            <a:r>
              <a:rPr lang="en-US" sz="3700">
                <a:solidFill>
                  <a:srgbClr val="252525"/>
                </a:solidFill>
              </a:rPr>
              <a:t>this Package, but belong to whomever generated them, and may be sold</a:t>
            </a:r>
          </a:p>
        </p:txBody>
      </p:sp>
    </p:spTree>
  </p:cSld>
  <p:clrMapOvr>
    <a:masterClrMapping/>
  </p:clrMapOvr>
</p:sld>
</file>

<file path=ppt/slides/slide1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56" id="256"/>
          <p:cNvPicPr>
            <a:picLocks noChangeAspect="true"/>
          </p:cNvPicPr>
          <p:nvPr/>
        </p:nvPicPr>
        <p:blipFill>
          <a:blip r:embed="rId256"/>
          <a:stretch>
            <a:fillRect/>
          </a:stretch>
        </p:blipFill>
        <p:spPr>
          <a:xfrm>
            <a:off x="0" y="127000"/>
            <a:ext cx="23749000" cy="16548100"/>
          </a:xfrm>
          <a:prstGeom prst="rect">
            <a:avLst/>
          </a:prstGeom>
        </p:spPr>
      </p:pic>
      <p:sp>
        <p:nvSpPr>
          <p:cNvPr name="TextBox 256" id="25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commercially, and may be aggregated with this Package.</a:t>
            </a:r>
          </a:p>
          <a:p>
            <a:r>
              <a:rPr lang="en-US" sz="5000"/>
              <a:t>  </a:t>
            </a:r>
          </a:p>
          <a:p>
            <a:r>
              <a:rPr lang="en-US" sz="3700">
                <a:solidFill>
                  <a:srgbClr val="252525"/>
                </a:solidFill>
              </a:rPr>
              <a:t>7. C or perl subroutines supplied by you and linked into this Package shall not</a:t>
            </a:r>
          </a:p>
          <a:p>
            <a:r>
              <a:rPr lang="en-US" sz="3700">
                <a:solidFill>
                  <a:srgbClr val="252525"/>
                </a:solidFill>
              </a:rPr>
              <a:t>be considered part of this Package.</a:t>
            </a:r>
          </a:p>
          <a:p>
            <a:r>
              <a:rPr lang="en-US" sz="5000"/>
              <a:t>  </a:t>
            </a:r>
          </a:p>
          <a:p>
            <a:r>
              <a:rPr lang="en-US" sz="3700">
                <a:solidFill>
                  <a:srgbClr val="252525"/>
                </a:solidFill>
              </a:rPr>
              <a:t>8. The name of the Copyright Holder may not be used to endorse or promote</a:t>
            </a:r>
          </a:p>
          <a:p>
            <a:r>
              <a:rPr lang="en-US" sz="3700">
                <a:solidFill>
                  <a:srgbClr val="252525"/>
                </a:solidFill>
              </a:rPr>
              <a:t>products derived from this software without specific prior written permission.</a:t>
            </a:r>
          </a:p>
          <a:p>
            <a:r>
              <a:rPr lang="en-US" sz="5000"/>
              <a:t>  </a:t>
            </a:r>
          </a:p>
          <a:p>
            <a:r>
              <a:rPr lang="en-US" sz="3700">
                <a:solidFill>
                  <a:srgbClr val="252525"/>
                </a:solidFill>
              </a:rPr>
              <a:t>9. THIS PACKAGE IS PROVIDED "AS IS" AND WITHOUT ANY EXPRESS OR IMPLIED</a:t>
            </a:r>
          </a:p>
          <a:p>
            <a:r>
              <a:rPr lang="en-US" sz="3700">
                <a:solidFill>
                  <a:srgbClr val="252525"/>
                </a:solidFill>
              </a:rPr>
              <a:t>WARRANTIES, INCLUDING, WITHOUT LIMITATION, THE IMPLIED WARRANTIES OF</a:t>
            </a:r>
          </a:p>
          <a:p>
            <a:r>
              <a:rPr lang="en-US" sz="3700">
                <a:solidFill>
                  <a:srgbClr val="252525"/>
                </a:solidFill>
              </a:rPr>
              <a:t>MERCHANTABILITY AND FITNESS FOR A PARTICULAR PURPOSE.</a:t>
            </a:r>
          </a:p>
          <a:p>
            <a:r>
              <a:rPr lang="en-US" sz="5000"/>
              <a:t>  </a:t>
            </a:r>
          </a:p>
          <a:p>
            <a:r>
              <a:rPr lang="en-US" sz="3700">
                <a:solidFill>
                  <a:srgbClr val="252525"/>
                </a:solidFill>
              </a:rPr>
              <a:t>The End</a:t>
            </a:r>
          </a:p>
        </p:txBody>
      </p:sp>
    </p:spTree>
  </p:cSld>
  <p:clrMapOvr>
    <a:masterClrMapping/>
  </p:clrMapOvr>
</p:sld>
</file>

<file path=ppt/slides/slide1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58" id="258"/>
          <p:cNvPicPr>
            <a:picLocks noChangeAspect="true"/>
          </p:cNvPicPr>
          <p:nvPr/>
        </p:nvPicPr>
        <p:blipFill>
          <a:blip r:embed="rId258"/>
          <a:stretch>
            <a:fillRect/>
          </a:stretch>
        </p:blipFill>
        <p:spPr>
          <a:xfrm>
            <a:off x="0" y="127000"/>
            <a:ext cx="23749000" cy="16548100"/>
          </a:xfrm>
          <a:prstGeom prst="rect">
            <a:avLst/>
          </a:prstGeom>
        </p:spPr>
      </p:pic>
      <p:sp>
        <p:nvSpPr>
          <p:cNvPr name="TextBox 258" id="259"/>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a:t>
            </a:r>
          </a:p>
          <a:p>
            <a:r>
              <a:rPr lang="en-US" sz="5000"/>
              <a:t>  </a:t>
            </a:r>
          </a:p>
          <a:p>
            <a:r>
              <a:rPr lang="en-US" sz="3700">
                <a:solidFill>
                  <a:srgbClr val="252525"/>
                </a:solidFill>
              </a:rPr>
              <a:t>Boost Software License 1.0</a:t>
            </a:r>
          </a:p>
          <a:p>
            <a:r>
              <a:rPr lang="en-US" sz="3700">
                <a:solidFill>
                  <a:srgbClr val="252525"/>
                </a:solidFill>
              </a:rPr>
              <a:t>(Boost C++ Libraries - boost boost-1.72.0)</a:t>
            </a:r>
          </a:p>
          <a:p>
            <a:r>
              <a:rPr lang="en-US" sz="5000"/>
              <a:t>  </a:t>
            </a:r>
          </a:p>
          <a:p>
            <a:r>
              <a:rPr lang="en-US" sz="3700">
                <a:solidFill>
                  <a:srgbClr val="252525"/>
                </a:solidFill>
              </a:rPr>
              <a:t>Boost Software License - Version 1.0</a:t>
            </a:r>
          </a:p>
          <a:p>
            <a:r>
              <a:rPr lang="en-US" sz="3700">
                <a:solidFill>
                  <a:srgbClr val="252525"/>
                </a:solidFill>
              </a:rPr>
              <a:t>====================================</a:t>
            </a:r>
          </a:p>
          <a:p>
            <a:r>
              <a:rPr lang="en-US" sz="5000"/>
              <a:t>  </a:t>
            </a:r>
          </a:p>
          <a:p>
            <a:r>
              <a:rPr lang="en-US" sz="5000"/>
              <a:t>  </a:t>
            </a:r>
          </a:p>
          <a:p>
            <a:r>
              <a:rPr lang="en-US" sz="3700">
                <a:solidFill>
                  <a:srgbClr val="252525"/>
                </a:solidFill>
              </a:rPr>
              <a:t>August 17th, 2003</a:t>
            </a:r>
          </a:p>
          <a:p>
            <a:r>
              <a:rPr lang="en-US" sz="3700">
                <a:solidFill>
                  <a:srgbClr val="252525"/>
                </a:solidFill>
              </a:rPr>
              <a:t>-----------------</a:t>
            </a:r>
          </a:p>
          <a:p>
            <a:r>
              <a:rPr lang="en-US" sz="5000"/>
              <a:t>  </a:t>
            </a:r>
          </a:p>
          <a:p>
            <a:r>
              <a:rPr lang="en-US" sz="3700">
                <a:solidFill>
                  <a:srgbClr val="252525"/>
                </a:solidFill>
              </a:rPr>
              <a:t>Permission is hereby granted, free of charge, to any person or organization</a:t>
            </a:r>
          </a:p>
          <a:p>
            <a:r>
              <a:rPr lang="en-US" sz="3700">
                <a:solidFill>
                  <a:srgbClr val="252525"/>
                </a:solidFill>
              </a:rPr>
              <a:t>obtaining a copy of the software and accompanying documentation covered by this</a:t>
            </a:r>
          </a:p>
          <a:p>
            <a:r>
              <a:rPr lang="en-US" sz="3700">
                <a:solidFill>
                  <a:srgbClr val="252525"/>
                </a:solidFill>
              </a:rPr>
              <a:t>license (the "Software") to use, reproduce, display, distribute, execute, and</a:t>
            </a:r>
          </a:p>
        </p:txBody>
      </p:sp>
    </p:spTree>
  </p:cSld>
  <p:clrMapOvr>
    <a:masterClrMapping/>
  </p:clrMapOvr>
</p:sld>
</file>

<file path=ppt/slides/slide1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0" id="260"/>
          <p:cNvPicPr>
            <a:picLocks noChangeAspect="true"/>
          </p:cNvPicPr>
          <p:nvPr/>
        </p:nvPicPr>
        <p:blipFill>
          <a:blip r:embed="rId260"/>
          <a:stretch>
            <a:fillRect/>
          </a:stretch>
        </p:blipFill>
        <p:spPr>
          <a:xfrm>
            <a:off x="0" y="127000"/>
            <a:ext cx="23749000" cy="16548100"/>
          </a:xfrm>
          <a:prstGeom prst="rect">
            <a:avLst/>
          </a:prstGeom>
        </p:spPr>
      </p:pic>
      <p:sp>
        <p:nvSpPr>
          <p:cNvPr name="TextBox 260" id="26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transmit the Software, and to prepare derivative works of the Software, and to</a:t>
            </a:r>
          </a:p>
          <a:p>
            <a:r>
              <a:rPr lang="en-US" sz="3700">
                <a:solidFill>
                  <a:srgbClr val="252525"/>
                </a:solidFill>
              </a:rPr>
              <a:t>permit third-parties to whom the Software is furnished to do so, all subject to</a:t>
            </a:r>
          </a:p>
          <a:p>
            <a:r>
              <a:rPr lang="en-US" sz="3700">
                <a:solidFill>
                  <a:srgbClr val="252525"/>
                </a:solidFill>
              </a:rPr>
              <a:t>the following:</a:t>
            </a:r>
          </a:p>
          <a:p>
            <a:r>
              <a:rPr lang="en-US" sz="3700">
                <a:solidFill>
                  <a:srgbClr val="252525"/>
                </a:solidFill>
              </a:rPr>
              <a:t>The copyright notices in the Software and this entire statement, including the</a:t>
            </a:r>
          </a:p>
          <a:p>
            <a:r>
              <a:rPr lang="en-US" sz="3700">
                <a:solidFill>
                  <a:srgbClr val="252525"/>
                </a:solidFill>
              </a:rPr>
              <a:t>above license grant, this restriction and the following disclaimer, must be</a:t>
            </a:r>
          </a:p>
          <a:p>
            <a:r>
              <a:rPr lang="en-US" sz="3700">
                <a:solidFill>
                  <a:srgbClr val="252525"/>
                </a:solidFill>
              </a:rPr>
              <a:t>included in all copies of the Software, in whole or in part, and all derivative</a:t>
            </a:r>
          </a:p>
          <a:p>
            <a:r>
              <a:rPr lang="en-US" sz="3700">
                <a:solidFill>
                  <a:srgbClr val="252525"/>
                </a:solidFill>
              </a:rPr>
              <a:t>works of the Software, unless such copies or derivative works are solely in the</a:t>
            </a:r>
          </a:p>
          <a:p>
            <a:r>
              <a:rPr lang="en-US" sz="3700">
                <a:solidFill>
                  <a:srgbClr val="252525"/>
                </a:solidFill>
              </a:rPr>
              <a:t>form of machine-executable object code generated by a source language processor.</a:t>
            </a:r>
          </a:p>
          <a:p>
            <a:r>
              <a:rPr lang="en-US" sz="3700">
                <a:solidFill>
                  <a:srgbClr val="252525"/>
                </a:solidFill>
              </a:rPr>
              <a:t>THE SOFTWARE IS PROVIDED "AS IS", WITHOUT WARRANTY OF ANY KIND, EXPRESS OR</a:t>
            </a:r>
          </a:p>
          <a:p>
            <a:r>
              <a:rPr lang="en-US" sz="3700">
                <a:solidFill>
                  <a:srgbClr val="252525"/>
                </a:solidFill>
              </a:rPr>
              <a:t>IMPLIED, INCLUDING BUT NOT LIMITED TO THE WARRANTIES OF MERCHANTABILITY, FITNESS</a:t>
            </a:r>
          </a:p>
        </p:txBody>
      </p:sp>
    </p:spTree>
  </p:cSld>
  <p:clrMapOvr>
    <a:masterClrMapping/>
  </p:clrMapOvr>
</p:sld>
</file>

<file path=ppt/slides/slide1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2" id="262"/>
          <p:cNvPicPr>
            <a:picLocks noChangeAspect="true"/>
          </p:cNvPicPr>
          <p:nvPr/>
        </p:nvPicPr>
        <p:blipFill>
          <a:blip r:embed="rId262"/>
          <a:stretch>
            <a:fillRect/>
          </a:stretch>
        </p:blipFill>
        <p:spPr>
          <a:xfrm>
            <a:off x="0" y="127000"/>
            <a:ext cx="23749000" cy="16548100"/>
          </a:xfrm>
          <a:prstGeom prst="rect">
            <a:avLst/>
          </a:prstGeom>
        </p:spPr>
      </p:pic>
      <p:sp>
        <p:nvSpPr>
          <p:cNvPr name="TextBox 262" id="26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FOR A PARTICULAR PURPOSE, TITLE AND NON-INFRINGEMENT. IN NO EVENT SHALL THE</a:t>
            </a:r>
          </a:p>
          <a:p>
            <a:r>
              <a:rPr lang="en-US" sz="3700">
                <a:solidFill>
                  <a:srgbClr val="252525"/>
                </a:solidFill>
              </a:rPr>
              <a:t>COPYRIGHT HOLDERS OR ANYONE DISTRIBUTING THE SOFTWARE BE LIABLE FOR ANY DAMAGES</a:t>
            </a:r>
          </a:p>
          <a:p>
            <a:r>
              <a:rPr lang="en-US" sz="3700">
                <a:solidFill>
                  <a:srgbClr val="252525"/>
                </a:solidFill>
              </a:rPr>
              <a:t>OR OTHER LIABILITY, WHETHER IN CONTRACT, TORT OR OTHERWISE, ARISING FROM, OUT OF</a:t>
            </a:r>
          </a:p>
          <a:p>
            <a:r>
              <a:rPr lang="en-US" sz="3700">
                <a:solidFill>
                  <a:srgbClr val="252525"/>
                </a:solidFill>
              </a:rPr>
              <a:t>OR IN CONNECTION WITH THE SOFTWARE OR THE USE OR OTHER DEALINGS IN THE SOFTWARE.</a:t>
            </a:r>
          </a:p>
          <a:p>
            <a:r>
              <a:rPr lang="en-US" sz="5000"/>
              <a:t>  </a:t>
            </a:r>
          </a:p>
          <a:p>
            <a:r>
              <a:rPr lang="en-US" sz="3700">
                <a:solidFill>
                  <a:srgbClr val="252525"/>
                </a:solidFill>
              </a:rPr>
              <a:t>---</a:t>
            </a:r>
          </a:p>
          <a:p>
            <a:r>
              <a:rPr lang="en-US" sz="5000"/>
              <a:t>  </a:t>
            </a:r>
          </a:p>
          <a:p>
            <a:r>
              <a:rPr lang="en-US" sz="3700">
                <a:solidFill>
                  <a:srgbClr val="252525"/>
                </a:solidFill>
              </a:rPr>
              <a:t>BSD 1-Clause License</a:t>
            </a:r>
          </a:p>
          <a:p>
            <a:r>
              <a:rPr lang="en-US" sz="3700">
                <a:solidFill>
                  <a:srgbClr val="252525"/>
                </a:solidFill>
              </a:rPr>
              <a:t>(KVOController)</a:t>
            </a:r>
          </a:p>
          <a:p>
            <a:r>
              <a:rPr lang="en-US" sz="5000"/>
              <a:t>  </a:t>
            </a:r>
          </a:p>
          <a:p>
            <a:r>
              <a:rPr lang="en-US" sz="3700">
                <a:solidFill>
                  <a:srgbClr val="252525"/>
                </a:solidFill>
              </a:rPr>
              <a:t>BSD License</a:t>
            </a:r>
          </a:p>
          <a:p>
            <a:r>
              <a:rPr lang="en-US" sz="5000"/>
              <a:t>  </a:t>
            </a:r>
          </a:p>
          <a:p>
            <a:r>
              <a:rPr lang="en-US" sz="3700">
                <a:solidFill>
                  <a:srgbClr val="252525"/>
                </a:solidFill>
              </a:rPr>
              <a:t>For KVOController software</a:t>
            </a:r>
          </a:p>
        </p:txBody>
      </p:sp>
    </p:spTree>
  </p:cSld>
  <p:clrMapOvr>
    <a:masterClrMapping/>
  </p:clrMapOvr>
</p:sld>
</file>

<file path=ppt/slides/slide1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4" id="264"/>
          <p:cNvPicPr>
            <a:picLocks noChangeAspect="true"/>
          </p:cNvPicPr>
          <p:nvPr/>
        </p:nvPicPr>
        <p:blipFill>
          <a:blip r:embed="rId264"/>
          <a:stretch>
            <a:fillRect/>
          </a:stretch>
        </p:blipFill>
        <p:spPr>
          <a:xfrm>
            <a:off x="0" y="127000"/>
            <a:ext cx="23749000" cy="16548100"/>
          </a:xfrm>
          <a:prstGeom prst="rect">
            <a:avLst/>
          </a:prstGeom>
        </p:spPr>
      </p:pic>
      <p:sp>
        <p:nvSpPr>
          <p:cNvPr name="TextBox 264" id="265"/>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Copyright (c) 2014, Facebook, Inc. All rights reserved.</a:t>
            </a:r>
          </a:p>
          <a:p>
            <a:r>
              <a:rPr lang="en-US" sz="5000"/>
              <a:t>  </a:t>
            </a:r>
          </a:p>
          <a:p>
            <a:r>
              <a:rPr lang="en-US" sz="3700">
                <a:solidFill>
                  <a:srgbClr val="252525"/>
                </a:solidFill>
              </a:rPr>
              <a:t>Redistribution and use in source and binary forms, with or without modification,</a:t>
            </a:r>
          </a:p>
          <a:p>
            <a:r>
              <a:rPr lang="en-US" sz="3700">
                <a:solidFill>
                  <a:srgbClr val="252525"/>
                </a:solidFill>
              </a:rPr>
              <a:t>are permitted provided that the following conditions are met:</a:t>
            </a:r>
          </a:p>
          <a:p>
            <a:r>
              <a:rPr lang="en-US" sz="5000"/>
              <a:t>  </a:t>
            </a:r>
          </a:p>
          <a:p>
            <a:r>
              <a:rPr lang="en-US" sz="3700">
                <a:solidFill>
                  <a:srgbClr val="252525"/>
                </a:solidFill>
              </a:rPr>
              <a:t> * Redistributions of source code must retain the above copyright notice, this</a:t>
            </a:r>
          </a:p>
          <a:p>
            <a:r>
              <a:rPr lang="en-US" sz="3700">
                <a:solidFill>
                  <a:srgbClr val="252525"/>
                </a:solidFill>
              </a:rPr>
              <a:t>   list of conditions and the following disclaimer.</a:t>
            </a:r>
          </a:p>
          <a:p>
            <a:r>
              <a:rPr lang="en-US" sz="5000"/>
              <a:t>  </a:t>
            </a:r>
          </a:p>
          <a:p>
            <a:r>
              <a:rPr lang="en-US" sz="3700">
                <a:solidFill>
                  <a:srgbClr val="252525"/>
                </a:solidFill>
              </a:rPr>
              <a:t> * Redistributions in binary form must reproduce the above copyright notice,</a:t>
            </a:r>
          </a:p>
          <a:p>
            <a:r>
              <a:rPr lang="en-US" sz="3700">
                <a:solidFill>
                  <a:srgbClr val="252525"/>
                </a:solidFill>
              </a:rPr>
              <a:t>   this list of conditions and the following disclaimer in the documentation</a:t>
            </a:r>
          </a:p>
          <a:p>
            <a:r>
              <a:rPr lang="en-US" sz="3700">
                <a:solidFill>
                  <a:srgbClr val="252525"/>
                </a:solidFill>
              </a:rPr>
              <a:t>   and/or other materials provided with the distribution.</a:t>
            </a:r>
          </a:p>
        </p:txBody>
      </p:sp>
    </p:spTree>
  </p:cSld>
  <p:clrMapOvr>
    <a:masterClrMapping/>
  </p:clrMapOvr>
</p:sld>
</file>

<file path=ppt/slides/slide1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6" id="266"/>
          <p:cNvPicPr>
            <a:picLocks noChangeAspect="true"/>
          </p:cNvPicPr>
          <p:nvPr/>
        </p:nvPicPr>
        <p:blipFill>
          <a:blip r:embed="rId266"/>
          <a:stretch>
            <a:fillRect/>
          </a:stretch>
        </p:blipFill>
        <p:spPr>
          <a:xfrm>
            <a:off x="0" y="127000"/>
            <a:ext cx="23749000" cy="16548100"/>
          </a:xfrm>
          <a:prstGeom prst="rect">
            <a:avLst/>
          </a:prstGeom>
        </p:spPr>
      </p:pic>
      <p:sp>
        <p:nvSpPr>
          <p:cNvPr name="TextBox 266" id="26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 Neither the name Facebook nor the names of its contributors may be used to</a:t>
            </a:r>
          </a:p>
          <a:p>
            <a:r>
              <a:rPr lang="en-US" sz="3700">
                <a:solidFill>
                  <a:srgbClr val="252525"/>
                </a:solidFill>
              </a:rPr>
              <a:t>   endorse or promote products derived from this software without specific</a:t>
            </a:r>
          </a:p>
          <a:p>
            <a:r>
              <a:rPr lang="en-US" sz="3700">
                <a:solidFill>
                  <a:srgbClr val="252525"/>
                </a:solidFill>
              </a:rPr>
              <a:t>   prior written permission.</a:t>
            </a:r>
          </a:p>
          <a:p>
            <a:r>
              <a:rPr lang="en-US" sz="5000"/>
              <a:t>  </a:t>
            </a:r>
          </a:p>
          <a:p>
            <a:r>
              <a:rPr lang="en-US" sz="3700">
                <a:solidFill>
                  <a:srgbClr val="252525"/>
                </a:solidFill>
              </a:rPr>
              <a:t>THIS SOFTWARE IS PROVIDED BY THE COPYRIGHT HOLDERS AND CONTRIBUTORS "AS IS" AND</a:t>
            </a:r>
          </a:p>
          <a:p>
            <a:r>
              <a:rPr lang="en-US" sz="3700">
                <a:solidFill>
                  <a:srgbClr val="252525"/>
                </a:solidFill>
              </a:rPr>
              <a:t>ANY EXPRESS OR IMPLIED WARRANTIES, INCLUDING, BUT NOT LIMITED TO, THE IMPLIED</a:t>
            </a:r>
          </a:p>
          <a:p>
            <a:r>
              <a:rPr lang="en-US" sz="3700">
                <a:solidFill>
                  <a:srgbClr val="252525"/>
                </a:solidFill>
              </a:rPr>
              <a:t>WARRANTIES OF MERCHANTABILITY AND FITNESS FOR A PARTICULAR PURPOSE ARE</a:t>
            </a:r>
          </a:p>
          <a:p>
            <a:r>
              <a:rPr lang="en-US" sz="3700">
                <a:solidFill>
                  <a:srgbClr val="252525"/>
                </a:solidFill>
              </a:rPr>
              <a:t>DISCLAIMED. IN NO EVENT SHALL THE COPYRIGHT HOLDER OR CONTRIBUTORS BE LIABLE FOR</a:t>
            </a:r>
          </a:p>
          <a:p>
            <a:r>
              <a:rPr lang="en-US" sz="3700">
                <a:solidFill>
                  <a:srgbClr val="252525"/>
                </a:solidFill>
              </a:rPr>
              <a:t>ANY DIRECT, INDIRECT, INCIDENTAL, SPECIAL, EXEMPLARY, OR CONSEQUENTIAL DAMAGES</a:t>
            </a:r>
          </a:p>
        </p:txBody>
      </p:sp>
    </p:spTree>
  </p:cSld>
  <p:clrMapOvr>
    <a:masterClrMapping/>
  </p:clrMapOvr>
</p:sld>
</file>

<file path=ppt/slides/slide1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8" id="268"/>
          <p:cNvPicPr>
            <a:picLocks noChangeAspect="true"/>
          </p:cNvPicPr>
          <p:nvPr/>
        </p:nvPicPr>
        <p:blipFill>
          <a:blip r:embed="rId268"/>
          <a:stretch>
            <a:fillRect/>
          </a:stretch>
        </p:blipFill>
        <p:spPr>
          <a:xfrm>
            <a:off x="0" y="127000"/>
            <a:ext cx="23749000" cy="16548100"/>
          </a:xfrm>
          <a:prstGeom prst="rect">
            <a:avLst/>
          </a:prstGeom>
        </p:spPr>
      </p:pic>
      <p:sp>
        <p:nvSpPr>
          <p:cNvPr name="TextBox 268" id="26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(INCLUDING, BUT NOT LIMITED TO, PROCUREMENT OF SUBSTITUTE GOODS OR SERVICES;</a:t>
            </a:r>
          </a:p>
          <a:p>
            <a:r>
              <a:rPr lang="en-US" sz="3700">
                <a:solidFill>
                  <a:srgbClr val="252525"/>
                </a:solidFill>
              </a:rPr>
              <a:t>LOSS OF USE, DATA, OR PROFITS; OR BUSINESS INTERRUPTION) HOWEVER CAUSED AND ON</a:t>
            </a:r>
          </a:p>
          <a:p>
            <a:r>
              <a:rPr lang="en-US" sz="3700">
                <a:solidFill>
                  <a:srgbClr val="252525"/>
                </a:solidFill>
              </a:rPr>
              <a:t>ANY THEORY OF LIABILITY, WHETHER IN CONTRACT, STRICT LIABILITY, OR TORT</a:t>
            </a:r>
          </a:p>
          <a:p>
            <a:r>
              <a:rPr lang="en-US" sz="3700">
                <a:solidFill>
                  <a:srgbClr val="252525"/>
                </a:solidFill>
              </a:rPr>
              <a:t>(INCLUDING NEGLIGENCE OR OTHERWISE) ARISING IN ANY WAY OUT OF THE USE OF THIS</a:t>
            </a:r>
          </a:p>
          <a:p>
            <a:r>
              <a:rPr lang="en-US" sz="3700">
                <a:solidFill>
                  <a:srgbClr val="252525"/>
                </a:solidFill>
              </a:rPr>
              <a:t>SOFTWARE, EVEN IF ADVISED OF THE POSSIBILITY OF SUCH DAMAGE.</a:t>
            </a:r>
          </a:p>
          <a:p>
            <a:r>
              <a:rPr lang="en-US" sz="5000"/>
              <a:t>  </a:t>
            </a:r>
          </a:p>
          <a:p>
            <a:r>
              <a:rPr lang="en-US" sz="3700">
                <a:solidFill>
                  <a:srgbClr val="252525"/>
                </a:solidFill>
              </a:rPr>
              <a:t>---</a:t>
            </a:r>
          </a:p>
          <a:p>
            <a:r>
              <a:rPr lang="en-US" sz="5000"/>
              <a:t>  </a:t>
            </a:r>
          </a:p>
          <a:p>
            <a:r>
              <a:rPr lang="en-US" sz="3700">
                <a:solidFill>
                  <a:srgbClr val="252525"/>
                </a:solidFill>
              </a:rPr>
              <a:t>BSD 2-clause "Simplified" License</a:t>
            </a:r>
          </a:p>
          <a:p>
            <a:r>
              <a:rPr lang="en-US" sz="3700">
                <a:solidFill>
                  <a:srgbClr val="252525"/>
                </a:solidFill>
              </a:rPr>
              <a:t>(webidl-conversions 4.0.2)</a:t>
            </a:r>
          </a:p>
          <a:p>
            <a:r>
              <a:rPr lang="en-US" sz="5000"/>
              <a:t>  </a:t>
            </a:r>
          </a:p>
          <a:p>
            <a:r>
              <a:rPr lang="en-US" sz="3700">
                <a:solidFill>
                  <a:srgbClr val="252525"/>
                </a:solidFill>
              </a:rPr>
              <a:t># The BSD 2-Clause License</a:t>
            </a:r>
          </a:p>
        </p:txBody>
      </p:sp>
    </p:spTree>
  </p:cSld>
  <p:clrMapOvr>
    <a:masterClrMapping/>
  </p:clrMapOvr>
</p:sld>
</file>

<file path=ppt/slides/slide1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70" id="270"/>
          <p:cNvPicPr>
            <a:picLocks noChangeAspect="true"/>
          </p:cNvPicPr>
          <p:nvPr/>
        </p:nvPicPr>
        <p:blipFill>
          <a:blip r:embed="rId270"/>
          <a:stretch>
            <a:fillRect/>
          </a:stretch>
        </p:blipFill>
        <p:spPr>
          <a:xfrm>
            <a:off x="0" y="127000"/>
            <a:ext cx="23749000" cy="16548100"/>
          </a:xfrm>
          <a:prstGeom prst="rect">
            <a:avLst/>
          </a:prstGeom>
        </p:spPr>
      </p:pic>
      <p:sp>
        <p:nvSpPr>
          <p:cNvPr name="TextBox 270" id="27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Copyright (c) 2014, Domenic Denicola</a:t>
            </a:r>
          </a:p>
          <a:p>
            <a:r>
              <a:rPr lang="en-US" sz="3700">
                <a:solidFill>
                  <a:srgbClr val="252525"/>
                </a:solidFill>
              </a:rPr>
              <a:t>All rights reserved.</a:t>
            </a:r>
          </a:p>
          <a:p>
            <a:r>
              <a:rPr lang="en-US" sz="5000"/>
              <a:t>  </a:t>
            </a:r>
          </a:p>
          <a:p>
            <a:r>
              <a:rPr lang="en-US" sz="3700">
                <a:solidFill>
                  <a:srgbClr val="252525"/>
                </a:solidFill>
              </a:rPr>
              <a:t>Redistribution and use in source and binary forms, with or without modification, are permitted provided that the following conditions are met:</a:t>
            </a:r>
          </a:p>
          <a:p>
            <a:r>
              <a:rPr lang="en-US" sz="5000"/>
              <a:t>  </a:t>
            </a:r>
          </a:p>
          <a:p>
            <a:r>
              <a:rPr lang="en-US" sz="3700">
                <a:solidFill>
                  <a:srgbClr val="252525"/>
                </a:solidFill>
              </a:rPr>
              <a:t>1. Redistributions of source code must retain the above copyright notice, this list of conditions and the following disclaimer.</a:t>
            </a:r>
          </a:p>
          <a:p>
            <a:r>
              <a:rPr lang="en-US" sz="5000"/>
              <a:t>  </a:t>
            </a:r>
          </a:p>
          <a:p>
            <a:r>
              <a:rPr lang="en-US" sz="3700">
                <a:solidFill>
                  <a:srgbClr val="252525"/>
                </a:solidFill>
              </a:rPr>
              <a:t>2. Redistributions in binary form must reproduce the above copyright notice, this list of conditions and the following disclaimer in the documentation and/or other materials provided with the distribution.</a:t>
            </a:r>
          </a:p>
          <a:p>
            <a:r>
              <a:rPr lang="en-US" sz="5000"/>
              <a:t>  </a:t>
            </a:r>
          </a:p>
          <a:p>
            <a:r>
              <a:rPr lang="en-US" sz="3700">
                <a:solidFill>
                  <a:srgbClr val="252525"/>
                </a:solidFill>
              </a:rPr>
              <a:t>THIS SOFTWARE IS PROVIDED BY THE COPYRIGHT HOLDERS AND </a:t>
            </a:r>
          </a:p>
        </p:txBody>
      </p:sp>
    </p:spTree>
  </p:cSld>
  <p:clrMapOvr>
    <a:masterClrMapping/>
  </p:clrMapOvr>
</p:sld>
</file>

<file path=ppt/slides/slide1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72" id="272"/>
          <p:cNvPicPr>
            <a:picLocks noChangeAspect="true"/>
          </p:cNvPicPr>
          <p:nvPr/>
        </p:nvPicPr>
        <p:blipFill>
          <a:blip r:embed="rId272"/>
          <a:stretch>
            <a:fillRect/>
          </a:stretch>
        </p:blipFill>
        <p:spPr>
          <a:xfrm>
            <a:off x="0" y="127000"/>
            <a:ext cx="23749000" cy="16548100"/>
          </a:xfrm>
          <a:prstGeom prst="rect">
            <a:avLst/>
          </a:prstGeom>
        </p:spPr>
      </p:pic>
      <p:sp>
        <p:nvSpPr>
          <p:cNvPr name="TextBox 272" id="27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CONTRIBUTORS "AS IS" AND ANY EXPRESS OR IMPLIED WARRANTIES, INCLUDING, BUT NOT LIMITED TO, THE IMPLIED WARRANTIES OF MERCHANTABILITY AND FITNESS FOR A PARTICULAR PURPOSE ARE DISCLAIMED. IN NO EVENT SHALL THE COPYRIGHT HOLDER OR CONTRIBUTORS BE LIABLE FOR ANY DIRECT, INDIRECT, INCIDENTAL, SPECIAL, EXEMPLARY, OR CONSEQUENTIAL DAMAGES (INCLUDING, BUT NOT LIMITED TO, PROCUREMENT OF SUBSTITUTE GOODS OR SERVICES; LOSS OF USE, DATA, OR PROFITS; OR BUSINESS INTERRUPTION) HOWEVER CAUSED AND ON ANY THEORY OF LIABILITY, WHETHER IN CONTRACT, STRICT LIABILITY, OR TORT (INCLUDING NEGLIGENCE OR OTHERWISE) ARISING IN ANY WAY OUT OF THE USE OF THIS SOFTWARE, EVEN IF ADVISED OF THE POSSIBILITY OF SUCH </a:t>
            </a:r>
          </a:p>
        </p:txBody>
      </p:sp>
    </p:spTree>
  </p:cSld>
  <p:clrMapOvr>
    <a:masterClrMapping/>
  </p:clrMapOvr>
</p:sld>
</file>

<file path=ppt/slides/slide1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74" id="274"/>
          <p:cNvPicPr>
            <a:picLocks noChangeAspect="true"/>
          </p:cNvPicPr>
          <p:nvPr/>
        </p:nvPicPr>
        <p:blipFill>
          <a:blip r:embed="rId274"/>
          <a:stretch>
            <a:fillRect/>
          </a:stretch>
        </p:blipFill>
        <p:spPr>
          <a:xfrm>
            <a:off x="0" y="127000"/>
            <a:ext cx="23749000" cy="16548100"/>
          </a:xfrm>
          <a:prstGeom prst="rect">
            <a:avLst/>
          </a:prstGeom>
        </p:spPr>
      </p:pic>
      <p:sp>
        <p:nvSpPr>
          <p:cNvPr name="TextBox 274" id="27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DAMAGE</a:t>
            </a:r>
          </a:p>
          <a:p>
            <a:r>
              <a:rPr lang="en-US" sz="5000"/>
              <a:t>  </a:t>
            </a:r>
          </a:p>
          <a:p>
            <a:r>
              <a:rPr lang="en-US" sz="3700">
                <a:solidFill>
                  <a:srgbClr val="252525"/>
                </a:solidFill>
              </a:rPr>
              <a:t>---</a:t>
            </a:r>
          </a:p>
          <a:p>
            <a:r>
              <a:rPr lang="en-US" sz="5000"/>
              <a:t>  </a:t>
            </a:r>
          </a:p>
          <a:p>
            <a:r>
              <a:rPr lang="en-US" sz="3700">
                <a:solidFill>
                  <a:srgbClr val="252525"/>
                </a:solidFill>
              </a:rPr>
              <a:t>BSD 2-clause "Simplified" License</a:t>
            </a:r>
          </a:p>
          <a:p>
            <a:r>
              <a:rPr lang="en-US" sz="3700">
                <a:solidFill>
                  <a:srgbClr val="252525"/>
                </a:solidFill>
              </a:rPr>
              <a:t>(damerau-levenshtein 1.0.5, damerau-levenshtein 1.0.6)</a:t>
            </a:r>
          </a:p>
          <a:p>
            <a:r>
              <a:rPr lang="en-US" sz="5000"/>
              <a:t>  </a:t>
            </a:r>
          </a:p>
          <a:p>
            <a:r>
              <a:rPr lang="en-US" sz="3700">
                <a:solidFill>
                  <a:srgbClr val="252525"/>
                </a:solidFill>
              </a:rPr>
              <a:t>BSD 2-Clause License</a:t>
            </a:r>
          </a:p>
          <a:p>
            <a:r>
              <a:rPr lang="en-US" sz="5000"/>
              <a:t>  </a:t>
            </a:r>
          </a:p>
          <a:p>
            <a:r>
              <a:rPr lang="en-US" sz="3700">
                <a:solidFill>
                  <a:srgbClr val="252525"/>
                </a:solidFill>
              </a:rPr>
              <a:t>Copyright (c) 2018, Tadeusz Łazurski</a:t>
            </a:r>
          </a:p>
          <a:p>
            <a:r>
              <a:rPr lang="en-US" sz="3700">
                <a:solidFill>
                  <a:srgbClr val="252525"/>
                </a:solidFill>
              </a:rPr>
              <a:t>All rights reserved.</a:t>
            </a:r>
          </a:p>
          <a:p>
            <a:r>
              <a:rPr lang="en-US" sz="5000"/>
              <a:t>  </a:t>
            </a:r>
          </a:p>
          <a:p>
            <a:r>
              <a:rPr lang="en-US" sz="3700">
                <a:solidFill>
                  <a:srgbClr val="252525"/>
                </a:solidFill>
              </a:rPr>
              <a:t>Redistribution and use in source and binary forms, with or without</a:t>
            </a:r>
          </a:p>
          <a:p>
            <a:r>
              <a:rPr lang="en-US" sz="3700">
                <a:solidFill>
                  <a:srgbClr val="252525"/>
                </a:solidFill>
              </a:rPr>
              <a:t>modification, are permitted provided that the following conditions are met:</a:t>
            </a:r>
          </a:p>
          <a:p>
            <a:r>
              <a:rPr lang="en-US" sz="5000"/>
              <a:t>  </a:t>
            </a:r>
          </a:p>
          <a:p>
            <a:r>
              <a:rPr lang="en-US" sz="3700">
                <a:solidFill>
                  <a:srgbClr val="252525"/>
                </a:solidFill>
              </a:rPr>
              <a:t>* Redistributions of source code must retain the above copyright notice, this</a:t>
            </a:r>
          </a:p>
          <a:p>
            <a:r>
              <a:rPr lang="en-US" sz="3700">
                <a:solidFill>
                  <a:srgbClr val="252525"/>
                </a:solidFill>
              </a:rPr>
              <a:t>  list of conditions and the following </a:t>
            </a:r>
          </a:p>
        </p:txBody>
      </p:sp>
    </p:spTree>
  </p:cSld>
  <p:clrMapOvr>
    <a:masterClrMapping/>
  </p:clrMapOvr>
</p:sld>
</file>

<file path=ppt/slides/slide1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76" id="276"/>
          <p:cNvPicPr>
            <a:picLocks noChangeAspect="true"/>
          </p:cNvPicPr>
          <p:nvPr/>
        </p:nvPicPr>
        <p:blipFill>
          <a:blip r:embed="rId276"/>
          <a:stretch>
            <a:fillRect/>
          </a:stretch>
        </p:blipFill>
        <p:spPr>
          <a:xfrm>
            <a:off x="0" y="127000"/>
            <a:ext cx="23749000" cy="16548100"/>
          </a:xfrm>
          <a:prstGeom prst="rect">
            <a:avLst/>
          </a:prstGeom>
        </p:spPr>
      </p:pic>
      <p:sp>
        <p:nvSpPr>
          <p:cNvPr name="TextBox 276" id="27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disclaimer.</a:t>
            </a:r>
          </a:p>
          <a:p>
            <a:r>
              <a:rPr lang="en-US" sz="5000"/>
              <a:t>  </a:t>
            </a:r>
          </a:p>
          <a:p>
            <a:r>
              <a:rPr lang="en-US" sz="3700">
                <a:solidFill>
                  <a:srgbClr val="252525"/>
                </a:solidFill>
              </a:rPr>
              <a:t>* Redistributions in binary form must reproduce the above copyright notice,</a:t>
            </a:r>
          </a:p>
          <a:p>
            <a:r>
              <a:rPr lang="en-US" sz="3700">
                <a:solidFill>
                  <a:srgbClr val="252525"/>
                </a:solidFill>
              </a:rPr>
              <a:t>  this list of conditions and the following disclaimer in the documentation</a:t>
            </a:r>
          </a:p>
          <a:p>
            <a:r>
              <a:rPr lang="en-US" sz="3700">
                <a:solidFill>
                  <a:srgbClr val="252525"/>
                </a:solidFill>
              </a:rPr>
              <a:t>  and/or other materials provided with the distribution.</a:t>
            </a:r>
          </a:p>
          <a:p>
            <a:r>
              <a:rPr lang="en-US" sz="5000"/>
              <a:t>  </a:t>
            </a:r>
          </a:p>
          <a:p>
            <a:r>
              <a:rPr lang="en-US" sz="3700">
                <a:solidFill>
                  <a:srgbClr val="252525"/>
                </a:solidFill>
              </a:rPr>
              <a:t>THIS SOFTWARE IS PROVIDED BY THE COPYRIGHT HOLDERS AND CONTRIBUTORS "AS IS"</a:t>
            </a:r>
          </a:p>
          <a:p>
            <a:r>
              <a:rPr lang="en-US" sz="3700">
                <a:solidFill>
                  <a:srgbClr val="252525"/>
                </a:solidFill>
              </a:rPr>
              <a:t>AND ANY EXPRESS OR IMPLIED WARRANTIES, INCLUDING, BUT NOT LIMITED TO, THE</a:t>
            </a:r>
          </a:p>
          <a:p>
            <a:r>
              <a:rPr lang="en-US" sz="3700">
                <a:solidFill>
                  <a:srgbClr val="252525"/>
                </a:solidFill>
              </a:rPr>
              <a:t>IMPLIED WARRANTIES OF MERCHANTABILITY AND FITNESS FOR A PARTICULAR PURPOSE ARE</a:t>
            </a:r>
          </a:p>
          <a:p>
            <a:r>
              <a:rPr lang="en-US" sz="3700">
                <a:solidFill>
                  <a:srgbClr val="252525"/>
                </a:solidFill>
              </a:rPr>
              <a:t>DISCLAIMED. IN NO EVENT SHALL THE COPYRIGHT HOLDER OR CONTRIBUTORS BE LIABLE</a:t>
            </a:r>
          </a:p>
        </p:txBody>
      </p:sp>
    </p:spTree>
  </p:cSld>
  <p:clrMapOvr>
    <a:masterClrMapping/>
  </p:clrMapOvr>
</p:sld>
</file>

<file path=ppt/slides/slide1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78" id="278"/>
          <p:cNvPicPr>
            <a:picLocks noChangeAspect="true"/>
          </p:cNvPicPr>
          <p:nvPr/>
        </p:nvPicPr>
        <p:blipFill>
          <a:blip r:embed="rId278"/>
          <a:stretch>
            <a:fillRect/>
          </a:stretch>
        </p:blipFill>
        <p:spPr>
          <a:xfrm>
            <a:off x="0" y="127000"/>
            <a:ext cx="23749000" cy="16548100"/>
          </a:xfrm>
          <a:prstGeom prst="rect">
            <a:avLst/>
          </a:prstGeom>
        </p:spPr>
      </p:pic>
      <p:sp>
        <p:nvSpPr>
          <p:cNvPr name="TextBox 278" id="27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FOR ANY DIRECT, INDIRECT, INCIDENTAL, SPECIAL, EXEMPLARY, OR CONSEQUENTIAL</a:t>
            </a:r>
          </a:p>
          <a:p>
            <a:r>
              <a:rPr lang="en-US" sz="3700">
                <a:solidFill>
                  <a:srgbClr val="252525"/>
                </a:solidFill>
              </a:rPr>
              <a:t>DAMAGES (INCLUDING, BUT NOT LIMITED TO, PROCUREMENT OF SUBSTITUTE GOODS OR</a:t>
            </a:r>
          </a:p>
          <a:p>
            <a:r>
              <a:rPr lang="en-US" sz="3700">
                <a:solidFill>
                  <a:srgbClr val="252525"/>
                </a:solidFill>
              </a:rPr>
              <a:t>SERVICES; LOSS OF USE, DATA, OR PROFITS; OR BUSINESS INTERRUPTION) HOWEVER</a:t>
            </a:r>
          </a:p>
          <a:p>
            <a:r>
              <a:rPr lang="en-US" sz="3700">
                <a:solidFill>
                  <a:srgbClr val="252525"/>
                </a:solidFill>
              </a:rPr>
              <a:t>CAUSED AND ON ANY THEORY OF LIABILITY, WHETHER IN CONTRACT, STRICT LIABILITY,</a:t>
            </a:r>
          </a:p>
          <a:p>
            <a:r>
              <a:rPr lang="en-US" sz="3700">
                <a:solidFill>
                  <a:srgbClr val="252525"/>
                </a:solidFill>
              </a:rPr>
              <a:t>OR TORT (INCLUDING NEGLIGENCE OR OTHERWISE) ARISING IN ANY WAY OUT OF THE USE</a:t>
            </a:r>
          </a:p>
          <a:p>
            <a:r>
              <a:rPr lang="en-US" sz="3700">
                <a:solidFill>
                  <a:srgbClr val="252525"/>
                </a:solidFill>
              </a:rPr>
              <a:t>OF THIS SOFTWARE, EVEN IF ADVISED OF THE POSSIBILITY OF SUCH DAMAGE</a:t>
            </a:r>
          </a:p>
          <a:p>
            <a:r>
              <a:rPr lang="en-US" sz="5000"/>
              <a:t>  </a:t>
            </a:r>
          </a:p>
          <a:p>
            <a:r>
              <a:rPr lang="en-US" sz="3700">
                <a:solidFill>
                  <a:srgbClr val="252525"/>
                </a:solidFill>
              </a:rPr>
              <a:t>---</a:t>
            </a:r>
          </a:p>
          <a:p>
            <a:r>
              <a:rPr lang="en-US" sz="5000"/>
              <a:t>  </a:t>
            </a:r>
          </a:p>
          <a:p>
            <a:r>
              <a:rPr lang="en-US" sz="3700">
                <a:solidFill>
                  <a:srgbClr val="252525"/>
                </a:solidFill>
              </a:rPr>
              <a:t>BSD 2-clause "Simplified" License</a:t>
            </a:r>
          </a:p>
        </p:txBody>
      </p:sp>
    </p:spTree>
  </p:cSld>
  <p:clrMapOvr>
    <a:masterClrMapping/>
  </p:clrMapOvr>
</p:sld>
</file>

<file path=ppt/slides/slide1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0" id="280"/>
          <p:cNvPicPr>
            <a:picLocks noChangeAspect="true"/>
          </p:cNvPicPr>
          <p:nvPr/>
        </p:nvPicPr>
        <p:blipFill>
          <a:blip r:embed="rId280"/>
          <a:stretch>
            <a:fillRect/>
          </a:stretch>
        </p:blipFill>
        <p:spPr>
          <a:xfrm>
            <a:off x="0" y="127000"/>
            <a:ext cx="23749000" cy="16548100"/>
          </a:xfrm>
          <a:prstGeom prst="rect">
            <a:avLst/>
          </a:prstGeom>
        </p:spPr>
      </p:pic>
      <p:sp>
        <p:nvSpPr>
          <p:cNvPr name="TextBox 280" id="28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(css-what v2.1.3, css-what v3.3.0, css-what v3.4.2, domelementtype 1.3.1, domelementtype 2.0.1, domelementtype 2.0.2, domelementtype 2.1.0, DomHandler 2.4.2, domutils 1.7.0, dotenv-expand 5.1.0, escodegen v1.14.3, eslint-scope v5.1.1, esrecurse v4.3.0, estraverse 5.2.0, Glide 4.11.0, Glide 4.8.0, Glide Annotation processor 4.11.0, Glide Annotation processor 4.8.0, Glide Annotations 4.11.0, Glide Annotations 4.8.0, Glide Disk LRU Cache Library 4.11.0, Glide Disk LRU Cache Library 4.8.0, Glide GIF Decoder Library 4.11.0, Glide GIF Decoder Library 4.8.0, MinHook 1.3.2, node-entities 1.1.2, node-entities 2.0.3, node-entities 2.1.0, nth-check 1.0.2, terser 4.8.0, uri-js 4.4.0, warning 2.1.0)</a:t>
            </a:r>
          </a:p>
          <a:p>
            <a:r>
              <a:rPr lang="en-US" sz="5000"/>
              <a:t>  </a:t>
            </a:r>
          </a:p>
          <a:p>
            <a:r>
              <a:rPr lang="en-US" sz="3700">
                <a:solidFill>
                  <a:srgbClr val="252525"/>
                </a:solidFill>
              </a:rPr>
              <a:t>BSD Two Clause License</a:t>
            </a:r>
          </a:p>
          <a:p>
            <a:r>
              <a:rPr lang="en-US" sz="3700">
                <a:solidFill>
                  <a:srgbClr val="252525"/>
                </a:solidFill>
              </a:rPr>
              <a:t>======================</a:t>
            </a:r>
          </a:p>
        </p:txBody>
      </p:sp>
    </p:spTree>
  </p:cSld>
  <p:clrMapOvr>
    <a:masterClrMapping/>
  </p:clrMapOvr>
</p:sld>
</file>

<file path=ppt/slides/slide1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2" id="282"/>
          <p:cNvPicPr>
            <a:picLocks noChangeAspect="true"/>
          </p:cNvPicPr>
          <p:nvPr/>
        </p:nvPicPr>
        <p:blipFill>
          <a:blip r:embed="rId282"/>
          <a:stretch>
            <a:fillRect/>
          </a:stretch>
        </p:blipFill>
        <p:spPr>
          <a:xfrm>
            <a:off x="0" y="127000"/>
            <a:ext cx="23749000" cy="16548100"/>
          </a:xfrm>
          <a:prstGeom prst="rect">
            <a:avLst/>
          </a:prstGeom>
        </p:spPr>
      </p:pic>
      <p:sp>
        <p:nvSpPr>
          <p:cNvPr name="TextBox 282" id="283"/>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Redistribution and use in source and binary forms, with or without modification,</a:t>
            </a:r>
          </a:p>
          <a:p>
            <a:r>
              <a:rPr lang="en-US" sz="3700">
                <a:solidFill>
                  <a:srgbClr val="252525"/>
                </a:solidFill>
              </a:rPr>
              <a:t>are permitted provided that the following conditions are met:</a:t>
            </a:r>
          </a:p>
          <a:p>
            <a:r>
              <a:rPr lang="en-US" sz="5000"/>
              <a:t>  </a:t>
            </a:r>
          </a:p>
          <a:p>
            <a:r>
              <a:rPr lang="en-US" sz="3700">
                <a:solidFill>
                  <a:srgbClr val="252525"/>
                </a:solidFill>
              </a:rPr>
              <a:t>  1. Redistributions of source code must retain the above copyright notice, this</a:t>
            </a:r>
          </a:p>
          <a:p>
            <a:r>
              <a:rPr lang="en-US" sz="3700">
                <a:solidFill>
                  <a:srgbClr val="252525"/>
                </a:solidFill>
              </a:rPr>
              <a:t>    list of conditions and the following disclaimer.</a:t>
            </a:r>
          </a:p>
          <a:p>
            <a:r>
              <a:rPr lang="en-US" sz="5000"/>
              <a:t>  </a:t>
            </a:r>
          </a:p>
          <a:p>
            <a:r>
              <a:rPr lang="en-US" sz="3700">
                <a:solidFill>
                  <a:srgbClr val="252525"/>
                </a:solidFill>
              </a:rPr>
              <a:t>  2. Redistributions in binary form must reproduce the above copyright notice,</a:t>
            </a:r>
          </a:p>
          <a:p>
            <a:r>
              <a:rPr lang="en-US" sz="3700">
                <a:solidFill>
                  <a:srgbClr val="252525"/>
                </a:solidFill>
              </a:rPr>
              <a:t>    this list of conditions and the following disclaimer in the documentation</a:t>
            </a:r>
          </a:p>
          <a:p>
            <a:r>
              <a:rPr lang="en-US" sz="3700">
                <a:solidFill>
                  <a:srgbClr val="252525"/>
                </a:solidFill>
              </a:rPr>
              <a:t>    and/or other materials provided with the distribution.</a:t>
            </a:r>
          </a:p>
          <a:p>
            <a:r>
              <a:rPr lang="en-US" sz="5000"/>
              <a:t>  </a:t>
            </a:r>
          </a:p>
          <a:p>
            <a:r>
              <a:rPr lang="en-US" sz="3700">
                <a:solidFill>
                  <a:srgbClr val="252525"/>
                </a:solidFill>
              </a:rPr>
              <a:t>THIS SOFTWARE IS PROVIDED BY THE AUTHOR "AS IS" AND ANY EXPRESS OR IMPLIED</a:t>
            </a:r>
          </a:p>
        </p:txBody>
      </p:sp>
    </p:spTree>
  </p:cSld>
  <p:clrMapOvr>
    <a:masterClrMapping/>
  </p:clrMapOvr>
</p:sld>
</file>

<file path=ppt/slides/slide1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4" id="284"/>
          <p:cNvPicPr>
            <a:picLocks noChangeAspect="true"/>
          </p:cNvPicPr>
          <p:nvPr/>
        </p:nvPicPr>
        <p:blipFill>
          <a:blip r:embed="rId284"/>
          <a:stretch>
            <a:fillRect/>
          </a:stretch>
        </p:blipFill>
        <p:spPr>
          <a:xfrm>
            <a:off x="0" y="127000"/>
            <a:ext cx="23749000" cy="16548100"/>
          </a:xfrm>
          <a:prstGeom prst="rect">
            <a:avLst/>
          </a:prstGeom>
        </p:spPr>
      </p:pic>
      <p:sp>
        <p:nvSpPr>
          <p:cNvPr name="TextBox 284" id="28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WARRANTIES, INCLUDING, BUT NOT LIMITED TO, THE IMPLIED WARRANTIES OF</a:t>
            </a:r>
          </a:p>
          <a:p>
            <a:r>
              <a:rPr lang="en-US" sz="3700">
                <a:solidFill>
                  <a:srgbClr val="252525"/>
                </a:solidFill>
              </a:rPr>
              <a:t>MERCHANTABILITY AND FITNESS FOR A PARTICULAR PURPOSE ARE DISCLAIMED. IN NO EVENT</a:t>
            </a:r>
          </a:p>
          <a:p>
            <a:r>
              <a:rPr lang="en-US" sz="3700">
                <a:solidFill>
                  <a:srgbClr val="252525"/>
                </a:solidFill>
              </a:rPr>
              <a:t>SHALL THE AUTHOR BE LIABLE FOR ANY DIRECT, INDIRECT, INCIDENTAL, SPECIAL,</a:t>
            </a:r>
          </a:p>
          <a:p>
            <a:r>
              <a:rPr lang="en-US" sz="3700">
                <a:solidFill>
                  <a:srgbClr val="252525"/>
                </a:solidFill>
              </a:rPr>
              <a:t>EXEMPLARY, OR CONSEQUENTIAL DAMAGES (INCLUDING, BUT NOT LIMITED TO, PROCUREMENT</a:t>
            </a:r>
          </a:p>
          <a:p>
            <a:r>
              <a:rPr lang="en-US" sz="3700">
                <a:solidFill>
                  <a:srgbClr val="252525"/>
                </a:solidFill>
              </a:rPr>
              <a:t>OF SUBSTITUTE GOODS OR SERVICES; LOSS OF USE, DATA, OR PROFITS; OR BUSINESS</a:t>
            </a:r>
          </a:p>
          <a:p>
            <a:r>
              <a:rPr lang="en-US" sz="3700">
                <a:solidFill>
                  <a:srgbClr val="252525"/>
                </a:solidFill>
              </a:rPr>
              <a:t>INTERRUPTION) HOWEVER CAUSED AND ON ANY THEORY OF LIABILITY, WHETHER IN CONTRACT,</a:t>
            </a:r>
          </a:p>
          <a:p>
            <a:r>
              <a:rPr lang="en-US" sz="3700">
                <a:solidFill>
                  <a:srgbClr val="252525"/>
                </a:solidFill>
              </a:rPr>
              <a:t>STRICT LIABILITY, OR TORT (INCLUDING NEGLIGENCE OR OTHERWISE) ARISING IN ANY WAY</a:t>
            </a:r>
          </a:p>
          <a:p>
            <a:r>
              <a:rPr lang="en-US" sz="3700">
                <a:solidFill>
                  <a:srgbClr val="252525"/>
                </a:solidFill>
              </a:rPr>
              <a:t>OUT OF THE USE OF THIS SOFTWARE, </a:t>
            </a:r>
          </a:p>
        </p:txBody>
      </p:sp>
    </p:spTree>
  </p:cSld>
  <p:clrMapOvr>
    <a:masterClrMapping/>
  </p:clrMapOvr>
</p:sld>
</file>

<file path=ppt/slides/slide1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6" id="286"/>
          <p:cNvPicPr>
            <a:picLocks noChangeAspect="true"/>
          </p:cNvPicPr>
          <p:nvPr/>
        </p:nvPicPr>
        <p:blipFill>
          <a:blip r:embed="rId286"/>
          <a:stretch>
            <a:fillRect/>
          </a:stretch>
        </p:blipFill>
        <p:spPr>
          <a:xfrm>
            <a:off x="0" y="127000"/>
            <a:ext cx="23749000" cy="16548100"/>
          </a:xfrm>
          <a:prstGeom prst="rect">
            <a:avLst/>
          </a:prstGeom>
        </p:spPr>
      </p:pic>
      <p:sp>
        <p:nvSpPr>
          <p:cNvPr name="TextBox 286" id="28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EVEN IF ADVISED OF THE POSSIBILITY OF SUCH</a:t>
            </a:r>
          </a:p>
          <a:p>
            <a:r>
              <a:rPr lang="en-US" sz="3700">
                <a:solidFill>
                  <a:srgbClr val="252525"/>
                </a:solidFill>
              </a:rPr>
              <a:t>DAMAGE.</a:t>
            </a:r>
          </a:p>
          <a:p>
            <a:r>
              <a:rPr lang="en-US" sz="5000"/>
              <a:t>  </a:t>
            </a:r>
          </a:p>
          <a:p>
            <a:r>
              <a:rPr lang="en-US" sz="3700">
                <a:solidFill>
                  <a:srgbClr val="252525"/>
                </a:solidFill>
              </a:rPr>
              <a:t>---</a:t>
            </a:r>
          </a:p>
          <a:p>
            <a:r>
              <a:rPr lang="en-US" sz="5000"/>
              <a:t>  </a:t>
            </a:r>
          </a:p>
          <a:p>
            <a:r>
              <a:rPr lang="en-US" sz="3700">
                <a:solidFill>
                  <a:srgbClr val="252525"/>
                </a:solidFill>
              </a:rPr>
              <a:t>BSD 2-clause "Simplified" License</a:t>
            </a:r>
          </a:p>
          <a:p>
            <a:r>
              <a:rPr lang="en-US" sz="3700">
                <a:solidFill>
                  <a:srgbClr val="252525"/>
                </a:solidFill>
              </a:rPr>
              <a:t>(dominictarr/rc 1.2.8)</a:t>
            </a:r>
          </a:p>
          <a:p>
            <a:r>
              <a:rPr lang="en-US" sz="5000"/>
              <a:t>  </a:t>
            </a:r>
          </a:p>
          <a:p>
            <a:r>
              <a:rPr lang="en-US" sz="3700">
                <a:solidFill>
                  <a:srgbClr val="252525"/>
                </a:solidFill>
              </a:rPr>
              <a:t>Copyright (c) 2013, Dominic Tarr</a:t>
            </a:r>
          </a:p>
          <a:p>
            <a:r>
              <a:rPr lang="en-US" sz="3700">
                <a:solidFill>
                  <a:srgbClr val="252525"/>
                </a:solidFill>
              </a:rPr>
              <a:t>All rights reserved.</a:t>
            </a:r>
          </a:p>
          <a:p>
            <a:r>
              <a:rPr lang="en-US" sz="5000"/>
              <a:t>  </a:t>
            </a:r>
          </a:p>
          <a:p>
            <a:r>
              <a:rPr lang="en-US" sz="3700">
                <a:solidFill>
                  <a:srgbClr val="252525"/>
                </a:solidFill>
              </a:rPr>
              <a:t>Redistribution and use in source and binary forms, with or without</a:t>
            </a:r>
          </a:p>
          <a:p>
            <a:r>
              <a:rPr lang="en-US" sz="3700">
                <a:solidFill>
                  <a:srgbClr val="252525"/>
                </a:solidFill>
              </a:rPr>
              <a:t>modification, are permitted provided that the following conditions are met: </a:t>
            </a:r>
          </a:p>
          <a:p>
            <a:r>
              <a:rPr lang="en-US" sz="5000"/>
              <a:t>  </a:t>
            </a:r>
          </a:p>
          <a:p>
            <a:r>
              <a:rPr lang="en-US" sz="3700">
                <a:solidFill>
                  <a:srgbClr val="252525"/>
                </a:solidFill>
              </a:rPr>
              <a:t>1. Redistributions of source code must retain the above copyright notice, this</a:t>
            </a:r>
          </a:p>
          <a:p>
            <a:r>
              <a:rPr lang="en-US" sz="3700">
                <a:solidFill>
                  <a:srgbClr val="252525"/>
                </a:solidFill>
              </a:rPr>
              <a:t>   list of conditions and the following disclaimer. </a:t>
            </a:r>
          </a:p>
        </p:txBody>
      </p:sp>
    </p:spTree>
  </p:cSld>
  <p:clrMapOvr>
    <a:masterClrMapping/>
  </p:clrMapOvr>
</p:sld>
</file>

<file path=ppt/slides/slide1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8" id="288"/>
          <p:cNvPicPr>
            <a:picLocks noChangeAspect="true"/>
          </p:cNvPicPr>
          <p:nvPr/>
        </p:nvPicPr>
        <p:blipFill>
          <a:blip r:embed="rId288"/>
          <a:stretch>
            <a:fillRect/>
          </a:stretch>
        </p:blipFill>
        <p:spPr>
          <a:xfrm>
            <a:off x="0" y="127000"/>
            <a:ext cx="23749000" cy="16548100"/>
          </a:xfrm>
          <a:prstGeom prst="rect">
            <a:avLst/>
          </a:prstGeom>
        </p:spPr>
      </p:pic>
      <p:sp>
        <p:nvSpPr>
          <p:cNvPr name="TextBox 288" id="28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2. Redistributions in binary form must reproduce the above copyright notice,</a:t>
            </a:r>
          </a:p>
          <a:p>
            <a:r>
              <a:rPr lang="en-US" sz="3700">
                <a:solidFill>
                  <a:srgbClr val="252525"/>
                </a:solidFill>
              </a:rPr>
              <a:t>   this list of conditions and the following disclaimer in the documentation</a:t>
            </a:r>
          </a:p>
          <a:p>
            <a:r>
              <a:rPr lang="en-US" sz="3700">
                <a:solidFill>
                  <a:srgbClr val="252525"/>
                </a:solidFill>
              </a:rPr>
              <a:t>   and/or other materials provided with the distribution. </a:t>
            </a:r>
          </a:p>
          <a:p>
            <a:r>
              <a:rPr lang="en-US" sz="5000"/>
              <a:t>  </a:t>
            </a:r>
          </a:p>
          <a:p>
            <a:r>
              <a:rPr lang="en-US" sz="3700">
                <a:solidFill>
                  <a:srgbClr val="252525"/>
                </a:solidFill>
              </a:rPr>
              <a:t>THIS SOFTWARE IS PROVIDED BY THE COPYRIGHT HOLDERS AND CONTRIBUTORS "AS IS" AND</a:t>
            </a:r>
          </a:p>
          <a:p>
            <a:r>
              <a:rPr lang="en-US" sz="3700">
                <a:solidFill>
                  <a:srgbClr val="252525"/>
                </a:solidFill>
              </a:rPr>
              <a:t>ANY EXPRESS OR IMPLIED WARRANTIES, INCLUDING, BUT NOT LIMITED TO, THE IMPLIED</a:t>
            </a:r>
          </a:p>
          <a:p>
            <a:r>
              <a:rPr lang="en-US" sz="3700">
                <a:solidFill>
                  <a:srgbClr val="252525"/>
                </a:solidFill>
              </a:rPr>
              <a:t>WARRANTIES OF MERCHANTABILITY AND FITNESS FOR A PARTICULAR PURPOSE ARE</a:t>
            </a:r>
          </a:p>
          <a:p>
            <a:r>
              <a:rPr lang="en-US" sz="3700">
                <a:solidFill>
                  <a:srgbClr val="252525"/>
                </a:solidFill>
              </a:rPr>
              <a:t>DISCLAIMED. IN NO EVENT SHALL THE COPYRIGHT OWNER OR CONTRIBUTORS BE LIABLE FOR</a:t>
            </a:r>
          </a:p>
          <a:p>
            <a:r>
              <a:rPr lang="en-US" sz="3700">
                <a:solidFill>
                  <a:srgbClr val="252525"/>
                </a:solidFill>
              </a:rPr>
              <a:t>ANY DIRECT, INDIRECT, INCIDENTAL, SPECIAL, EXEMPLARY, OR </a:t>
            </a:r>
          </a:p>
        </p:txBody>
      </p:sp>
    </p:spTree>
  </p:cSld>
  <p:clrMapOvr>
    <a:masterClrMapping/>
  </p:clrMapOvr>
</p:sld>
</file>

<file path=ppt/slides/slide1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90" id="290"/>
          <p:cNvPicPr>
            <a:picLocks noChangeAspect="true"/>
          </p:cNvPicPr>
          <p:nvPr/>
        </p:nvPicPr>
        <p:blipFill>
          <a:blip r:embed="rId290"/>
          <a:stretch>
            <a:fillRect/>
          </a:stretch>
        </p:blipFill>
        <p:spPr>
          <a:xfrm>
            <a:off x="0" y="127000"/>
            <a:ext cx="23749000" cy="16548100"/>
          </a:xfrm>
          <a:prstGeom prst="rect">
            <a:avLst/>
          </a:prstGeom>
        </p:spPr>
      </p:pic>
      <p:sp>
        <p:nvSpPr>
          <p:cNvPr name="TextBox 290" id="29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CONSEQUENTIAL DAMAGES</a:t>
            </a:r>
          </a:p>
          <a:p>
            <a:r>
              <a:rPr lang="en-US" sz="3700">
                <a:solidFill>
                  <a:srgbClr val="252525"/>
                </a:solidFill>
              </a:rPr>
              <a:t>(INCLUDING, BUT NOT LIMITED TO, PROCUREMENT OF SUBSTITUTE GOODS OR SERVICES;</a:t>
            </a:r>
          </a:p>
          <a:p>
            <a:r>
              <a:rPr lang="en-US" sz="3700">
                <a:solidFill>
                  <a:srgbClr val="252525"/>
                </a:solidFill>
              </a:rPr>
              <a:t>LOSS OF USE, DATA, OR PROFITS; OR BUSINESS INTERRUPTION) HOWEVER CAUSED AND</a:t>
            </a:r>
          </a:p>
          <a:p>
            <a:r>
              <a:rPr lang="en-US" sz="3700">
                <a:solidFill>
                  <a:srgbClr val="252525"/>
                </a:solidFill>
              </a:rPr>
              <a:t>ON ANY THEORY OF LIABILITY, WHETHER IN CONTRACT, STRICT LIABILITY, OR TORT</a:t>
            </a:r>
          </a:p>
          <a:p>
            <a:r>
              <a:rPr lang="en-US" sz="3700">
                <a:solidFill>
                  <a:srgbClr val="252525"/>
                </a:solidFill>
              </a:rPr>
              <a:t>(INCLUDING NEGLIGENCE OR OTHERWISE) ARISING IN ANY WAY OUT OF THE USE OF THIS</a:t>
            </a:r>
          </a:p>
          <a:p>
            <a:r>
              <a:rPr lang="en-US" sz="3700">
                <a:solidFill>
                  <a:srgbClr val="252525"/>
                </a:solidFill>
              </a:rPr>
              <a:t>SOFTWARE, EVEN IF ADVISED OF THE POSSIBILITY OF SUCH DAMAGE</a:t>
            </a:r>
          </a:p>
          <a:p>
            <a:r>
              <a:rPr lang="en-US" sz="5000"/>
              <a:t>  </a:t>
            </a:r>
          </a:p>
          <a:p>
            <a:r>
              <a:rPr lang="en-US" sz="3700">
                <a:solidFill>
                  <a:srgbClr val="252525"/>
                </a:solidFill>
              </a:rPr>
              <a:t>---</a:t>
            </a:r>
          </a:p>
          <a:p>
            <a:r>
              <a:rPr lang="en-US" sz="5000"/>
              <a:t>  </a:t>
            </a:r>
          </a:p>
          <a:p>
            <a:r>
              <a:rPr lang="en-US" sz="3700">
                <a:solidFill>
                  <a:srgbClr val="252525"/>
                </a:solidFill>
              </a:rPr>
              <a:t>BSD 2-clause "Simplified" License</a:t>
            </a:r>
          </a:p>
          <a:p>
            <a:r>
              <a:rPr lang="en-US" sz="3700">
                <a:solidFill>
                  <a:srgbClr val="252525"/>
                </a:solidFill>
              </a:rPr>
              <a:t>(esrecurse 4.2.1)</a:t>
            </a:r>
          </a:p>
          <a:p>
            <a:r>
              <a:rPr lang="en-US" sz="5000"/>
              <a:t>  </a:t>
            </a:r>
          </a:p>
          <a:p>
            <a:r>
              <a:rPr lang="en-US" sz="3700">
                <a:solidFill>
                  <a:srgbClr val="252525"/>
                </a:solidFill>
              </a:rPr>
              <a:t>Copyright (C) 2014 [Yusuke Suzuki]</a:t>
            </a:r>
          </a:p>
        </p:txBody>
      </p:sp>
    </p:spTree>
  </p:cSld>
  <p:clrMapOvr>
    <a:masterClrMapping/>
  </p:clrMapOvr>
</p:sld>
</file>

<file path=ppt/slides/slide1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92" id="292"/>
          <p:cNvPicPr>
            <a:picLocks noChangeAspect="true"/>
          </p:cNvPicPr>
          <p:nvPr/>
        </p:nvPicPr>
        <p:blipFill>
          <a:blip r:embed="rId292"/>
          <a:stretch>
            <a:fillRect/>
          </a:stretch>
        </p:blipFill>
        <p:spPr>
          <a:xfrm>
            <a:off x="0" y="127000"/>
            <a:ext cx="23749000" cy="16548100"/>
          </a:xfrm>
          <a:prstGeom prst="rect">
            <a:avLst/>
          </a:prstGeom>
        </p:spPr>
      </p:pic>
      <p:sp>
        <p:nvSpPr>
          <p:cNvPr name="TextBox 292" id="29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t>
            </a:r>
            <a:r>
              <a:rPr lang="en-US" sz="3700">
                <a:solidFill>
                  <a:srgbClr val="252525"/>
                </a:solidFill>
              </a:rPr>
              <a:t>)</a:t>
            </a:r>
          </a:p>
          <a:p>
            <a:r>
              <a:rPr lang="en-US" sz="3700">
                <a:solidFill>
                  <a:srgbClr val="252525"/>
                </a:solidFill>
              </a:rPr>
              <a:t> (twitter: [@Constellation](</a:t>
            </a:r>
            <a:r>
              <a:rPr lang="en-US" sz="3700">
                <a:solidFill>
                  <a:srgbClr val="252525"/>
                </a:solidFill>
              </a:rPr>
              <a:t>)) and other contributors.</a:t>
            </a:r>
          </a:p>
          <a:p>
            <a:r>
              <a:rPr lang="en-US" sz="5000"/>
              <a:t>  </a:t>
            </a:r>
          </a:p>
          <a:p>
            <a:r>
              <a:rPr lang="en-US" sz="3700">
                <a:solidFill>
                  <a:srgbClr val="252525"/>
                </a:solidFill>
              </a:rPr>
              <a:t>Redistribution and use in source and binary forms, with or without</a:t>
            </a:r>
          </a:p>
          <a:p>
            <a:r>
              <a:rPr lang="en-US" sz="3700">
                <a:solidFill>
                  <a:srgbClr val="252525"/>
                </a:solidFill>
              </a:rPr>
              <a:t>modification, are permitted provided that the following conditions are met:</a:t>
            </a:r>
          </a:p>
          <a:p>
            <a:r>
              <a:rPr lang="en-US" sz="5000"/>
              <a:t>  </a:t>
            </a:r>
          </a:p>
          <a:p>
            <a:r>
              <a:rPr lang="en-US" sz="3700">
                <a:solidFill>
                  <a:srgbClr val="252525"/>
                </a:solidFill>
              </a:rPr>
              <a:t>  * Redistributions of source code must retain the above copyright</a:t>
            </a:r>
          </a:p>
          <a:p>
            <a:r>
              <a:rPr lang="en-US" sz="3700">
                <a:solidFill>
                  <a:srgbClr val="252525"/>
                </a:solidFill>
              </a:rPr>
              <a:t>    notice, this list of conditions and the following disclaimer.</a:t>
            </a:r>
          </a:p>
        </p:txBody>
      </p:sp>
      <p:pic>
        <p:nvPicPr>
          <p:cNvPr name="Picture 294" id="294">
            <a:hlinkClick r:id="rId295"/>
          </p:cNvPr>
          <p:cNvPicPr>
            <a:picLocks noChangeAspect="true"/>
          </p:cNvPicPr>
          <p:nvPr/>
        </p:nvPicPr>
        <p:blipFill>
          <a:blip r:embed="rId294"/>
          <a:stretch>
            <a:fillRect/>
          </a:stretch>
        </p:blipFill>
        <p:spPr>
          <a:xfrm>
            <a:off x="6451600" y="317500"/>
            <a:ext cx="10820400" cy="1714500"/>
          </a:xfrm>
          <a:prstGeom prst="rect">
            <a:avLst/>
          </a:prstGeom>
        </p:spPr>
      </p:pic>
      <p:pic>
        <p:nvPicPr>
          <p:cNvPr name="Picture 296" id="296">
            <a:hlinkClick r:id="rId297"/>
          </p:cNvPr>
          <p:cNvPicPr>
            <a:picLocks noChangeAspect="true"/>
          </p:cNvPicPr>
          <p:nvPr/>
        </p:nvPicPr>
        <p:blipFill>
          <a:blip r:embed="rId296"/>
          <a:stretch>
            <a:fillRect/>
          </a:stretch>
        </p:blipFill>
        <p:spPr>
          <a:xfrm>
            <a:off x="6451600" y="4508500"/>
            <a:ext cx="10820400" cy="1714500"/>
          </a:xfrm>
          <a:prstGeom prst="rect">
            <a:avLst/>
          </a:prstGeom>
        </p:spPr>
      </p:pic>
    </p:spTree>
  </p:cSld>
  <p:clrMapOvr>
    <a:masterClrMapping/>
  </p:clrMapOvr>
</p:sld>
</file>

<file path=ppt/slides/slide1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98" id="298"/>
          <p:cNvPicPr>
            <a:picLocks noChangeAspect="true"/>
          </p:cNvPicPr>
          <p:nvPr/>
        </p:nvPicPr>
        <p:blipFill>
          <a:blip r:embed="rId298"/>
          <a:stretch>
            <a:fillRect/>
          </a:stretch>
        </p:blipFill>
        <p:spPr>
          <a:xfrm>
            <a:off x="0" y="127000"/>
            <a:ext cx="23749000" cy="16548100"/>
          </a:xfrm>
          <a:prstGeom prst="rect">
            <a:avLst/>
          </a:prstGeom>
        </p:spPr>
      </p:pic>
      <p:sp>
        <p:nvSpPr>
          <p:cNvPr name="TextBox 298" id="29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 Redistributions in binary form must reproduce the above copyright</a:t>
            </a:r>
          </a:p>
          <a:p>
            <a:r>
              <a:rPr lang="en-US" sz="3700">
                <a:solidFill>
                  <a:srgbClr val="252525"/>
                </a:solidFill>
              </a:rPr>
              <a:t>    notice, this list of conditions and the following disclaimer in the</a:t>
            </a:r>
          </a:p>
          <a:p>
            <a:r>
              <a:rPr lang="en-US" sz="3700">
                <a:solidFill>
                  <a:srgbClr val="252525"/>
                </a:solidFill>
              </a:rPr>
              <a:t>    documentation and/or other materials provided with the distribution.</a:t>
            </a:r>
          </a:p>
          <a:p>
            <a:r>
              <a:rPr lang="en-US" sz="5000"/>
              <a:t>  </a:t>
            </a:r>
          </a:p>
          <a:p>
            <a:r>
              <a:rPr lang="en-US" sz="3700">
                <a:solidFill>
                  <a:srgbClr val="252525"/>
                </a:solidFill>
              </a:rPr>
              <a:t>THIS SOFTWARE IS PROVIDED BY THE COPYRIGHT HOLDERS AND CONTRIBUTORS "AS IS"</a:t>
            </a:r>
          </a:p>
          <a:p>
            <a:r>
              <a:rPr lang="en-US" sz="3700">
                <a:solidFill>
                  <a:srgbClr val="252525"/>
                </a:solidFill>
              </a:rPr>
              <a:t>AND ANY EXPRESS OR IMPLIED WARRANTIES, INCLUDING, BUT NOT LIMITED TO, THE</a:t>
            </a:r>
          </a:p>
          <a:p>
            <a:r>
              <a:rPr lang="en-US" sz="3700">
                <a:solidFill>
                  <a:srgbClr val="252525"/>
                </a:solidFill>
              </a:rPr>
              <a:t>IMPLIED WARRANTIES OF MERCHANTABILITY AND FITNESS FOR A PARTICULAR PURPOSE</a:t>
            </a:r>
          </a:p>
          <a:p>
            <a:r>
              <a:rPr lang="en-US" sz="3700">
                <a:solidFill>
                  <a:srgbClr val="252525"/>
                </a:solidFill>
              </a:rPr>
              <a:t>ARE DISCLAIMED. IN NO EVENT SHALL &lt;COPYRIGHT HOLDER&gt; BE LIABLE FOR ANY</a:t>
            </a:r>
          </a:p>
          <a:p>
            <a:r>
              <a:rPr lang="en-US" sz="3700">
                <a:solidFill>
                  <a:srgbClr val="252525"/>
                </a:solidFill>
              </a:rPr>
              <a:t>DIRECT, INDIRECT, INCIDENTAL, SPECIAL, EXEMPLARY, OR CONSEQUENTIAL </a:t>
            </a:r>
          </a:p>
        </p:txBody>
      </p:sp>
    </p:spTree>
  </p:cSld>
  <p:clrMapOvr>
    <a:masterClrMapping/>
  </p:clrMapOvr>
</p:sld>
</file>

<file path=ppt/slides/slide1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0" id="300"/>
          <p:cNvPicPr>
            <a:picLocks noChangeAspect="true"/>
          </p:cNvPicPr>
          <p:nvPr/>
        </p:nvPicPr>
        <p:blipFill>
          <a:blip r:embed="rId300"/>
          <a:stretch>
            <a:fillRect/>
          </a:stretch>
        </p:blipFill>
        <p:spPr>
          <a:xfrm>
            <a:off x="0" y="127000"/>
            <a:ext cx="23749000" cy="16548100"/>
          </a:xfrm>
          <a:prstGeom prst="rect">
            <a:avLst/>
          </a:prstGeom>
        </p:spPr>
      </p:pic>
      <p:sp>
        <p:nvSpPr>
          <p:cNvPr name="TextBox 300" id="30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DAMAGES</a:t>
            </a:r>
          </a:p>
          <a:p>
            <a:r>
              <a:rPr lang="en-US" sz="3700">
                <a:solidFill>
                  <a:srgbClr val="252525"/>
                </a:solidFill>
              </a:rPr>
              <a:t>(INCLUDING, BUT NOT LIMITED TO, PROCUREMENT OF SUBSTITUTE GOODS OR SERVICES;</a:t>
            </a:r>
          </a:p>
          <a:p>
            <a:r>
              <a:rPr lang="en-US" sz="3700">
                <a:solidFill>
                  <a:srgbClr val="252525"/>
                </a:solidFill>
              </a:rPr>
              <a:t>LOSS OF USE, DATA, OR PROFITS; OR BUSINESS INTERRUPTION) HOWEVER CAUSED AND</a:t>
            </a:r>
          </a:p>
          <a:p>
            <a:r>
              <a:rPr lang="en-US" sz="3700">
                <a:solidFill>
                  <a:srgbClr val="252525"/>
                </a:solidFill>
              </a:rPr>
              <a:t>ON ANY THEORY OF LIABILITY, WHETHER IN CONTRACT, STRICT LIABILITY, OR TORT</a:t>
            </a:r>
          </a:p>
          <a:p>
            <a:r>
              <a:rPr lang="en-US" sz="3700">
                <a:solidFill>
                  <a:srgbClr val="252525"/>
                </a:solidFill>
              </a:rPr>
              <a:t>(INCLUDING NEGLIGENCE OR OTHERWISE) ARISING IN ANY WAY OUT OF THE USE OF</a:t>
            </a:r>
          </a:p>
          <a:p>
            <a:r>
              <a:rPr lang="en-US" sz="3700">
                <a:solidFill>
                  <a:srgbClr val="252525"/>
                </a:solidFill>
              </a:rPr>
              <a:t>THIS SOFTWARE, EVEN IF ADVISED OF THE POSSIBILITY OF SUCH DAMAGE</a:t>
            </a:r>
          </a:p>
          <a:p>
            <a:r>
              <a:rPr lang="en-US" sz="5000"/>
              <a:t>  </a:t>
            </a:r>
          </a:p>
          <a:p>
            <a:r>
              <a:rPr lang="en-US" sz="3700">
                <a:solidFill>
                  <a:srgbClr val="252525"/>
                </a:solidFill>
              </a:rPr>
              <a:t>---</a:t>
            </a:r>
          </a:p>
          <a:p>
            <a:r>
              <a:rPr lang="en-US" sz="5000"/>
              <a:t>  </a:t>
            </a:r>
          </a:p>
          <a:p>
            <a:r>
              <a:rPr lang="en-US" sz="3700">
                <a:solidFill>
                  <a:srgbClr val="252525"/>
                </a:solidFill>
              </a:rPr>
              <a:t>BSD 2-clause "Simplified" License</a:t>
            </a:r>
          </a:p>
          <a:p>
            <a:r>
              <a:rPr lang="en-US" sz="3700">
                <a:solidFill>
                  <a:srgbClr val="252525"/>
                </a:solidFill>
              </a:rPr>
              <a:t>(scottmotte/dotenv 8.2.0)</a:t>
            </a:r>
          </a:p>
          <a:p>
            <a:r>
              <a:rPr lang="en-US" sz="5000"/>
              <a:t>  </a:t>
            </a:r>
          </a:p>
          <a:p>
            <a:r>
              <a:rPr lang="en-US" sz="3700">
                <a:solidFill>
                  <a:srgbClr val="252525"/>
                </a:solidFill>
              </a:rPr>
              <a:t>Copyright (c) 2015, Scott Motte</a:t>
            </a:r>
          </a:p>
        </p:txBody>
      </p:sp>
    </p:spTree>
  </p:cSld>
  <p:clrMapOvr>
    <a:masterClrMapping/>
  </p:clrMapOvr>
</p:sld>
</file>

<file path=ppt/slides/slide1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2" id="302"/>
          <p:cNvPicPr>
            <a:picLocks noChangeAspect="true"/>
          </p:cNvPicPr>
          <p:nvPr/>
        </p:nvPicPr>
        <p:blipFill>
          <a:blip r:embed="rId302"/>
          <a:stretch>
            <a:fillRect/>
          </a:stretch>
        </p:blipFill>
        <p:spPr>
          <a:xfrm>
            <a:off x="0" y="127000"/>
            <a:ext cx="23749000" cy="16548100"/>
          </a:xfrm>
          <a:prstGeom prst="rect">
            <a:avLst/>
          </a:prstGeom>
        </p:spPr>
      </p:pic>
      <p:sp>
        <p:nvSpPr>
          <p:cNvPr name="TextBox 302" id="30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All rights reserved.</a:t>
            </a:r>
          </a:p>
          <a:p>
            <a:r>
              <a:rPr lang="en-US" sz="5000"/>
              <a:t>  </a:t>
            </a:r>
          </a:p>
          <a:p>
            <a:r>
              <a:rPr lang="en-US" sz="3700">
                <a:solidFill>
                  <a:srgbClr val="252525"/>
                </a:solidFill>
              </a:rPr>
              <a:t>Redistribution and use in source and binary forms, with or without</a:t>
            </a:r>
          </a:p>
          <a:p>
            <a:r>
              <a:rPr lang="en-US" sz="3700">
                <a:solidFill>
                  <a:srgbClr val="252525"/>
                </a:solidFill>
              </a:rPr>
              <a:t>modification, are permitted provided that the following conditions are met:</a:t>
            </a:r>
          </a:p>
          <a:p>
            <a:r>
              <a:rPr lang="en-US" sz="5000"/>
              <a:t>  </a:t>
            </a:r>
          </a:p>
          <a:p>
            <a:r>
              <a:rPr lang="en-US" sz="3700">
                <a:solidFill>
                  <a:srgbClr val="252525"/>
                </a:solidFill>
              </a:rPr>
              <a:t>* Redistributions of source code must retain the above copyright notice, this</a:t>
            </a:r>
          </a:p>
          <a:p>
            <a:r>
              <a:rPr lang="en-US" sz="3700">
                <a:solidFill>
                  <a:srgbClr val="252525"/>
                </a:solidFill>
              </a:rPr>
              <a:t>  list of conditions and the following disclaimer.</a:t>
            </a:r>
          </a:p>
          <a:p>
            <a:r>
              <a:rPr lang="en-US" sz="5000"/>
              <a:t>  </a:t>
            </a:r>
          </a:p>
          <a:p>
            <a:r>
              <a:rPr lang="en-US" sz="3700">
                <a:solidFill>
                  <a:srgbClr val="252525"/>
                </a:solidFill>
              </a:rPr>
              <a:t>* Redistributions in binary form must reproduce the above copyright notice,</a:t>
            </a:r>
          </a:p>
          <a:p>
            <a:r>
              <a:rPr lang="en-US" sz="3700">
                <a:solidFill>
                  <a:srgbClr val="252525"/>
                </a:solidFill>
              </a:rPr>
              <a:t>  this list of conditions and the following disclaimer in the documentation</a:t>
            </a:r>
          </a:p>
          <a:p>
            <a:r>
              <a:rPr lang="en-US" sz="3700">
                <a:solidFill>
                  <a:srgbClr val="252525"/>
                </a:solidFill>
              </a:rPr>
              <a:t>  and/or other materials provided with the distribution.</a:t>
            </a:r>
          </a:p>
          <a:p>
            <a:r>
              <a:rPr lang="en-US" sz="5000"/>
              <a:t>  </a:t>
            </a:r>
          </a:p>
          <a:p>
            <a:r>
              <a:rPr lang="en-US" sz="3700">
                <a:solidFill>
                  <a:srgbClr val="252525"/>
                </a:solidFill>
              </a:rPr>
              <a:t>THIS SOFTWARE IS PROVIDED BY THE COPYRIGHT HOLDERS AND </a:t>
            </a:r>
          </a:p>
        </p:txBody>
      </p:sp>
    </p:spTree>
  </p:cSld>
  <p:clrMapOvr>
    <a:masterClrMapping/>
  </p:clrMapOvr>
</p:sld>
</file>

<file path=ppt/slides/slide1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4" id="304"/>
          <p:cNvPicPr>
            <a:picLocks noChangeAspect="true"/>
          </p:cNvPicPr>
          <p:nvPr/>
        </p:nvPicPr>
        <p:blipFill>
          <a:blip r:embed="rId304"/>
          <a:stretch>
            <a:fillRect/>
          </a:stretch>
        </p:blipFill>
        <p:spPr>
          <a:xfrm>
            <a:off x="0" y="127000"/>
            <a:ext cx="23749000" cy="16548100"/>
          </a:xfrm>
          <a:prstGeom prst="rect">
            <a:avLst/>
          </a:prstGeom>
        </p:spPr>
      </p:pic>
      <p:sp>
        <p:nvSpPr>
          <p:cNvPr name="TextBox 304" id="30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CONTRIBUTORS "AS IS"</a:t>
            </a:r>
          </a:p>
          <a:p>
            <a:r>
              <a:rPr lang="en-US" sz="3700">
                <a:solidFill>
                  <a:srgbClr val="252525"/>
                </a:solidFill>
              </a:rPr>
              <a:t>AND ANY EXPRESS OR IMPLIED WARRANTIES, INCLUDING, BUT NOT LIMITED TO, THE</a:t>
            </a:r>
          </a:p>
          <a:p>
            <a:r>
              <a:rPr lang="en-US" sz="3700">
                <a:solidFill>
                  <a:srgbClr val="252525"/>
                </a:solidFill>
              </a:rPr>
              <a:t>IMPLIED WARRANTIES OF MERCHANTABILITY AND FITNESS FOR A PARTICULAR PURPOSE ARE</a:t>
            </a:r>
          </a:p>
          <a:p>
            <a:r>
              <a:rPr lang="en-US" sz="3700">
                <a:solidFill>
                  <a:srgbClr val="252525"/>
                </a:solidFill>
              </a:rPr>
              <a:t>DISCLAIMED. IN NO EVENT SHALL THE COPYRIGHT HOLDER OR CONTRIBUTORS BE LIABLE</a:t>
            </a:r>
          </a:p>
          <a:p>
            <a:r>
              <a:rPr lang="en-US" sz="3700">
                <a:solidFill>
                  <a:srgbClr val="252525"/>
                </a:solidFill>
              </a:rPr>
              <a:t>FOR ANY DIRECT, INDIRECT, INCIDENTAL, SPECIAL, EXEMPLARY, OR CONSEQUENTIAL</a:t>
            </a:r>
          </a:p>
          <a:p>
            <a:r>
              <a:rPr lang="en-US" sz="3700">
                <a:solidFill>
                  <a:srgbClr val="252525"/>
                </a:solidFill>
              </a:rPr>
              <a:t>DAMAGES (INCLUDING, BUT NOT LIMITED TO, PROCUREMENT OF SUBSTITUTE GOODS OR</a:t>
            </a:r>
          </a:p>
          <a:p>
            <a:r>
              <a:rPr lang="en-US" sz="3700">
                <a:solidFill>
                  <a:srgbClr val="252525"/>
                </a:solidFill>
              </a:rPr>
              <a:t>SERVICES; LOSS OF USE, DATA, OR PROFITS; OR BUSINESS INTERRUPTION) HOWEVER</a:t>
            </a:r>
          </a:p>
          <a:p>
            <a:r>
              <a:rPr lang="en-US" sz="3700">
                <a:solidFill>
                  <a:srgbClr val="252525"/>
                </a:solidFill>
              </a:rPr>
              <a:t>CAUSED AND ON ANY THEORY OF LIABILITY, WHETHER IN CONTRACT, </a:t>
            </a:r>
          </a:p>
        </p:txBody>
      </p:sp>
    </p:spTree>
  </p:cSld>
  <p:clrMapOvr>
    <a:masterClrMapping/>
  </p:clrMapOvr>
</p:sld>
</file>

<file path=ppt/slides/slide1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6" id="306"/>
          <p:cNvPicPr>
            <a:picLocks noChangeAspect="true"/>
          </p:cNvPicPr>
          <p:nvPr/>
        </p:nvPicPr>
        <p:blipFill>
          <a:blip r:embed="rId306"/>
          <a:stretch>
            <a:fillRect/>
          </a:stretch>
        </p:blipFill>
        <p:spPr>
          <a:xfrm>
            <a:off x="0" y="127000"/>
            <a:ext cx="23749000" cy="16548100"/>
          </a:xfrm>
          <a:prstGeom prst="rect">
            <a:avLst/>
          </a:prstGeom>
        </p:spPr>
      </p:pic>
      <p:sp>
        <p:nvSpPr>
          <p:cNvPr name="TextBox 306" id="30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STRICT LIABILITY,</a:t>
            </a:r>
          </a:p>
          <a:p>
            <a:r>
              <a:rPr lang="en-US" sz="3700">
                <a:solidFill>
                  <a:srgbClr val="252525"/>
                </a:solidFill>
              </a:rPr>
              <a:t>OR TORT (INCLUDING NEGLIGENCE OR OTHERWISE) ARISING IN ANY WAY OUT OF THE USE</a:t>
            </a:r>
          </a:p>
          <a:p>
            <a:r>
              <a:rPr lang="en-US" sz="3700">
                <a:solidFill>
                  <a:srgbClr val="252525"/>
                </a:solidFill>
              </a:rPr>
              <a:t>OF THIS SOFTWARE, EVEN IF ADVISED OF THE POSSIBILITY OF SUCH DAMAGE</a:t>
            </a:r>
          </a:p>
          <a:p>
            <a:r>
              <a:rPr lang="en-US" sz="5000"/>
              <a:t>  </a:t>
            </a:r>
          </a:p>
          <a:p>
            <a:r>
              <a:rPr lang="en-US" sz="3700">
                <a:solidFill>
                  <a:srgbClr val="252525"/>
                </a:solidFill>
              </a:rPr>
              <a:t>---</a:t>
            </a:r>
          </a:p>
          <a:p>
            <a:r>
              <a:rPr lang="en-US" sz="5000"/>
              <a:t>  </a:t>
            </a:r>
          </a:p>
          <a:p>
            <a:r>
              <a:rPr lang="en-US" sz="3700">
                <a:solidFill>
                  <a:srgbClr val="252525"/>
                </a:solidFill>
              </a:rPr>
              <a:t>BSD 2-clause "Simplified" License</a:t>
            </a:r>
          </a:p>
          <a:p>
            <a:r>
              <a:rPr lang="en-US" sz="3700">
                <a:solidFill>
                  <a:srgbClr val="252525"/>
                </a:solidFill>
              </a:rPr>
              <a:t>(silk 1.0.8)</a:t>
            </a:r>
          </a:p>
          <a:p>
            <a:r>
              <a:rPr lang="en-US" sz="5000"/>
              <a:t>  </a:t>
            </a:r>
          </a:p>
          <a:p>
            <a:r>
              <a:rPr lang="en-US" sz="3700">
                <a:solidFill>
                  <a:srgbClr val="252525"/>
                </a:solidFill>
              </a:rPr>
              <a:t>Copyright (c) 2016, Russell</a:t>
            </a:r>
          </a:p>
          <a:p>
            <a:r>
              <a:rPr lang="en-US" sz="3700">
                <a:solidFill>
                  <a:srgbClr val="252525"/>
                </a:solidFill>
              </a:rPr>
              <a:t>All rights reserved.</a:t>
            </a:r>
          </a:p>
          <a:p>
            <a:r>
              <a:rPr lang="en-US" sz="5000"/>
              <a:t>  </a:t>
            </a:r>
          </a:p>
          <a:p>
            <a:r>
              <a:rPr lang="en-US" sz="3700">
                <a:solidFill>
                  <a:srgbClr val="252525"/>
                </a:solidFill>
              </a:rPr>
              <a:t>Redistribution and use in source and binary forms, with or without</a:t>
            </a:r>
          </a:p>
          <a:p>
            <a:r>
              <a:rPr lang="en-US" sz="3700">
                <a:solidFill>
                  <a:srgbClr val="252525"/>
                </a:solidFill>
              </a:rPr>
              <a:t>modification, are permitted provided that the following conditions are met:</a:t>
            </a:r>
          </a:p>
          <a:p>
            <a:r>
              <a:rPr lang="en-US" sz="5000"/>
              <a:t>  </a:t>
            </a:r>
          </a:p>
          <a:p>
            <a:r>
              <a:rPr lang="en-US" sz="3700">
                <a:solidFill>
                  <a:srgbClr val="252525"/>
                </a:solidFill>
              </a:rPr>
              <a:t>* Redistributions of source code must </a:t>
            </a:r>
          </a:p>
        </p:txBody>
      </p:sp>
    </p:spTree>
  </p:cSld>
  <p:clrMapOvr>
    <a:masterClrMapping/>
  </p:clrMapOvr>
</p:sld>
</file>

<file path=ppt/slides/slide1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8" id="308"/>
          <p:cNvPicPr>
            <a:picLocks noChangeAspect="true"/>
          </p:cNvPicPr>
          <p:nvPr/>
        </p:nvPicPr>
        <p:blipFill>
          <a:blip r:embed="rId308"/>
          <a:stretch>
            <a:fillRect/>
          </a:stretch>
        </p:blipFill>
        <p:spPr>
          <a:xfrm>
            <a:off x="0" y="127000"/>
            <a:ext cx="23749000" cy="16548100"/>
          </a:xfrm>
          <a:prstGeom prst="rect">
            <a:avLst/>
          </a:prstGeom>
        </p:spPr>
      </p:pic>
      <p:sp>
        <p:nvSpPr>
          <p:cNvPr name="TextBox 308" id="30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retain the above copyright notice, this</a:t>
            </a:r>
          </a:p>
          <a:p>
            <a:r>
              <a:rPr lang="en-US" sz="3700">
                <a:solidFill>
                  <a:srgbClr val="252525"/>
                </a:solidFill>
              </a:rPr>
              <a:t>  list of conditions and the following disclaimer.</a:t>
            </a:r>
          </a:p>
          <a:p>
            <a:r>
              <a:rPr lang="en-US" sz="5000"/>
              <a:t>  </a:t>
            </a:r>
          </a:p>
          <a:p>
            <a:r>
              <a:rPr lang="en-US" sz="3700">
                <a:solidFill>
                  <a:srgbClr val="252525"/>
                </a:solidFill>
              </a:rPr>
              <a:t>* Redistributions in binary form must reproduce the above copyright notice,</a:t>
            </a:r>
          </a:p>
          <a:p>
            <a:r>
              <a:rPr lang="en-US" sz="3700">
                <a:solidFill>
                  <a:srgbClr val="252525"/>
                </a:solidFill>
              </a:rPr>
              <a:t>  this list of conditions and the following disclaimer in the documentation</a:t>
            </a:r>
          </a:p>
          <a:p>
            <a:r>
              <a:rPr lang="en-US" sz="3700">
                <a:solidFill>
                  <a:srgbClr val="252525"/>
                </a:solidFill>
              </a:rPr>
              <a:t>  and/or other materials provided with the distribution.</a:t>
            </a:r>
          </a:p>
          <a:p>
            <a:r>
              <a:rPr lang="en-US" sz="5000"/>
              <a:t>  </a:t>
            </a:r>
          </a:p>
          <a:p>
            <a:r>
              <a:rPr lang="en-US" sz="3700">
                <a:solidFill>
                  <a:srgbClr val="252525"/>
                </a:solidFill>
              </a:rPr>
              <a:t>THIS SOFTWARE IS PROVIDED BY THE COPYRIGHT HOLDERS AND CONTRIBUTORS "AS IS"</a:t>
            </a:r>
          </a:p>
          <a:p>
            <a:r>
              <a:rPr lang="en-US" sz="3700">
                <a:solidFill>
                  <a:srgbClr val="252525"/>
                </a:solidFill>
              </a:rPr>
              <a:t>AND ANY EXPRESS OR IMPLIED WARRANTIES, INCLUDING, BUT NOT LIMITED TO, THE</a:t>
            </a:r>
          </a:p>
          <a:p>
            <a:r>
              <a:rPr lang="en-US" sz="3700">
                <a:solidFill>
                  <a:srgbClr val="252525"/>
                </a:solidFill>
              </a:rPr>
              <a:t>IMPLIED WARRANTIES OF MERCHANTABILITY AND FITNESS FOR A PARTICULAR PURPOSE ARE</a:t>
            </a:r>
          </a:p>
          <a:p>
            <a:r>
              <a:rPr lang="en-US" sz="3700">
                <a:solidFill>
                  <a:srgbClr val="252525"/>
                </a:solidFill>
              </a:rPr>
              <a:t>DISCLAIMED. IN NO EVENT SHALL THE </a:t>
            </a:r>
          </a:p>
        </p:txBody>
      </p:sp>
    </p:spTree>
  </p:cSld>
  <p:clrMapOvr>
    <a:masterClrMapping/>
  </p:clrMapOvr>
</p:sld>
</file>

<file path=ppt/slides/slide1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10" id="310"/>
          <p:cNvPicPr>
            <a:picLocks noChangeAspect="true"/>
          </p:cNvPicPr>
          <p:nvPr/>
        </p:nvPicPr>
        <p:blipFill>
          <a:blip r:embed="rId310"/>
          <a:stretch>
            <a:fillRect/>
          </a:stretch>
        </p:blipFill>
        <p:spPr>
          <a:xfrm>
            <a:off x="0" y="127000"/>
            <a:ext cx="23749000" cy="16548100"/>
          </a:xfrm>
          <a:prstGeom prst="rect">
            <a:avLst/>
          </a:prstGeom>
        </p:spPr>
      </p:pic>
      <p:sp>
        <p:nvSpPr>
          <p:cNvPr name="TextBox 310" id="31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COPYRIGHT HOLDER OR CONTRIBUTORS BE LIABLE</a:t>
            </a:r>
          </a:p>
          <a:p>
            <a:r>
              <a:rPr lang="en-US" sz="3700">
                <a:solidFill>
                  <a:srgbClr val="252525"/>
                </a:solidFill>
              </a:rPr>
              <a:t>FOR ANY DIRECT, INDIRECT, INCIDENTAL, SPECIAL, EXEMPLARY, OR CONSEQUENTIAL</a:t>
            </a:r>
          </a:p>
          <a:p>
            <a:r>
              <a:rPr lang="en-US" sz="3700">
                <a:solidFill>
                  <a:srgbClr val="252525"/>
                </a:solidFill>
              </a:rPr>
              <a:t>DAMAGES (INCLUDING, BUT NOT LIMITED TO, PROCUREMENT OF SUBSTITUTE GOODS OR</a:t>
            </a:r>
          </a:p>
          <a:p>
            <a:r>
              <a:rPr lang="en-US" sz="3700">
                <a:solidFill>
                  <a:srgbClr val="252525"/>
                </a:solidFill>
              </a:rPr>
              <a:t>SERVICES; LOSS OF USE, DATA, OR PROFITS; OR BUSINESS INTERRUPTION) HOWEVER</a:t>
            </a:r>
          </a:p>
          <a:p>
            <a:r>
              <a:rPr lang="en-US" sz="3700">
                <a:solidFill>
                  <a:srgbClr val="252525"/>
                </a:solidFill>
              </a:rPr>
              <a:t>CAUSED AND ON ANY THEORY OF LIABILITY, WHETHER IN CONTRACT, STRICT LIABILITY,</a:t>
            </a:r>
          </a:p>
          <a:p>
            <a:r>
              <a:rPr lang="en-US" sz="3700">
                <a:solidFill>
                  <a:srgbClr val="252525"/>
                </a:solidFill>
              </a:rPr>
              <a:t>OR TORT (INCLUDING NEGLIGENCE OR OTHERWISE) ARISING IN ANY WAY OUT OF THE USE</a:t>
            </a:r>
          </a:p>
          <a:p>
            <a:r>
              <a:rPr lang="en-US" sz="3700">
                <a:solidFill>
                  <a:srgbClr val="252525"/>
                </a:solidFill>
              </a:rPr>
              <a:t>OF THIS SOFTWARE, EVEN IF ADVISED OF THE POSSIBILITY OF SUCH DAMAGE.</a:t>
            </a:r>
          </a:p>
        </p:txBody>
      </p:sp>
    </p:spTree>
  </p:cSld>
  <p:clrMapOvr>
    <a:masterClrMapping/>
  </p:clrMapOvr>
</p:sld>
</file>

<file path=ppt/slides/slide1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12" id="312"/>
          <p:cNvPicPr>
            <a:picLocks noChangeAspect="true"/>
          </p:cNvPicPr>
          <p:nvPr/>
        </p:nvPicPr>
        <p:blipFill>
          <a:blip r:embed="rId312"/>
          <a:stretch>
            <a:fillRect/>
          </a:stretch>
        </p:blipFill>
        <p:spPr>
          <a:xfrm>
            <a:off x="0" y="127000"/>
            <a:ext cx="23749000" cy="16548100"/>
          </a:xfrm>
          <a:prstGeom prst="rect">
            <a:avLst/>
          </a:prstGeom>
        </p:spPr>
      </p:pic>
      <p:sp>
        <p:nvSpPr>
          <p:cNvPr name="TextBox 312" id="31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t>
            </a:r>
          </a:p>
          <a:p>
            <a:r>
              <a:rPr lang="en-US" sz="5000"/>
              <a:t>  </a:t>
            </a:r>
          </a:p>
          <a:p>
            <a:r>
              <a:rPr lang="en-US" sz="3700">
                <a:solidFill>
                  <a:srgbClr val="252525"/>
                </a:solidFill>
              </a:rPr>
              <a:t>BSD 2-clause "Simplified" License</a:t>
            </a:r>
          </a:p>
          <a:p>
            <a:r>
              <a:rPr lang="en-US" sz="3700">
                <a:solidFill>
                  <a:srgbClr val="252525"/>
                </a:solidFill>
              </a:rPr>
              <a:t>(regjsparser 0.6.0, regjsparser v0.6.4)</a:t>
            </a:r>
          </a:p>
          <a:p>
            <a:r>
              <a:rPr lang="en-US" sz="5000"/>
              <a:t>  </a:t>
            </a:r>
          </a:p>
          <a:p>
            <a:r>
              <a:rPr lang="en-US" sz="3700">
                <a:solidFill>
                  <a:srgbClr val="252525"/>
                </a:solidFill>
              </a:rPr>
              <a:t>Copyright (c) Julian Viereck and Contributors, All Rights Reserved.</a:t>
            </a:r>
          </a:p>
          <a:p>
            <a:r>
              <a:rPr lang="en-US" sz="5000"/>
              <a:t>  </a:t>
            </a:r>
          </a:p>
          <a:p>
            <a:r>
              <a:rPr lang="en-US" sz="3700">
                <a:solidFill>
                  <a:srgbClr val="252525"/>
                </a:solidFill>
              </a:rPr>
              <a:t>Redistribution and use in source and binary forms, with or without</a:t>
            </a:r>
          </a:p>
          <a:p>
            <a:r>
              <a:rPr lang="en-US" sz="3700">
                <a:solidFill>
                  <a:srgbClr val="252525"/>
                </a:solidFill>
              </a:rPr>
              <a:t>modification, are permitted provided that the following conditions are met:</a:t>
            </a:r>
          </a:p>
          <a:p>
            <a:r>
              <a:rPr lang="en-US" sz="5000"/>
              <a:t>  </a:t>
            </a:r>
          </a:p>
          <a:p>
            <a:r>
              <a:rPr lang="en-US" sz="3700">
                <a:solidFill>
                  <a:srgbClr val="252525"/>
                </a:solidFill>
              </a:rPr>
              <a:t>  * Redistributions of source code must retain the above copyright</a:t>
            </a:r>
          </a:p>
          <a:p>
            <a:r>
              <a:rPr lang="en-US" sz="3700">
                <a:solidFill>
                  <a:srgbClr val="252525"/>
                </a:solidFill>
              </a:rPr>
              <a:t>    notice, this list of conditions and the following disclaimer.</a:t>
            </a:r>
          </a:p>
          <a:p>
            <a:r>
              <a:rPr lang="en-US" sz="3700">
                <a:solidFill>
                  <a:srgbClr val="252525"/>
                </a:solidFill>
              </a:rPr>
              <a:t>  * Redistributions in binary form must reproduce the above copyright</a:t>
            </a:r>
          </a:p>
          <a:p>
            <a:r>
              <a:rPr lang="en-US" sz="3700">
                <a:solidFill>
                  <a:srgbClr val="252525"/>
                </a:solidFill>
              </a:rPr>
              <a:t>    notice, this list of conditions and the following disclaimer in the</a:t>
            </a:r>
          </a:p>
        </p:txBody>
      </p:sp>
    </p:spTree>
  </p:cSld>
  <p:clrMapOvr>
    <a:masterClrMapping/>
  </p:clrMapOvr>
</p:sld>
</file>

<file path=ppt/slides/slide1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14" id="314"/>
          <p:cNvPicPr>
            <a:picLocks noChangeAspect="true"/>
          </p:cNvPicPr>
          <p:nvPr/>
        </p:nvPicPr>
        <p:blipFill>
          <a:blip r:embed="rId314"/>
          <a:stretch>
            <a:fillRect/>
          </a:stretch>
        </p:blipFill>
        <p:spPr>
          <a:xfrm>
            <a:off x="0" y="127000"/>
            <a:ext cx="23749000" cy="16548100"/>
          </a:xfrm>
          <a:prstGeom prst="rect">
            <a:avLst/>
          </a:prstGeom>
        </p:spPr>
      </p:pic>
      <p:sp>
        <p:nvSpPr>
          <p:cNvPr name="TextBox 314" id="31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documentation and/or other materials provided with the distribution.</a:t>
            </a:r>
          </a:p>
          <a:p>
            <a:r>
              <a:rPr lang="en-US" sz="5000"/>
              <a:t>  </a:t>
            </a:r>
          </a:p>
          <a:p>
            <a:r>
              <a:rPr lang="en-US" sz="3700">
                <a:solidFill>
                  <a:srgbClr val="252525"/>
                </a:solidFill>
              </a:rPr>
              <a:t>THIS SOFTWARE IS PROVIDED BY THE COPYRIGHT HOLDERS AND CONTRIBUTORS "AS IS"</a:t>
            </a:r>
          </a:p>
          <a:p>
            <a:r>
              <a:rPr lang="en-US" sz="3700">
                <a:solidFill>
                  <a:srgbClr val="252525"/>
                </a:solidFill>
              </a:rPr>
              <a:t>AND ANY EXPRESS OR IMPLIED WARRANTIES, INCLUDING, BUT NOT LIMITED TO, THE</a:t>
            </a:r>
          </a:p>
          <a:p>
            <a:r>
              <a:rPr lang="en-US" sz="3700">
                <a:solidFill>
                  <a:srgbClr val="252525"/>
                </a:solidFill>
              </a:rPr>
              <a:t>IMPLIED WARRANTIES OF MERCHANTABILITY AND FITNESS FOR A PARTICULAR PURPOSE</a:t>
            </a:r>
          </a:p>
          <a:p>
            <a:r>
              <a:rPr lang="en-US" sz="3700">
                <a:solidFill>
                  <a:srgbClr val="252525"/>
                </a:solidFill>
              </a:rPr>
              <a:t>ARE DISCLAIMED. IN NO EVENT SHALL &lt;COPYRIGHT HOLDER&gt; BE LIABLE FOR ANY</a:t>
            </a:r>
          </a:p>
          <a:p>
            <a:r>
              <a:rPr lang="en-US" sz="3700">
                <a:solidFill>
                  <a:srgbClr val="252525"/>
                </a:solidFill>
              </a:rPr>
              <a:t>DIRECT, INDIRECT, INCIDENTAL, SPECIAL, EXEMPLARY, OR CONSEQUENTIAL DAMAGES</a:t>
            </a:r>
          </a:p>
          <a:p>
            <a:r>
              <a:rPr lang="en-US" sz="3700">
                <a:solidFill>
                  <a:srgbClr val="252525"/>
                </a:solidFill>
              </a:rPr>
              <a:t>(INCLUDING, BUT NOT LIMITED TO, PROCUREMENT OF SUBSTITUTE GOODS OR SERVICES;</a:t>
            </a:r>
          </a:p>
        </p:txBody>
      </p:sp>
    </p:spTree>
  </p:cSld>
  <p:clrMapOvr>
    <a:masterClrMapping/>
  </p:clrMapOvr>
</p:sld>
</file>

<file path=ppt/slides/slide1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16" id="316"/>
          <p:cNvPicPr>
            <a:picLocks noChangeAspect="true"/>
          </p:cNvPicPr>
          <p:nvPr/>
        </p:nvPicPr>
        <p:blipFill>
          <a:blip r:embed="rId316"/>
          <a:stretch>
            <a:fillRect/>
          </a:stretch>
        </p:blipFill>
        <p:spPr>
          <a:xfrm>
            <a:off x="0" y="127000"/>
            <a:ext cx="23749000" cy="16548100"/>
          </a:xfrm>
          <a:prstGeom prst="rect">
            <a:avLst/>
          </a:prstGeom>
        </p:spPr>
      </p:pic>
      <p:sp>
        <p:nvSpPr>
          <p:cNvPr name="TextBox 316" id="31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LOSS OF USE, DATA, OR PROFITS; OR BUSINESS INTERRUPTION) HOWEVER CAUSED AND</a:t>
            </a:r>
          </a:p>
          <a:p>
            <a:r>
              <a:rPr lang="en-US" sz="3700">
                <a:solidFill>
                  <a:srgbClr val="252525"/>
                </a:solidFill>
              </a:rPr>
              <a:t>ON ANY THEORY OF LIABILITY, WHETHER IN CONTRACT, STRICT LIABILITY, OR TORT</a:t>
            </a:r>
          </a:p>
          <a:p>
            <a:r>
              <a:rPr lang="en-US" sz="3700">
                <a:solidFill>
                  <a:srgbClr val="252525"/>
                </a:solidFill>
              </a:rPr>
              <a:t>(INCLUDING NEGLIGENCE OR OTHERWISE) ARISING IN ANY WAY OUT OF THE USE OF</a:t>
            </a:r>
          </a:p>
          <a:p>
            <a:r>
              <a:rPr lang="en-US" sz="3700">
                <a:solidFill>
                  <a:srgbClr val="252525"/>
                </a:solidFill>
              </a:rPr>
              <a:t>THIS SOFTWARE, EVEN IF ADVISED OF THE POSSIBILITY OF SUCH DAMAGE</a:t>
            </a:r>
          </a:p>
          <a:p>
            <a:r>
              <a:rPr lang="en-US" sz="5000"/>
              <a:t>  </a:t>
            </a:r>
          </a:p>
          <a:p>
            <a:r>
              <a:rPr lang="en-US" sz="3700">
                <a:solidFill>
                  <a:srgbClr val="252525"/>
                </a:solidFill>
              </a:rPr>
              <a:t>---</a:t>
            </a:r>
          </a:p>
          <a:p>
            <a:r>
              <a:rPr lang="en-US" sz="5000"/>
              <a:t>  </a:t>
            </a:r>
          </a:p>
          <a:p>
            <a:r>
              <a:rPr lang="en-US" sz="3700">
                <a:solidFill>
                  <a:srgbClr val="252525"/>
                </a:solidFill>
              </a:rPr>
              <a:t>BSD 2-clause "Simplified" License</a:t>
            </a:r>
          </a:p>
          <a:p>
            <a:r>
              <a:rPr lang="en-US" sz="3700">
                <a:solidFill>
                  <a:srgbClr val="252525"/>
                </a:solidFill>
              </a:rPr>
              <a:t>(default-gateway 4.2.0)</a:t>
            </a:r>
          </a:p>
          <a:p>
            <a:r>
              <a:rPr lang="en-US" sz="5000"/>
              <a:t>  </a:t>
            </a:r>
          </a:p>
          <a:p>
            <a:r>
              <a:rPr lang="en-US" sz="3700">
                <a:solidFill>
                  <a:srgbClr val="252525"/>
                </a:solidFill>
              </a:rPr>
              <a:t>Copyright (c) silverwind</a:t>
            </a:r>
          </a:p>
          <a:p>
            <a:r>
              <a:rPr lang="en-US" sz="3700">
                <a:solidFill>
                  <a:srgbClr val="252525"/>
                </a:solidFill>
              </a:rPr>
              <a:t>All rights reserved.</a:t>
            </a:r>
          </a:p>
          <a:p>
            <a:r>
              <a:rPr lang="en-US" sz="5000"/>
              <a:t>  </a:t>
            </a:r>
          </a:p>
          <a:p>
            <a:r>
              <a:rPr lang="en-US" sz="3700">
                <a:solidFill>
                  <a:srgbClr val="252525"/>
                </a:solidFill>
              </a:rPr>
              <a:t>Redistribution and use in source and binary forms, with or without</a:t>
            </a:r>
          </a:p>
        </p:txBody>
      </p:sp>
    </p:spTree>
  </p:cSld>
  <p:clrMapOvr>
    <a:masterClrMapping/>
  </p:clrMapOvr>
</p:sld>
</file>

<file path=ppt/slides/slide1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18" id="318"/>
          <p:cNvPicPr>
            <a:picLocks noChangeAspect="true"/>
          </p:cNvPicPr>
          <p:nvPr/>
        </p:nvPicPr>
        <p:blipFill>
          <a:blip r:embed="rId318"/>
          <a:stretch>
            <a:fillRect/>
          </a:stretch>
        </p:blipFill>
        <p:spPr>
          <a:xfrm>
            <a:off x="0" y="127000"/>
            <a:ext cx="23749000" cy="16548100"/>
          </a:xfrm>
          <a:prstGeom prst="rect">
            <a:avLst/>
          </a:prstGeom>
        </p:spPr>
      </p:pic>
      <p:sp>
        <p:nvSpPr>
          <p:cNvPr name="TextBox 318" id="31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modification, are permitted provided that the following conditions are met:</a:t>
            </a:r>
          </a:p>
          <a:p>
            <a:r>
              <a:rPr lang="en-US" sz="5000"/>
              <a:t>  </a:t>
            </a:r>
          </a:p>
          <a:p>
            <a:r>
              <a:rPr lang="en-US" sz="3700">
                <a:solidFill>
                  <a:srgbClr val="252525"/>
                </a:solidFill>
              </a:rPr>
              <a:t>1. Redistributions of source code must retain the above copyright notice, this</a:t>
            </a:r>
          </a:p>
          <a:p>
            <a:r>
              <a:rPr lang="en-US" sz="3700">
                <a:solidFill>
                  <a:srgbClr val="252525"/>
                </a:solidFill>
              </a:rPr>
              <a:t>   list of conditions and the following disclaimer.</a:t>
            </a:r>
          </a:p>
          <a:p>
            <a:r>
              <a:rPr lang="en-US" sz="3700">
                <a:solidFill>
                  <a:srgbClr val="252525"/>
                </a:solidFill>
              </a:rPr>
              <a:t>2. Redistributions in binary form must reproduce the above copyright notice,</a:t>
            </a:r>
          </a:p>
          <a:p>
            <a:r>
              <a:rPr lang="en-US" sz="3700">
                <a:solidFill>
                  <a:srgbClr val="252525"/>
                </a:solidFill>
              </a:rPr>
              <a:t>   this list of conditions and the following disclaimer in the documentation</a:t>
            </a:r>
          </a:p>
          <a:p>
            <a:r>
              <a:rPr lang="en-US" sz="3700">
                <a:solidFill>
                  <a:srgbClr val="252525"/>
                </a:solidFill>
              </a:rPr>
              <a:t>   and/or other materials provided with the distribution.</a:t>
            </a:r>
          </a:p>
          <a:p>
            <a:r>
              <a:rPr lang="en-US" sz="5000"/>
              <a:t>  </a:t>
            </a:r>
          </a:p>
          <a:p>
            <a:r>
              <a:rPr lang="en-US" sz="3700">
                <a:solidFill>
                  <a:srgbClr val="252525"/>
                </a:solidFill>
              </a:rPr>
              <a:t>THIS SOFTWARE IS PROVIDED BY THE COPYRIGHT HOLDERS AND CONTRIBUTORS "AS IS" AND</a:t>
            </a:r>
          </a:p>
          <a:p>
            <a:r>
              <a:rPr lang="en-US" sz="3700">
                <a:solidFill>
                  <a:srgbClr val="252525"/>
                </a:solidFill>
              </a:rPr>
              <a:t>ANY EXPRESS OR IMPLIED WARRANTIES, INCLUDING, BUT NOT LIMITED TO, THE IMPLIED</a:t>
            </a:r>
          </a:p>
          <a:p>
            <a:r>
              <a:rPr lang="en-US" sz="3700">
                <a:solidFill>
                  <a:srgbClr val="252525"/>
                </a:solidFill>
              </a:rPr>
              <a:t>WARRANTIES OF MERCHANTABILITY AND </a:t>
            </a:r>
          </a:p>
        </p:txBody>
      </p:sp>
    </p:spTree>
  </p:cSld>
  <p:clrMapOvr>
    <a:masterClrMapping/>
  </p:clrMapOvr>
</p:sld>
</file>

<file path=ppt/slides/slide1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20" id="320"/>
          <p:cNvPicPr>
            <a:picLocks noChangeAspect="true"/>
          </p:cNvPicPr>
          <p:nvPr/>
        </p:nvPicPr>
        <p:blipFill>
          <a:blip r:embed="rId320"/>
          <a:stretch>
            <a:fillRect/>
          </a:stretch>
        </p:blipFill>
        <p:spPr>
          <a:xfrm>
            <a:off x="0" y="127000"/>
            <a:ext cx="23749000" cy="16548100"/>
          </a:xfrm>
          <a:prstGeom prst="rect">
            <a:avLst/>
          </a:prstGeom>
        </p:spPr>
      </p:pic>
      <p:sp>
        <p:nvSpPr>
          <p:cNvPr name="TextBox 320" id="32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FITNESS FOR A PARTICULAR PURPOSE ARE</a:t>
            </a:r>
          </a:p>
          <a:p>
            <a:r>
              <a:rPr lang="en-US" sz="3700">
                <a:solidFill>
                  <a:srgbClr val="252525"/>
                </a:solidFill>
              </a:rPr>
              <a:t>DISCLAIMED. IN NO EVENT SHALL THE COPYRIGHT OWNER OR CONTRIBUTORS BE LIABLE FOR</a:t>
            </a:r>
          </a:p>
          <a:p>
            <a:r>
              <a:rPr lang="en-US" sz="3700">
                <a:solidFill>
                  <a:srgbClr val="252525"/>
                </a:solidFill>
              </a:rPr>
              <a:t>ANY DIRECT, INDIRECT, INCIDENTAL, SPECIAL, EXEMPLARY, OR CONSEQUENTIAL DAMAGES</a:t>
            </a:r>
          </a:p>
          <a:p>
            <a:r>
              <a:rPr lang="en-US" sz="3700">
                <a:solidFill>
                  <a:srgbClr val="252525"/>
                </a:solidFill>
              </a:rPr>
              <a:t>(INCLUDING, BUT NOT LIMITED TO, PROCUREMENT OF SUBSTITUTE GOODS OR SERVICES;</a:t>
            </a:r>
          </a:p>
          <a:p>
            <a:r>
              <a:rPr lang="en-US" sz="3700">
                <a:solidFill>
                  <a:srgbClr val="252525"/>
                </a:solidFill>
              </a:rPr>
              <a:t>LOSS OF USE, DATA, OR PROFITS; OR BUSINESS INTERRUPTION) HOWEVER CAUSED AND</a:t>
            </a:r>
          </a:p>
          <a:p>
            <a:r>
              <a:rPr lang="en-US" sz="3700">
                <a:solidFill>
                  <a:srgbClr val="252525"/>
                </a:solidFill>
              </a:rPr>
              <a:t>ON ANY THEORY OF LIABILITY, WHETHER IN CONTRACT, STRICT LIABILITY, OR TORT</a:t>
            </a:r>
          </a:p>
          <a:p>
            <a:r>
              <a:rPr lang="en-US" sz="3700">
                <a:solidFill>
                  <a:srgbClr val="252525"/>
                </a:solidFill>
              </a:rPr>
              <a:t>(INCLUDING NEGLIGENCE OR OTHERWISE) ARISING IN ANY WAY OUT OF THE USE OF THIS</a:t>
            </a:r>
          </a:p>
          <a:p>
            <a:r>
              <a:rPr lang="en-US" sz="3700">
                <a:solidFill>
                  <a:srgbClr val="252525"/>
                </a:solidFill>
              </a:rPr>
              <a:t>SOFTWARE, EVEN IF ADVISED OF THE POSSIBILITY OF SUCH DAMAGE</a:t>
            </a:r>
          </a:p>
        </p:txBody>
      </p:sp>
    </p:spTree>
  </p:cSld>
  <p:clrMapOvr>
    <a:masterClrMapping/>
  </p:clrMapOvr>
</p:sld>
</file>

<file path=ppt/slides/slide1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22" id="322"/>
          <p:cNvPicPr>
            <a:picLocks noChangeAspect="true"/>
          </p:cNvPicPr>
          <p:nvPr/>
        </p:nvPicPr>
        <p:blipFill>
          <a:blip r:embed="rId322"/>
          <a:stretch>
            <a:fillRect/>
          </a:stretch>
        </p:blipFill>
        <p:spPr>
          <a:xfrm>
            <a:off x="0" y="127000"/>
            <a:ext cx="23749000" cy="16548100"/>
          </a:xfrm>
          <a:prstGeom prst="rect">
            <a:avLst/>
          </a:prstGeom>
        </p:spPr>
      </p:pic>
      <p:sp>
        <p:nvSpPr>
          <p:cNvPr name="TextBox 322" id="323"/>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a:t>
            </a:r>
          </a:p>
          <a:p>
            <a:r>
              <a:rPr lang="en-US" sz="5000"/>
              <a:t>  </a:t>
            </a:r>
          </a:p>
          <a:p>
            <a:r>
              <a:rPr lang="en-US" sz="3700">
                <a:solidFill>
                  <a:srgbClr val="252525"/>
                </a:solidFill>
              </a:rPr>
              <a:t>BSD 2-clause "Simplified" License</a:t>
            </a:r>
          </a:p>
          <a:p>
            <a:r>
              <a:rPr lang="en-US" sz="3700">
                <a:solidFill>
                  <a:srgbClr val="252525"/>
                </a:solidFill>
              </a:rPr>
              <a:t>(bumptech/glide v4.11.0, bumptech/glide v4.8.0)</a:t>
            </a:r>
          </a:p>
          <a:p>
            <a:r>
              <a:rPr lang="en-US" sz="5000"/>
              <a:t>  </a:t>
            </a:r>
          </a:p>
          <a:p>
            <a:r>
              <a:rPr lang="en-US" sz="3700">
                <a:solidFill>
                  <a:srgbClr val="252525"/>
                </a:solidFill>
              </a:rPr>
              <a:t>Copyright 2014 Google, Inc. All rights reserved.</a:t>
            </a:r>
          </a:p>
          <a:p>
            <a:r>
              <a:rPr lang="en-US" sz="5000"/>
              <a:t>  </a:t>
            </a:r>
          </a:p>
          <a:p>
            <a:r>
              <a:rPr lang="en-US" sz="3700">
                <a:solidFill>
                  <a:srgbClr val="252525"/>
                </a:solidFill>
              </a:rPr>
              <a:t>Redistribution and use in source and binary forms, with or without modification, are</a:t>
            </a:r>
          </a:p>
          <a:p>
            <a:r>
              <a:rPr lang="en-US" sz="3700">
                <a:solidFill>
                  <a:srgbClr val="252525"/>
                </a:solidFill>
              </a:rPr>
              <a:t>permitted provided that the following conditions are met:</a:t>
            </a:r>
          </a:p>
          <a:p>
            <a:r>
              <a:rPr lang="en-US" sz="5000"/>
              <a:t>  </a:t>
            </a:r>
          </a:p>
          <a:p>
            <a:r>
              <a:rPr lang="en-US" sz="3700">
                <a:solidFill>
                  <a:srgbClr val="252525"/>
                </a:solidFill>
              </a:rPr>
              <a:t>   1. Redistributions of source code must retain the above copyright notice, this list of</a:t>
            </a:r>
          </a:p>
          <a:p>
            <a:r>
              <a:rPr lang="en-US" sz="3700">
                <a:solidFill>
                  <a:srgbClr val="252525"/>
                </a:solidFill>
              </a:rPr>
              <a:t>         conditions and the following disclaimer.</a:t>
            </a:r>
          </a:p>
        </p:txBody>
      </p:sp>
    </p:spTree>
  </p:cSld>
  <p:clrMapOvr>
    <a:masterClrMapping/>
  </p:clrMapOvr>
</p:sld>
</file>

<file path=ppt/slides/slide1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24" id="324"/>
          <p:cNvPicPr>
            <a:picLocks noChangeAspect="true"/>
          </p:cNvPicPr>
          <p:nvPr/>
        </p:nvPicPr>
        <p:blipFill>
          <a:blip r:embed="rId324"/>
          <a:stretch>
            <a:fillRect/>
          </a:stretch>
        </p:blipFill>
        <p:spPr>
          <a:xfrm>
            <a:off x="0" y="127000"/>
            <a:ext cx="23749000" cy="16548100"/>
          </a:xfrm>
          <a:prstGeom prst="rect">
            <a:avLst/>
          </a:prstGeom>
        </p:spPr>
      </p:pic>
      <p:sp>
        <p:nvSpPr>
          <p:cNvPr name="TextBox 324" id="325"/>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   2. Redistributions in binary form must reproduce the above copyright notice, this list</a:t>
            </a:r>
          </a:p>
          <a:p>
            <a:r>
              <a:rPr lang="en-US" sz="3700">
                <a:solidFill>
                  <a:srgbClr val="252525"/>
                </a:solidFill>
              </a:rPr>
              <a:t>         of conditions and the following disclaimer in the documentation and/or other materials</a:t>
            </a:r>
          </a:p>
          <a:p>
            <a:r>
              <a:rPr lang="en-US" sz="3700">
                <a:solidFill>
                  <a:srgbClr val="252525"/>
                </a:solidFill>
              </a:rPr>
              <a:t>         provided with the distribution.</a:t>
            </a:r>
          </a:p>
          <a:p>
            <a:r>
              <a:rPr lang="en-US" sz="5000"/>
              <a:t>  </a:t>
            </a:r>
          </a:p>
          <a:p>
            <a:r>
              <a:rPr lang="en-US" sz="3700">
                <a:solidFill>
                  <a:srgbClr val="252525"/>
                </a:solidFill>
              </a:rPr>
              <a:t>THIS SOFTWARE IS PROVIDED BY GOOGLE, INC. ``AS IS'' AND ANY EXPRESS OR IMPLIED</a:t>
            </a:r>
          </a:p>
          <a:p>
            <a:r>
              <a:rPr lang="en-US" sz="3700">
                <a:solidFill>
                  <a:srgbClr val="252525"/>
                </a:solidFill>
              </a:rPr>
              <a:t>WARRANTIES, INCLUDING, BUT NOT LIMITED TO, THE IMPLIED WARRANTIES OF MERCHANTABILITY AND</a:t>
            </a:r>
          </a:p>
          <a:p>
            <a:r>
              <a:rPr lang="en-US" sz="3700">
                <a:solidFill>
                  <a:srgbClr val="252525"/>
                </a:solidFill>
              </a:rPr>
              <a:t>FITNESS FOR A PARTICULAR PURPOSE ARE DISCLAIMED. IN NO EVENT SHALL GOOGLE, INC. OR</a:t>
            </a:r>
          </a:p>
          <a:p>
            <a:r>
              <a:rPr lang="en-US" sz="3700">
                <a:solidFill>
                  <a:srgbClr val="252525"/>
                </a:solidFill>
              </a:rPr>
              <a:t>CONTRIBUTORS BE LIABLE FOR ANY DIRECT, INDIRECT, INCIDENTAL, SPECIAL, EXEMPLARY, OR</a:t>
            </a:r>
          </a:p>
        </p:txBody>
      </p:sp>
    </p:spTree>
  </p:cSld>
  <p:clrMapOvr>
    <a:masterClrMapping/>
  </p:clrMapOvr>
</p:sld>
</file>

<file path=ppt/slides/slide1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26" id="326"/>
          <p:cNvPicPr>
            <a:picLocks noChangeAspect="true"/>
          </p:cNvPicPr>
          <p:nvPr/>
        </p:nvPicPr>
        <p:blipFill>
          <a:blip r:embed="rId326"/>
          <a:stretch>
            <a:fillRect/>
          </a:stretch>
        </p:blipFill>
        <p:spPr>
          <a:xfrm>
            <a:off x="0" y="127000"/>
            <a:ext cx="23749000" cy="16548100"/>
          </a:xfrm>
          <a:prstGeom prst="rect">
            <a:avLst/>
          </a:prstGeom>
        </p:spPr>
      </p:pic>
      <p:sp>
        <p:nvSpPr>
          <p:cNvPr name="TextBox 326" id="32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CONSEQUENTIAL DAMAGES (INCLUDING, BUT NOT LIMITED TO, PROCUREMENT OF SUBSTITUTE GOODS OR</a:t>
            </a:r>
          </a:p>
          <a:p>
            <a:r>
              <a:rPr lang="en-US" sz="3700">
                <a:solidFill>
                  <a:srgbClr val="252525"/>
                </a:solidFill>
              </a:rPr>
              <a:t>SERVICES; LOSS OF USE, DATA, OR PROFITS; OR BUSINESS INTERRUPTION) HOWEVER CAUSED AND ON</a:t>
            </a:r>
          </a:p>
          <a:p>
            <a:r>
              <a:rPr lang="en-US" sz="3700">
                <a:solidFill>
                  <a:srgbClr val="252525"/>
                </a:solidFill>
              </a:rPr>
              <a:t>ANY THEORY OF LIABILITY, WHETHER IN CONTRACT, STRICT LIABILITY, OR TORT (INCLUDING</a:t>
            </a:r>
          </a:p>
          <a:p>
            <a:r>
              <a:rPr lang="en-US" sz="3700">
                <a:solidFill>
                  <a:srgbClr val="252525"/>
                </a:solidFill>
              </a:rPr>
              <a:t>NEGLIGENCE OR OTHERWISE) ARISING IN ANY WAY OUT OF THE USE OF THIS SOFTWARE, EVEN IF</a:t>
            </a:r>
          </a:p>
          <a:p>
            <a:r>
              <a:rPr lang="en-US" sz="3700">
                <a:solidFill>
                  <a:srgbClr val="252525"/>
                </a:solidFill>
              </a:rPr>
              <a:t>ADVISED OF THE POSSIBILITY OF SUCH DAMAGE</a:t>
            </a:r>
          </a:p>
          <a:p>
            <a:r>
              <a:rPr lang="en-US" sz="5000"/>
              <a:t>  </a:t>
            </a:r>
          </a:p>
          <a:p>
            <a:r>
              <a:rPr lang="en-US" sz="3700">
                <a:solidFill>
                  <a:srgbClr val="252525"/>
                </a:solidFill>
              </a:rPr>
              <a:t>---</a:t>
            </a:r>
          </a:p>
          <a:p>
            <a:r>
              <a:rPr lang="en-US" sz="5000"/>
              <a:t>  </a:t>
            </a:r>
          </a:p>
          <a:p>
            <a:r>
              <a:rPr lang="en-US" sz="3700">
                <a:solidFill>
                  <a:srgbClr val="252525"/>
                </a:solidFill>
              </a:rPr>
              <a:t>BSD 2-clause "Simplified" License</a:t>
            </a:r>
          </a:p>
          <a:p>
            <a:r>
              <a:rPr lang="en-US" sz="3700">
                <a:solidFill>
                  <a:srgbClr val="252525"/>
                </a:solidFill>
              </a:rPr>
              <a:t>(browser-process-hrtime 1.0.0)</a:t>
            </a:r>
          </a:p>
          <a:p>
            <a:r>
              <a:rPr lang="en-US" sz="5000"/>
              <a:t>  </a:t>
            </a:r>
          </a:p>
          <a:p>
            <a:r>
              <a:rPr lang="en-US" sz="3700">
                <a:solidFill>
                  <a:srgbClr val="252525"/>
                </a:solidFill>
              </a:rPr>
              <a:t>Copyright 2014 kumavis</a:t>
            </a:r>
          </a:p>
        </p:txBody>
      </p:sp>
    </p:spTree>
  </p:cSld>
  <p:clrMapOvr>
    <a:masterClrMapping/>
  </p:clrMapOvr>
</p:sld>
</file>

<file path=ppt/slides/slide1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28" id="328"/>
          <p:cNvPicPr>
            <a:picLocks noChangeAspect="true"/>
          </p:cNvPicPr>
          <p:nvPr/>
        </p:nvPicPr>
        <p:blipFill>
          <a:blip r:embed="rId328"/>
          <a:stretch>
            <a:fillRect/>
          </a:stretch>
        </p:blipFill>
        <p:spPr>
          <a:xfrm>
            <a:off x="0" y="127000"/>
            <a:ext cx="23749000" cy="16548100"/>
          </a:xfrm>
          <a:prstGeom prst="rect">
            <a:avLst/>
          </a:prstGeom>
        </p:spPr>
      </p:pic>
      <p:sp>
        <p:nvSpPr>
          <p:cNvPr name="TextBox 328" id="329"/>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Redistribution and use in source and binary forms, with or without modification, are permitted provided that the following conditions are met:</a:t>
            </a:r>
          </a:p>
          <a:p>
            <a:r>
              <a:rPr lang="en-US" sz="5000"/>
              <a:t>  </a:t>
            </a:r>
          </a:p>
          <a:p>
            <a:r>
              <a:rPr lang="en-US" sz="3700">
                <a:solidFill>
                  <a:srgbClr val="252525"/>
                </a:solidFill>
              </a:rPr>
              <a:t>1. Redistributions of source code must retain the above copyright notice, this list of conditions and the following disclaimer.</a:t>
            </a:r>
          </a:p>
          <a:p>
            <a:r>
              <a:rPr lang="en-US" sz="5000"/>
              <a:t>  </a:t>
            </a:r>
          </a:p>
          <a:p>
            <a:r>
              <a:rPr lang="en-US" sz="3700">
                <a:solidFill>
                  <a:srgbClr val="252525"/>
                </a:solidFill>
              </a:rPr>
              <a:t>2. Redistributions in binary form must reproduce the above copyright notice, this list of conditions and the following disclaimer in the documentation and/or other materials provided with the distribution.</a:t>
            </a:r>
          </a:p>
          <a:p>
            <a:r>
              <a:rPr lang="en-US" sz="5000"/>
              <a:t>  </a:t>
            </a:r>
          </a:p>
          <a:p>
            <a:r>
              <a:rPr lang="en-US" sz="3700">
                <a:solidFill>
                  <a:srgbClr val="252525"/>
                </a:solidFill>
              </a:rPr>
              <a:t>THIS SOFTWARE IS PROVIDED BY THE COPYRIGHT HOLDERS AND CONTRIBUTORS "AS IS" AND ANY EXPRESS OR IMPLIED WARRANTIES, </a:t>
            </a:r>
          </a:p>
        </p:txBody>
      </p:sp>
    </p:spTree>
  </p:cSld>
  <p:clrMapOvr>
    <a:masterClrMapping/>
  </p:clrMapOvr>
</p:sld>
</file>

<file path=ppt/slides/slide1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30" id="330"/>
          <p:cNvPicPr>
            <a:picLocks noChangeAspect="true"/>
          </p:cNvPicPr>
          <p:nvPr/>
        </p:nvPicPr>
        <p:blipFill>
          <a:blip r:embed="rId330"/>
          <a:stretch>
            <a:fillRect/>
          </a:stretch>
        </p:blipFill>
        <p:spPr>
          <a:xfrm>
            <a:off x="0" y="127000"/>
            <a:ext cx="23749000" cy="16548100"/>
          </a:xfrm>
          <a:prstGeom prst="rect">
            <a:avLst/>
          </a:prstGeom>
        </p:spPr>
      </p:pic>
      <p:sp>
        <p:nvSpPr>
          <p:cNvPr name="TextBox 330" id="33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INCLUDING, BUT NOT LIMITED TO, THE IMPLIED WARRANTIES OF MERCHANTABILITY AND FITNESS FOR A PARTICULAR PURPOSE ARE DISCLAIMED. IN NO EVENT SHALL THE COPYRIGHT HOLDER OR CONTRIBUTORS BE LIABLE FOR ANY DIRECT, INDIRECT, INCIDENTAL, SPECIAL, EXEMPLARY, OR CONSEQUENTIAL DAMAGES (INCLUDING, BUT NOT LIMITED TO, PROCUREMENT OF SUBSTITUTE GOODS OR SERVICES; LOSS OF USE, DATA, OR PROFITS; OR BUSINESS INTERRUPTION) HOWEVER CAUSED AND ON ANY THEORY OF LIABILITY, WHETHER IN CONTRACT, STRICT LIABILITY, OR TORT (INCLUDING NEGLIGENCE OR OTHERWISE) ARISING IN ANY WAY OUT OF THE USE OF THIS SOFTWARE, EVEN IF ADVISED OF THE POSSIBILITY OF SUCH DAMAGE</a:t>
            </a:r>
          </a:p>
        </p:txBody>
      </p:sp>
    </p:spTree>
  </p:cSld>
  <p:clrMapOvr>
    <a:masterClrMapping/>
  </p:clrMapOvr>
</p:sld>
</file>

<file path=ppt/slides/slide1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32" id="332"/>
          <p:cNvPicPr>
            <a:picLocks noChangeAspect="true"/>
          </p:cNvPicPr>
          <p:nvPr/>
        </p:nvPicPr>
        <p:blipFill>
          <a:blip r:embed="rId332"/>
          <a:stretch>
            <a:fillRect/>
          </a:stretch>
        </p:blipFill>
        <p:spPr>
          <a:xfrm>
            <a:off x="0" y="127000"/>
            <a:ext cx="23749000" cy="16548100"/>
          </a:xfrm>
          <a:prstGeom prst="rect">
            <a:avLst/>
          </a:prstGeom>
        </p:spPr>
      </p:pic>
      <p:sp>
        <p:nvSpPr>
          <p:cNvPr name="TextBox 332" id="33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t>
            </a:r>
          </a:p>
          <a:p>
            <a:r>
              <a:rPr lang="en-US" sz="5000"/>
              <a:t>  </a:t>
            </a:r>
          </a:p>
          <a:p>
            <a:r>
              <a:rPr lang="en-US" sz="3700">
                <a:solidFill>
                  <a:srgbClr val="252525"/>
                </a:solidFill>
              </a:rPr>
              <a:t>BSD 2-clause "Simplified" License</a:t>
            </a:r>
          </a:p>
          <a:p>
            <a:r>
              <a:rPr lang="en-US" sz="3700">
                <a:solidFill>
                  <a:srgbClr val="252525"/>
                </a:solidFill>
              </a:rPr>
              <a:t>(@typescript-eslint/parser 2.34.0, @typescript-eslint/typescript-estree 2.34.0, espree v5.0.1, espree v6.2.1)</a:t>
            </a:r>
          </a:p>
          <a:p>
            <a:r>
              <a:rPr lang="en-US" sz="5000"/>
              <a:t>  </a:t>
            </a:r>
          </a:p>
          <a:p>
            <a:r>
              <a:rPr lang="en-US" sz="3700">
                <a:solidFill>
                  <a:srgbClr val="252525"/>
                </a:solidFill>
              </a:rPr>
              <a:t>Copyright JS Foundation and other contributors, </a:t>
            </a:r>
          </a:p>
          <a:p>
            <a:r>
              <a:rPr lang="en-US" sz="5000"/>
              <a:t>  </a:t>
            </a:r>
          </a:p>
          <a:p>
            <a:r>
              <a:rPr lang="en-US" sz="3700">
                <a:solidFill>
                  <a:srgbClr val="252525"/>
                </a:solidFill>
              </a:rPr>
              <a:t>Redistribution and use in source and binary forms, with or without</a:t>
            </a:r>
          </a:p>
          <a:p>
            <a:r>
              <a:rPr lang="en-US" sz="3700">
                <a:solidFill>
                  <a:srgbClr val="252525"/>
                </a:solidFill>
              </a:rPr>
              <a:t>modification, are permitted provided that the following conditions are met:</a:t>
            </a:r>
          </a:p>
          <a:p>
            <a:r>
              <a:rPr lang="en-US" sz="5000"/>
              <a:t>  </a:t>
            </a:r>
          </a:p>
          <a:p>
            <a:r>
              <a:rPr lang="en-US" sz="3700">
                <a:solidFill>
                  <a:srgbClr val="252525"/>
                </a:solidFill>
              </a:rPr>
              <a:t>  * Redistributions of source code must retain the above copyright</a:t>
            </a:r>
          </a:p>
          <a:p>
            <a:r>
              <a:rPr lang="en-US" sz="3700">
                <a:solidFill>
                  <a:srgbClr val="252525"/>
                </a:solidFill>
              </a:rPr>
              <a:t>    notice, this list of conditions and the </a:t>
            </a:r>
          </a:p>
        </p:txBody>
      </p:sp>
      <p:pic>
        <p:nvPicPr>
          <p:cNvPr name="Picture 334" id="334">
            <a:hlinkClick r:id="rId335"/>
          </p:cNvPr>
          <p:cNvPicPr>
            <a:picLocks noChangeAspect="true"/>
          </p:cNvPicPr>
          <p:nvPr/>
        </p:nvPicPr>
        <p:blipFill>
          <a:blip r:embed="rId334"/>
          <a:stretch>
            <a:fillRect/>
          </a:stretch>
        </p:blipFill>
        <p:spPr>
          <a:xfrm>
            <a:off x="6451600" y="8877300"/>
            <a:ext cx="10820400" cy="1714500"/>
          </a:xfrm>
          <a:prstGeom prst="rect">
            <a:avLst/>
          </a:prstGeom>
        </p:spPr>
      </p:pic>
    </p:spTree>
  </p:cSld>
  <p:clrMapOvr>
    <a:masterClrMapping/>
  </p:clrMapOvr>
</p:sld>
</file>

<file path=ppt/slides/slide1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36" id="336"/>
          <p:cNvPicPr>
            <a:picLocks noChangeAspect="true"/>
          </p:cNvPicPr>
          <p:nvPr/>
        </p:nvPicPr>
        <p:blipFill>
          <a:blip r:embed="rId336"/>
          <a:stretch>
            <a:fillRect/>
          </a:stretch>
        </p:blipFill>
        <p:spPr>
          <a:xfrm>
            <a:off x="0" y="127000"/>
            <a:ext cx="23749000" cy="16548100"/>
          </a:xfrm>
          <a:prstGeom prst="rect">
            <a:avLst/>
          </a:prstGeom>
        </p:spPr>
      </p:pic>
      <p:sp>
        <p:nvSpPr>
          <p:cNvPr name="TextBox 336" id="33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following disclaimer.</a:t>
            </a:r>
          </a:p>
          <a:p>
            <a:r>
              <a:rPr lang="en-US" sz="3700">
                <a:solidFill>
                  <a:srgbClr val="252525"/>
                </a:solidFill>
              </a:rPr>
              <a:t>  * Redistributions in binary form must reproduce the above copyright</a:t>
            </a:r>
          </a:p>
          <a:p>
            <a:r>
              <a:rPr lang="en-US" sz="3700">
                <a:solidFill>
                  <a:srgbClr val="252525"/>
                </a:solidFill>
              </a:rPr>
              <a:t>    notice, this list of conditions and the following disclaimer in the</a:t>
            </a:r>
          </a:p>
          <a:p>
            <a:r>
              <a:rPr lang="en-US" sz="3700">
                <a:solidFill>
                  <a:srgbClr val="252525"/>
                </a:solidFill>
              </a:rPr>
              <a:t>    documentation and/or other materials provided with the distribution.</a:t>
            </a:r>
          </a:p>
          <a:p>
            <a:r>
              <a:rPr lang="en-US" sz="5000"/>
              <a:t>  </a:t>
            </a:r>
          </a:p>
          <a:p>
            <a:r>
              <a:rPr lang="en-US" sz="3700">
                <a:solidFill>
                  <a:srgbClr val="252525"/>
                </a:solidFill>
              </a:rPr>
              <a:t>THIS SOFTWARE IS PROVIDED BY THE COPYRIGHT HOLDERS AND CONTRIBUTORS "AS IS"</a:t>
            </a:r>
          </a:p>
          <a:p>
            <a:r>
              <a:rPr lang="en-US" sz="3700">
                <a:solidFill>
                  <a:srgbClr val="252525"/>
                </a:solidFill>
              </a:rPr>
              <a:t>AND ANY EXPRESS OR IMPLIED WARRANTIES, INCLUDING, BUT NOT LIMITED TO, THE</a:t>
            </a:r>
          </a:p>
          <a:p>
            <a:r>
              <a:rPr lang="en-US" sz="3700">
                <a:solidFill>
                  <a:srgbClr val="252525"/>
                </a:solidFill>
              </a:rPr>
              <a:t>IMPLIED WARRANTIES OF MERCHANTABILITY AND FITNESS FOR A PARTICULAR PURPOSE</a:t>
            </a:r>
          </a:p>
          <a:p>
            <a:r>
              <a:rPr lang="en-US" sz="3700">
                <a:solidFill>
                  <a:srgbClr val="252525"/>
                </a:solidFill>
              </a:rPr>
              <a:t>ARE DISCLAIMED. IN NO EVENT SHALL &lt;COPYRIGHT HOLDER&gt; BE LIABLE FOR ANY</a:t>
            </a:r>
          </a:p>
          <a:p>
            <a:r>
              <a:rPr lang="en-US" sz="3700">
                <a:solidFill>
                  <a:srgbClr val="252525"/>
                </a:solidFill>
              </a:rPr>
              <a:t>DIRECT, INDIRECT, INCIDENTAL, SPECIAL, </a:t>
            </a:r>
          </a:p>
        </p:txBody>
      </p:sp>
    </p:spTree>
  </p:cSld>
  <p:clrMapOvr>
    <a:masterClrMapping/>
  </p:clrMapOvr>
</p:sld>
</file>

<file path=ppt/slides/slide1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38" id="338"/>
          <p:cNvPicPr>
            <a:picLocks noChangeAspect="true"/>
          </p:cNvPicPr>
          <p:nvPr/>
        </p:nvPicPr>
        <p:blipFill>
          <a:blip r:embed="rId338"/>
          <a:stretch>
            <a:fillRect/>
          </a:stretch>
        </p:blipFill>
        <p:spPr>
          <a:xfrm>
            <a:off x="0" y="127000"/>
            <a:ext cx="23749000" cy="16548100"/>
          </a:xfrm>
          <a:prstGeom prst="rect">
            <a:avLst/>
          </a:prstGeom>
        </p:spPr>
      </p:pic>
      <p:sp>
        <p:nvSpPr>
          <p:cNvPr name="TextBox 338" id="33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EXEMPLARY, OR CONSEQUENTIAL DAMAGES</a:t>
            </a:r>
          </a:p>
          <a:p>
            <a:r>
              <a:rPr lang="en-US" sz="3700">
                <a:solidFill>
                  <a:srgbClr val="252525"/>
                </a:solidFill>
              </a:rPr>
              <a:t>(INCLUDING, BUT NOT LIMITED TO, PROCUREMENT OF SUBSTITUTE GOODS OR SERVICES;</a:t>
            </a:r>
          </a:p>
          <a:p>
            <a:r>
              <a:rPr lang="en-US" sz="3700">
                <a:solidFill>
                  <a:srgbClr val="252525"/>
                </a:solidFill>
              </a:rPr>
              <a:t>LOSS OF USE, DATA, OR PROFITS; OR BUSINESS INTERRUPTION) HOWEVER CAUSED AND</a:t>
            </a:r>
          </a:p>
          <a:p>
            <a:r>
              <a:rPr lang="en-US" sz="3700">
                <a:solidFill>
                  <a:srgbClr val="252525"/>
                </a:solidFill>
              </a:rPr>
              <a:t>ON ANY THEORY OF LIABILITY, WHETHER IN CONTRACT, STRICT LIABILITY, OR TORT</a:t>
            </a:r>
          </a:p>
          <a:p>
            <a:r>
              <a:rPr lang="en-US" sz="3700">
                <a:solidFill>
                  <a:srgbClr val="252525"/>
                </a:solidFill>
              </a:rPr>
              <a:t>(INCLUDING NEGLIGENCE OR OTHERWISE) ARISING IN ANY WAY OUT OF THE USE OF</a:t>
            </a:r>
          </a:p>
          <a:p>
            <a:r>
              <a:rPr lang="en-US" sz="3700">
                <a:solidFill>
                  <a:srgbClr val="252525"/>
                </a:solidFill>
              </a:rPr>
              <a:t>THIS SOFTWARE, EVEN IF ADVISED OF THE POSSIBILITY OF SUCH DAMAGE</a:t>
            </a:r>
          </a:p>
          <a:p>
            <a:r>
              <a:rPr lang="en-US" sz="5000"/>
              <a:t>  </a:t>
            </a:r>
          </a:p>
          <a:p>
            <a:r>
              <a:rPr lang="en-US" sz="3700">
                <a:solidFill>
                  <a:srgbClr val="252525"/>
                </a:solidFill>
              </a:rPr>
              <a:t>---</a:t>
            </a:r>
          </a:p>
          <a:p>
            <a:r>
              <a:rPr lang="en-US" sz="5000"/>
              <a:t>  </a:t>
            </a:r>
          </a:p>
          <a:p>
            <a:r>
              <a:rPr lang="en-US" sz="3700">
                <a:solidFill>
                  <a:srgbClr val="252525"/>
                </a:solidFill>
              </a:rPr>
              <a:t>BSD 2-clause "Simplified" License</a:t>
            </a:r>
          </a:p>
          <a:p>
            <a:r>
              <a:rPr lang="en-US" sz="3700">
                <a:solidFill>
                  <a:srgbClr val="252525"/>
                </a:solidFill>
              </a:rPr>
              <a:t>(eslint-scope 3.7.1, eslint-scope v4.0.3)</a:t>
            </a:r>
          </a:p>
        </p:txBody>
      </p:sp>
    </p:spTree>
  </p:cSld>
  <p:clrMapOvr>
    <a:masterClrMapping/>
  </p:clrMapOvr>
</p:sld>
</file>

<file path=ppt/slides/slide1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40" id="340"/>
          <p:cNvPicPr>
            <a:picLocks noChangeAspect="true"/>
          </p:cNvPicPr>
          <p:nvPr/>
        </p:nvPicPr>
        <p:blipFill>
          <a:blip r:embed="rId340"/>
          <a:stretch>
            <a:fillRect/>
          </a:stretch>
        </p:blipFill>
        <p:spPr>
          <a:xfrm>
            <a:off x="0" y="127000"/>
            <a:ext cx="23749000" cy="16548100"/>
          </a:xfrm>
          <a:prstGeom prst="rect">
            <a:avLst/>
          </a:prstGeom>
        </p:spPr>
      </p:pic>
      <p:sp>
        <p:nvSpPr>
          <p:cNvPr name="TextBox 340" id="34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Copyright JS Foundation and other contributors, </a:t>
            </a:r>
          </a:p>
          <a:p>
            <a:r>
              <a:rPr lang="en-US" sz="3700">
                <a:solidFill>
                  <a:srgbClr val="252525"/>
                </a:solidFill>
              </a:rPr>
              <a:t>Copyright (C) 2012-2013 Yusuke Suzuki (twitter: @Constellation) and other contributors.</a:t>
            </a:r>
          </a:p>
          <a:p>
            <a:r>
              <a:rPr lang="en-US" sz="5000"/>
              <a:t>  </a:t>
            </a:r>
          </a:p>
          <a:p>
            <a:r>
              <a:rPr lang="en-US" sz="3700">
                <a:solidFill>
                  <a:srgbClr val="252525"/>
                </a:solidFill>
              </a:rPr>
              <a:t>Redistribution and use in source and binary forms, with or without</a:t>
            </a:r>
          </a:p>
          <a:p>
            <a:r>
              <a:rPr lang="en-US" sz="3700">
                <a:solidFill>
                  <a:srgbClr val="252525"/>
                </a:solidFill>
              </a:rPr>
              <a:t>modification, are permitted provided that the following conditions are met:</a:t>
            </a:r>
          </a:p>
          <a:p>
            <a:r>
              <a:rPr lang="en-US" sz="5000"/>
              <a:t>  </a:t>
            </a:r>
          </a:p>
          <a:p>
            <a:r>
              <a:rPr lang="en-US" sz="3700">
                <a:solidFill>
                  <a:srgbClr val="252525"/>
                </a:solidFill>
              </a:rPr>
              <a:t>  * Redistributions of source code must retain the above copyright</a:t>
            </a:r>
          </a:p>
          <a:p>
            <a:r>
              <a:rPr lang="en-US" sz="3700">
                <a:solidFill>
                  <a:srgbClr val="252525"/>
                </a:solidFill>
              </a:rPr>
              <a:t>    notice, this list of conditions and the following disclaimer.</a:t>
            </a:r>
          </a:p>
          <a:p>
            <a:r>
              <a:rPr lang="en-US" sz="3700">
                <a:solidFill>
                  <a:srgbClr val="252525"/>
                </a:solidFill>
              </a:rPr>
              <a:t>  * Redistributions in binary form must reproduce the above copyright</a:t>
            </a:r>
          </a:p>
          <a:p>
            <a:r>
              <a:rPr lang="en-US" sz="3700">
                <a:solidFill>
                  <a:srgbClr val="252525"/>
                </a:solidFill>
              </a:rPr>
              <a:t>    notice, this list of conditions and the </a:t>
            </a:r>
          </a:p>
        </p:txBody>
      </p:sp>
      <p:pic>
        <p:nvPicPr>
          <p:cNvPr name="Picture 342" id="342">
            <a:hlinkClick r:id="rId343"/>
          </p:cNvPr>
          <p:cNvPicPr>
            <a:picLocks noChangeAspect="true"/>
          </p:cNvPicPr>
          <p:nvPr/>
        </p:nvPicPr>
        <p:blipFill>
          <a:blip r:embed="rId342"/>
          <a:stretch>
            <a:fillRect/>
          </a:stretch>
        </p:blipFill>
        <p:spPr>
          <a:xfrm>
            <a:off x="6451600" y="2463800"/>
            <a:ext cx="10820400" cy="1714500"/>
          </a:xfrm>
          <a:prstGeom prst="rect">
            <a:avLst/>
          </a:prstGeom>
        </p:spPr>
      </p:pic>
    </p:spTree>
  </p:cSld>
  <p:clrMapOvr>
    <a:masterClrMapping/>
  </p:clrMapOvr>
</p:sld>
</file>

<file path=ppt/slides/slide1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44" id="344"/>
          <p:cNvPicPr>
            <a:picLocks noChangeAspect="true"/>
          </p:cNvPicPr>
          <p:nvPr/>
        </p:nvPicPr>
        <p:blipFill>
          <a:blip r:embed="rId344"/>
          <a:stretch>
            <a:fillRect/>
          </a:stretch>
        </p:blipFill>
        <p:spPr>
          <a:xfrm>
            <a:off x="0" y="127000"/>
            <a:ext cx="23749000" cy="16548100"/>
          </a:xfrm>
          <a:prstGeom prst="rect">
            <a:avLst/>
          </a:prstGeom>
        </p:spPr>
      </p:pic>
      <p:sp>
        <p:nvSpPr>
          <p:cNvPr name="TextBox 344" id="34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following disclaimer in the</a:t>
            </a:r>
          </a:p>
          <a:p>
            <a:r>
              <a:rPr lang="en-US" sz="3700">
                <a:solidFill>
                  <a:srgbClr val="252525"/>
                </a:solidFill>
              </a:rPr>
              <a:t>    documentation and/or other materials provided with the distribution.</a:t>
            </a:r>
          </a:p>
          <a:p>
            <a:r>
              <a:rPr lang="en-US" sz="5000"/>
              <a:t>  </a:t>
            </a:r>
          </a:p>
          <a:p>
            <a:r>
              <a:rPr lang="en-US" sz="3700">
                <a:solidFill>
                  <a:srgbClr val="252525"/>
                </a:solidFill>
              </a:rPr>
              <a:t>THIS SOFTWARE IS PROVIDED BY THE COPYRIGHT HOLDERS AND CONTRIBUTORS "AS IS"</a:t>
            </a:r>
          </a:p>
          <a:p>
            <a:r>
              <a:rPr lang="en-US" sz="3700">
                <a:solidFill>
                  <a:srgbClr val="252525"/>
                </a:solidFill>
              </a:rPr>
              <a:t>AND ANY EXPRESS OR IMPLIED WARRANTIES, INCLUDING, BUT NOT LIMITED TO, THE</a:t>
            </a:r>
          </a:p>
          <a:p>
            <a:r>
              <a:rPr lang="en-US" sz="3700">
                <a:solidFill>
                  <a:srgbClr val="252525"/>
                </a:solidFill>
              </a:rPr>
              <a:t>IMPLIED WARRANTIES OF MERCHANTABILITY AND FITNESS FOR A PARTICULAR PURPOSE</a:t>
            </a:r>
          </a:p>
          <a:p>
            <a:r>
              <a:rPr lang="en-US" sz="3700">
                <a:solidFill>
                  <a:srgbClr val="252525"/>
                </a:solidFill>
              </a:rPr>
              <a:t>ARE DISCLAIMED. IN NO EVENT SHALL &lt;COPYRIGHT HOLDER&gt; BE LIABLE FOR ANY</a:t>
            </a:r>
          </a:p>
          <a:p>
            <a:r>
              <a:rPr lang="en-US" sz="3700">
                <a:solidFill>
                  <a:srgbClr val="252525"/>
                </a:solidFill>
              </a:rPr>
              <a:t>DIRECT, INDIRECT, INCIDENTAL, SPECIAL, EXEMPLARY, OR CONSEQUENTIAL DAMAGES</a:t>
            </a:r>
          </a:p>
          <a:p>
            <a:r>
              <a:rPr lang="en-US" sz="3700">
                <a:solidFill>
                  <a:srgbClr val="252525"/>
                </a:solidFill>
              </a:rPr>
              <a:t>(INCLUDING, BUT NOT LIMITED TO, PROCUREMENT OF SUBSTITUTE GOODS </a:t>
            </a:r>
          </a:p>
        </p:txBody>
      </p:sp>
    </p:spTree>
  </p:cSld>
  <p:clrMapOvr>
    <a:masterClrMapping/>
  </p:clrMapOvr>
</p:sld>
</file>

<file path=ppt/slides/slide1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46" id="346"/>
          <p:cNvPicPr>
            <a:picLocks noChangeAspect="true"/>
          </p:cNvPicPr>
          <p:nvPr/>
        </p:nvPicPr>
        <p:blipFill>
          <a:blip r:embed="rId346"/>
          <a:stretch>
            <a:fillRect/>
          </a:stretch>
        </p:blipFill>
        <p:spPr>
          <a:xfrm>
            <a:off x="0" y="127000"/>
            <a:ext cx="23749000" cy="16548100"/>
          </a:xfrm>
          <a:prstGeom prst="rect">
            <a:avLst/>
          </a:prstGeom>
        </p:spPr>
      </p:pic>
      <p:sp>
        <p:nvSpPr>
          <p:cNvPr name="TextBox 346" id="34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OR SERVICES;</a:t>
            </a:r>
          </a:p>
          <a:p>
            <a:r>
              <a:rPr lang="en-US" sz="3700">
                <a:solidFill>
                  <a:srgbClr val="252525"/>
                </a:solidFill>
              </a:rPr>
              <a:t>LOSS OF USE, DATA, OR PROFITS; OR BUSINESS INTERRUPTION) HOWEVER CAUSED AND</a:t>
            </a:r>
          </a:p>
          <a:p>
            <a:r>
              <a:rPr lang="en-US" sz="3700">
                <a:solidFill>
                  <a:srgbClr val="252525"/>
                </a:solidFill>
              </a:rPr>
              <a:t>ON ANY THEORY OF LIABILITY, WHETHER IN CONTRACT, STRICT LIABILITY, OR TORT</a:t>
            </a:r>
          </a:p>
          <a:p>
            <a:r>
              <a:rPr lang="en-US" sz="3700">
                <a:solidFill>
                  <a:srgbClr val="252525"/>
                </a:solidFill>
              </a:rPr>
              <a:t>(INCLUDING NEGLIGENCE OR OTHERWISE) ARISING IN ANY WAY OUT OF THE USE OF</a:t>
            </a:r>
          </a:p>
          <a:p>
            <a:r>
              <a:rPr lang="en-US" sz="3700">
                <a:solidFill>
                  <a:srgbClr val="252525"/>
                </a:solidFill>
              </a:rPr>
              <a:t>THIS SOFTWARE, EVEN IF ADVISED OF THE POSSIBILITY OF SUCH DAMAGE</a:t>
            </a:r>
          </a:p>
          <a:p>
            <a:r>
              <a:rPr lang="en-US" sz="5000"/>
              <a:t>  </a:t>
            </a:r>
          </a:p>
          <a:p>
            <a:r>
              <a:rPr lang="en-US" sz="3700">
                <a:solidFill>
                  <a:srgbClr val="252525"/>
                </a:solidFill>
              </a:rPr>
              <a:t>---</a:t>
            </a:r>
          </a:p>
          <a:p>
            <a:r>
              <a:rPr lang="en-US" sz="5000"/>
              <a:t>  </a:t>
            </a:r>
          </a:p>
          <a:p>
            <a:r>
              <a:rPr lang="en-US" sz="3700">
                <a:solidFill>
                  <a:srgbClr val="252525"/>
                </a:solidFill>
              </a:rPr>
              <a:t>BSD 2-clause "Simplified" License</a:t>
            </a:r>
          </a:p>
          <a:p>
            <a:r>
              <a:rPr lang="en-US" sz="3700">
                <a:solidFill>
                  <a:srgbClr val="252525"/>
                </a:solidFill>
              </a:rPr>
              <a:t>(Esprima 4.0.1)</a:t>
            </a:r>
          </a:p>
          <a:p>
            <a:r>
              <a:rPr lang="en-US" sz="5000"/>
              <a:t>  </a:t>
            </a:r>
          </a:p>
          <a:p>
            <a:r>
              <a:rPr lang="en-US" sz="3700">
                <a:solidFill>
                  <a:srgbClr val="252525"/>
                </a:solidFill>
              </a:rPr>
              <a:t>Copyright JS Foundation and other contributors, </a:t>
            </a:r>
          </a:p>
        </p:txBody>
      </p:sp>
    </p:spTree>
  </p:cSld>
  <p:clrMapOvr>
    <a:masterClrMapping/>
  </p:clrMapOvr>
</p:sld>
</file>

<file path=ppt/slides/slide1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48" id="348"/>
          <p:cNvPicPr>
            <a:picLocks noChangeAspect="true"/>
          </p:cNvPicPr>
          <p:nvPr/>
        </p:nvPicPr>
        <p:blipFill>
          <a:blip r:embed="rId348"/>
          <a:stretch>
            <a:fillRect/>
          </a:stretch>
        </p:blipFill>
        <p:spPr>
          <a:xfrm>
            <a:off x="0" y="127000"/>
            <a:ext cx="23749000" cy="16548100"/>
          </a:xfrm>
          <a:prstGeom prst="rect">
            <a:avLst/>
          </a:prstGeom>
        </p:spPr>
      </p:pic>
      <p:sp>
        <p:nvSpPr>
          <p:cNvPr name="TextBox 348" id="34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p>
          <a:p>
            <a:r>
              <a:rPr lang="en-US" sz="5000"/>
              <a:t>  </a:t>
            </a:r>
          </a:p>
          <a:p>
            <a:r>
              <a:rPr lang="en-US" sz="3700">
                <a:solidFill>
                  <a:srgbClr val="252525"/>
                </a:solidFill>
              </a:rPr>
              <a:t>Redistribution and use in source and binary forms, with or without</a:t>
            </a:r>
          </a:p>
          <a:p>
            <a:r>
              <a:rPr lang="en-US" sz="3700">
                <a:solidFill>
                  <a:srgbClr val="252525"/>
                </a:solidFill>
              </a:rPr>
              <a:t>modification, are permitted provided that the following conditions are met:</a:t>
            </a:r>
          </a:p>
          <a:p>
            <a:r>
              <a:rPr lang="en-US" sz="5000"/>
              <a:t>  </a:t>
            </a:r>
          </a:p>
          <a:p>
            <a:r>
              <a:rPr lang="en-US" sz="3700">
                <a:solidFill>
                  <a:srgbClr val="252525"/>
                </a:solidFill>
              </a:rPr>
              <a:t>  * Redistributions of source code must retain the above copyright</a:t>
            </a:r>
          </a:p>
          <a:p>
            <a:r>
              <a:rPr lang="en-US" sz="3700">
                <a:solidFill>
                  <a:srgbClr val="252525"/>
                </a:solidFill>
              </a:rPr>
              <a:t>    notice, this list of conditions and the following disclaimer.</a:t>
            </a:r>
          </a:p>
          <a:p>
            <a:r>
              <a:rPr lang="en-US" sz="3700">
                <a:solidFill>
                  <a:srgbClr val="252525"/>
                </a:solidFill>
              </a:rPr>
              <a:t>  * Redistributions in binary form must reproduce the above copyright</a:t>
            </a:r>
          </a:p>
          <a:p>
            <a:r>
              <a:rPr lang="en-US" sz="3700">
                <a:solidFill>
                  <a:srgbClr val="252525"/>
                </a:solidFill>
              </a:rPr>
              <a:t>    notice, this list of conditions and the following disclaimer in the</a:t>
            </a:r>
          </a:p>
          <a:p>
            <a:r>
              <a:rPr lang="en-US" sz="3700">
                <a:solidFill>
                  <a:srgbClr val="252525"/>
                </a:solidFill>
              </a:rPr>
              <a:t>    documentation and/or other materials provided with the distribution.</a:t>
            </a:r>
          </a:p>
          <a:p>
            <a:r>
              <a:rPr lang="en-US" sz="5000"/>
              <a:t>  </a:t>
            </a:r>
          </a:p>
          <a:p>
            <a:r>
              <a:rPr lang="en-US" sz="3700">
                <a:solidFill>
                  <a:srgbClr val="252525"/>
                </a:solidFill>
              </a:rPr>
              <a:t>THIS SOFTWARE IS PROVIDED BY THE </a:t>
            </a:r>
          </a:p>
        </p:txBody>
      </p:sp>
      <p:pic>
        <p:nvPicPr>
          <p:cNvPr name="Picture 350" id="350">
            <a:hlinkClick r:id="rId351"/>
          </p:cNvPr>
          <p:cNvPicPr>
            <a:picLocks noChangeAspect="true"/>
          </p:cNvPicPr>
          <p:nvPr/>
        </p:nvPicPr>
        <p:blipFill>
          <a:blip r:embed="rId350"/>
          <a:stretch>
            <a:fillRect/>
          </a:stretch>
        </p:blipFill>
        <p:spPr>
          <a:xfrm>
            <a:off x="6451600" y="317500"/>
            <a:ext cx="10820400" cy="1714500"/>
          </a:xfrm>
          <a:prstGeom prst="rect">
            <a:avLst/>
          </a:prstGeom>
        </p:spPr>
      </p:pic>
    </p:spTree>
  </p:cSld>
  <p:clrMapOvr>
    <a:masterClrMapping/>
  </p:clrMapOvr>
</p:sld>
</file>

<file path=ppt/slides/slide1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52" id="352"/>
          <p:cNvPicPr>
            <a:picLocks noChangeAspect="true"/>
          </p:cNvPicPr>
          <p:nvPr/>
        </p:nvPicPr>
        <p:blipFill>
          <a:blip r:embed="rId352"/>
          <a:stretch>
            <a:fillRect/>
          </a:stretch>
        </p:blipFill>
        <p:spPr>
          <a:xfrm>
            <a:off x="0" y="127000"/>
            <a:ext cx="23749000" cy="16548100"/>
          </a:xfrm>
          <a:prstGeom prst="rect">
            <a:avLst/>
          </a:prstGeom>
        </p:spPr>
      </p:pic>
      <p:sp>
        <p:nvSpPr>
          <p:cNvPr name="TextBox 352" id="35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COPYRIGHT HOLDERS AND CONTRIBUTORS "AS IS"</a:t>
            </a:r>
          </a:p>
          <a:p>
            <a:r>
              <a:rPr lang="en-US" sz="3700">
                <a:solidFill>
                  <a:srgbClr val="252525"/>
                </a:solidFill>
              </a:rPr>
              <a:t>AND ANY EXPRESS OR IMPLIED WARRANTIES, INCLUDING, BUT NOT LIMITED TO, THE</a:t>
            </a:r>
          </a:p>
          <a:p>
            <a:r>
              <a:rPr lang="en-US" sz="3700">
                <a:solidFill>
                  <a:srgbClr val="252525"/>
                </a:solidFill>
              </a:rPr>
              <a:t>IMPLIED WARRANTIES OF MERCHANTABILITY AND FITNESS FOR A PARTICULAR PURPOSE</a:t>
            </a:r>
          </a:p>
          <a:p>
            <a:r>
              <a:rPr lang="en-US" sz="3700">
                <a:solidFill>
                  <a:srgbClr val="252525"/>
                </a:solidFill>
              </a:rPr>
              <a:t>ARE DISCLAIMED. IN NO EVENT SHALL &lt;COPYRIGHT HOLDER&gt; BE LIABLE FOR ANY</a:t>
            </a:r>
          </a:p>
          <a:p>
            <a:r>
              <a:rPr lang="en-US" sz="3700">
                <a:solidFill>
                  <a:srgbClr val="252525"/>
                </a:solidFill>
              </a:rPr>
              <a:t>DIRECT, INDIRECT, INCIDENTAL, SPECIAL, EXEMPLARY, OR CONSEQUENTIAL DAMAGES</a:t>
            </a:r>
          </a:p>
          <a:p>
            <a:r>
              <a:rPr lang="en-US" sz="3700">
                <a:solidFill>
                  <a:srgbClr val="252525"/>
                </a:solidFill>
              </a:rPr>
              <a:t>(INCLUDING, BUT NOT LIMITED TO, PROCUREMENT OF SUBSTITUTE GOODS OR SERVICES;</a:t>
            </a:r>
          </a:p>
          <a:p>
            <a:r>
              <a:rPr lang="en-US" sz="3700">
                <a:solidFill>
                  <a:srgbClr val="252525"/>
                </a:solidFill>
              </a:rPr>
              <a:t>LOSS OF USE, DATA, OR PROFITS; OR BUSINESS INTERRUPTION) HOWEVER CAUSED AND</a:t>
            </a:r>
          </a:p>
          <a:p>
            <a:r>
              <a:rPr lang="en-US" sz="3700">
                <a:solidFill>
                  <a:srgbClr val="252525"/>
                </a:solidFill>
              </a:rPr>
              <a:t>ON ANY THEORY OF LIABILITY, WHETHER </a:t>
            </a:r>
          </a:p>
        </p:txBody>
      </p:sp>
    </p:spTree>
  </p:cSld>
  <p:clrMapOvr>
    <a:masterClrMapping/>
  </p:clrMapOvr>
</p:sld>
</file>

<file path=ppt/slides/slide1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54" id="354"/>
          <p:cNvPicPr>
            <a:picLocks noChangeAspect="true"/>
          </p:cNvPicPr>
          <p:nvPr/>
        </p:nvPicPr>
        <p:blipFill>
          <a:blip r:embed="rId354"/>
          <a:stretch>
            <a:fillRect/>
          </a:stretch>
        </p:blipFill>
        <p:spPr>
          <a:xfrm>
            <a:off x="0" y="127000"/>
            <a:ext cx="23749000" cy="16548100"/>
          </a:xfrm>
          <a:prstGeom prst="rect">
            <a:avLst/>
          </a:prstGeom>
        </p:spPr>
      </p:pic>
      <p:sp>
        <p:nvSpPr>
          <p:cNvPr name="TextBox 354" id="35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IN CONTRACT, STRICT LIABILITY, OR TORT</a:t>
            </a:r>
          </a:p>
          <a:p>
            <a:r>
              <a:rPr lang="en-US" sz="3700">
                <a:solidFill>
                  <a:srgbClr val="252525"/>
                </a:solidFill>
              </a:rPr>
              <a:t>(INCLUDING NEGLIGENCE OR OTHERWISE) ARISING IN ANY WAY OUT OF THE USE OF</a:t>
            </a:r>
          </a:p>
          <a:p>
            <a:r>
              <a:rPr lang="en-US" sz="3700">
                <a:solidFill>
                  <a:srgbClr val="252525"/>
                </a:solidFill>
              </a:rPr>
              <a:t>THIS SOFTWARE, EVEN IF ADVISED OF THE POSSIBILITY OF SUCH DAMAGE</a:t>
            </a:r>
          </a:p>
          <a:p>
            <a:r>
              <a:rPr lang="en-US" sz="5000"/>
              <a:t>  </a:t>
            </a:r>
          </a:p>
          <a:p>
            <a:r>
              <a:rPr lang="en-US" sz="3700">
                <a:solidFill>
                  <a:srgbClr val="252525"/>
                </a:solidFill>
              </a:rPr>
              <a:t>---</a:t>
            </a:r>
          </a:p>
          <a:p>
            <a:r>
              <a:rPr lang="en-US" sz="5000"/>
              <a:t>  </a:t>
            </a:r>
          </a:p>
          <a:p>
            <a:r>
              <a:rPr lang="en-US" sz="3700">
                <a:solidFill>
                  <a:srgbClr val="252525"/>
                </a:solidFill>
              </a:rPr>
              <a:t>BSD 2-clause "Simplified" License</a:t>
            </a:r>
          </a:p>
          <a:p>
            <a:r>
              <a:rPr lang="en-US" sz="3700">
                <a:solidFill>
                  <a:srgbClr val="252525"/>
                </a:solidFill>
              </a:rPr>
              <a:t>(normalize-package-data 2.5.0…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